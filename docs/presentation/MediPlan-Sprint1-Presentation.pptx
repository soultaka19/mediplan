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nous sommes Souleymane et Zakaria, et nous présentons l'avancement du Sprint 1 de notre projet MediPlan. Ce premier sprint portait sur l'analyse et la conception. Nous allons vous montrer en environ 10 minutes où nous en sommes, comment nous nous sommes organisés avec Jira et GitHub, et ce qu'il reste à faire. (Souleymane ouvre les diapos 1 à 6 ; Zakaria et Larbi prennent la parole à partir de la diapo 7 : Zakaria sur les classes, Larbi sur la séquence.)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MediPlan répond à un problème concret des petites et moyennes cliniques : aujourd'hui la prise de rendez-vous se fait par téléphone, sur agendas papier ou fichiers Excel, ce qui cause des erreurs, des doubles réservations et aucune vue d'ensemble. Notre solution est une plateforme web unique et sécurisée, accessible 24 h/24, où le patient réserve lui-même. Quatre rôles interagissent avec le système selon un modèle de permissions RBAC : patient, médecin, administrateur de clinique et super administrateur.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L'objectif du Sprint 1 était l'analyse et la conception : avant d'écrire la moindre ligne de code, nous voulions bien cadrer le périmètre à partir du cahier des charges, puis modéliser le système avec des diagrammes UML, et mettre en place nos outils de suivi Jira et GitHub. C'est important parce que la conception est la fondation du projet : elle nous évite de coder dans le flou, elle guide la conception de la base de données, et elle nous permet d'identifier tôt les parties risquées, comme la gestion des disponibilités.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mot sur notre démarche, car ce sprint, c'est surtout de l'organisation. Nous planifions tout dans Jira avec des Epics, des user stories et des tâches, et nous gérons nos sprints par des labels. Tout le code et les documents sont versionnés sur GitHub, dans le dossier docs/conception. Nos diagrammes sont écrits en Mermaid, ce qui permet de les versionner comme du texte et de les afficher directement dans GitHub. Côté répartition : je me suis occupé du pilotage, de Jira, GitHub et des cas d'utilisation ; Zakaria a pris en charge le diagramme de classes et Larbi le diagramme de séquence. Nous nous relisons mutuellement.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notre plan de travail dans Jira. Nous avons structuré le projet en 7 Epics, 23 user stories et 3 tâches, répartis sur 6 sprints. Pour le Sprint 1, l'Epic Analyse et Conception est terminée : toutes les stories liées au cahier des charges, aux diagrammes et au dépôt GitHub sont passées en terminé, avec un responsable assigné sur chaque ticket. Le reste du backlog est déjà planifié jusqu'au sprint 6, ce qui nous donne une feuille de route claire. Notre tableau reflète l'état réel : les tâches ne sont pas toutes restées dans la colonne « À faire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au cœur du dossier de conception. Comme MediPlan est une application web, la consigne demandait des cas d'utilisation, un diagramme de classes et des diagrammes de séquence. Pour les cas d'utilisation, nous en avons produit 7, alors que le minimum était de 5. Ils couvrent tout le périmètre : la vue d'ensemble, l'authentification, la réservation, les disponibilités, le flux du jour, l'administration et les statistiques. Chaque diagramme montre les acteurs, les fonctionnalités et leurs interactions, et correspond à une fonctionnalité prioritaire du cahier des charges. Je laisse Zakaria présenter les classes et les séquences.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[ZAKARIA] Merci. Je présente le diagramme de classes que j'ai réalisé. Il décrit la structure de la plateforme : les classes principales sont Utilisateur, Patient, Médecin, Administrateur, Clinique, RendezVous, Disponibilite, Specialite et Notification, avec leurs attributs, méthodes et relations. Il sert directement de base à la conception de notre base de données PostgreSQL. [LARBI] De mon côté, j'ai réalisé le diagramme de séquence, qui montre les échanges entre cinq participants : le patient, l'interface web, l'API, la base de données et le service de notification. On y voit la connexion qui retourne un jeton JWT, la réservation qui vérifie d'abord que le créneau est libre pour éviter les doubles réservations, et l'annulation qui change simplement le statut afin de garder l'historique.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GitHub, voici comment notre dépôt est organisé. À la racine, un README et un dossier docs qui contient le cahier des charges, les consignes et surtout le dossier conception. C'est là que se trouvent tous nos livrables : les 7 cas d'utilisation, le diagramme entité-association, les fichiers Mermaid avec leurs images PNG, et un README qui sert de table des matières. Les dossiers frontend et backend seront ajoutés aux phases 2 et 3. Enfin, le dépôt est privé mais nous avons invité la professeure en lecture, et nous avons soumis sur eCité le lien du dépôt et le lien direct vers docs/conception.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Faisons le point honnêtement. Côté terminé : le cahier des charges, les 7 cas d'utilisation, le diagramme de classes, les séquences, l'ERD, toutes les explications écrites, ainsi que la mise en place de Jira, GitHub et la soumission eCité. En cours : les diagrammes de classes et de séquence ont été finalisés dans un espace de travail séparé ; il nous reste à les réintégrer proprement dans le dossier docs/conception du dépôt avec leurs images. Enfin, trois points à clarifier : confirmer que la professeure a bien accepté l'invitation, valider la règle exacte du délai d'annulation, et transformer nos labels de sprint en sprints natifs Jira.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la suite : d'abord, finir de boucler le Sprint 1 en réintégrant les derniers diagrammes et en vérifiant l'accès de la professeure. Ensuite, nous démarrons le Sprint 2, consacré aux fondations techniques : mettre en place les squelettes Angular et NestJS, la conteneurisation Docker, et l'authentification avec JWT et RBAC. Côté ajustements, nous voulons prototyper tôt la gestion des disponibilités, qui est notre principal risque technique, garder Jira à jour en continu, et continuer à nous relire en binôme. Notre priorité numéro un reste le cœur métier : la réservation sans doublon.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Voilà qui conclut notre présentation du Sprint 1. Pour résumer : la conception est terminée, notre projet est structuré dans Jira et GitHub, et nous sommes prêts à démarrer le développement au Sprint 2. Nous sommes maintenant disponibles tous les trois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278892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280160"/>
          </a:xfrm>
          <a:prstGeom prst="rect">
            <a:avLst/>
          </a:prstGeom>
          <a:noFill/>
        </p:spPr>
        <p:txBody>
          <a:bodyPr wrap="square">
            <a:spAutoFit/>
          </a:bodyPr>
          <a:lstStyle/>
          <a:p>
            <a:pPr algn="ctr">
              <a:spcBef>
                <a:spcPts val="0"/>
              </a:spcBef>
              <a:spcAft>
                <a:spcPts val="0"/>
              </a:spcAft>
            </a:pPr>
            <a:r>
              <a:rPr sz="6000" b="1">
                <a:solidFill>
                  <a:srgbClr val="FFFFFF"/>
                </a:solidFill>
                <a:latin typeface="Calibri"/>
              </a:rPr>
              <a:t>MediPlan</a:t>
            </a:r>
          </a:p>
        </p:txBody>
      </p:sp>
      <p:sp>
        <p:nvSpPr>
          <p:cNvPr id="4" name="TextBox 3"/>
          <p:cNvSpPr txBox="1"/>
          <p:nvPr/>
        </p:nvSpPr>
        <p:spPr>
          <a:xfrm>
            <a:off x="914400" y="2103120"/>
            <a:ext cx="10332720" cy="640080"/>
          </a:xfrm>
          <a:prstGeom prst="rect">
            <a:avLst/>
          </a:prstGeom>
          <a:noFill/>
        </p:spPr>
        <p:txBody>
          <a:bodyPr wrap="square">
            <a:spAutoFit/>
          </a:bodyPr>
          <a:lstStyle/>
          <a:p>
            <a:pPr algn="ctr">
              <a:spcBef>
                <a:spcPts val="0"/>
              </a:spcBef>
              <a:spcAft>
                <a:spcPts val="0"/>
              </a:spcAft>
            </a:pPr>
            <a:r>
              <a:rPr sz="2200" b="0">
                <a:solidFill>
                  <a:srgbClr val="CFE3FF"/>
                </a:solidFill>
                <a:latin typeface="Calibri"/>
              </a:rPr>
              <a:t>Plateforme web de gestion des rendez-vous médicaux</a:t>
            </a:r>
          </a:p>
        </p:txBody>
      </p:sp>
      <p:sp>
        <p:nvSpPr>
          <p:cNvPr id="5" name="TextBox 4"/>
          <p:cNvSpPr txBox="1"/>
          <p:nvPr/>
        </p:nvSpPr>
        <p:spPr>
          <a:xfrm>
            <a:off x="914400" y="3017520"/>
            <a:ext cx="10332720" cy="1280160"/>
          </a:xfrm>
          <a:prstGeom prst="rect">
            <a:avLst/>
          </a:prstGeom>
          <a:noFill/>
        </p:spPr>
        <p:txBody>
          <a:bodyPr wrap="square">
            <a:spAutoFit/>
          </a:bodyPr>
          <a:lstStyle/>
          <a:p>
            <a:pPr algn="ctr">
              <a:spcBef>
                <a:spcPts val="0"/>
              </a:spcBef>
              <a:spcAft>
                <a:spcPts val="800"/>
              </a:spcAft>
            </a:pPr>
            <a:r>
              <a:rPr sz="2800" b="1">
                <a:solidFill>
                  <a:srgbClr val="FFFFFF"/>
                </a:solidFill>
                <a:latin typeface="Calibri"/>
              </a:rPr>
              <a:t>Présentation d'avancement — Sprint 1</a:t>
            </a:r>
          </a:p>
          <a:p>
            <a:pPr algn="ctr">
              <a:spcBef>
                <a:spcPts val="0"/>
              </a:spcBef>
              <a:spcAft>
                <a:spcPts val="0"/>
              </a:spcAft>
            </a:pPr>
            <a:r>
              <a:rPr sz="1800" b="0">
                <a:solidFill>
                  <a:srgbClr val="9FC8F5"/>
                </a:solidFill>
                <a:latin typeface="Calibri"/>
              </a:rPr>
              <a:t>Analyse &amp; conception</a:t>
            </a:r>
          </a:p>
        </p:txBody>
      </p:sp>
      <p:sp>
        <p:nvSpPr>
          <p:cNvPr id="6" name="TextBox 5"/>
          <p:cNvSpPr txBox="1"/>
          <p:nvPr/>
        </p:nvSpPr>
        <p:spPr>
          <a:xfrm>
            <a:off x="914400" y="4937760"/>
            <a:ext cx="10332720" cy="1280160"/>
          </a:xfrm>
          <a:prstGeom prst="rect">
            <a:avLst/>
          </a:prstGeom>
          <a:noFill/>
        </p:spPr>
        <p:txBody>
          <a:bodyPr wrap="square">
            <a:spAutoFit/>
          </a:bodyPr>
          <a:lstStyle/>
          <a:p>
            <a:pPr algn="ctr">
              <a:spcBef>
                <a:spcPts val="0"/>
              </a:spcBef>
              <a:spcAft>
                <a:spcPts val="400"/>
              </a:spcAft>
            </a:pPr>
            <a:r>
              <a:rPr sz="1800" b="0">
                <a:solidFill>
                  <a:srgbClr val="FFFFFF"/>
                </a:solidFill>
                <a:latin typeface="Calibri"/>
              </a:rPr>
              <a:t>Équipe : Souleymane DIALLO  ·  Zakaria Lahouiri  ·  Larbi Saib</a:t>
            </a:r>
          </a:p>
          <a:p>
            <a:pPr algn="ctr">
              <a:spcBef>
                <a:spcPts val="0"/>
              </a:spcBef>
              <a:spcAft>
                <a:spcPts val="200"/>
              </a:spcAft>
            </a:pPr>
            <a:r>
              <a:rPr sz="1400" b="0">
                <a:solidFill>
                  <a:srgbClr val="9FC8F5"/>
                </a:solidFill>
                <a:latin typeface="Calibri"/>
              </a:rPr>
              <a:t>Projet intégrateur — Programmation informatique  ·  Collège La Cité  ·  Printemps 2026</a:t>
            </a:r>
          </a:p>
          <a:p>
            <a:pPr algn="ctr">
              <a:spcBef>
                <a:spcPts val="0"/>
              </a:spcBef>
              <a:spcAft>
                <a:spcPts val="200"/>
              </a:spcAft>
            </a:pPr>
            <a:r>
              <a:rPr sz="1400" b="0">
                <a:solidFill>
                  <a:srgbClr val="9FC8F5"/>
                </a:solidFill>
                <a:latin typeface="Calibri"/>
              </a:rPr>
              <a:t>Mercredi 10 juin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Rappel du projet</a:t>
            </a:r>
          </a:p>
          <a:p>
            <a:pPr algn="l">
              <a:spcBef>
                <a:spcPts val="0"/>
              </a:spcBef>
              <a:spcAft>
                <a:spcPts val="0"/>
              </a:spcAft>
            </a:pPr>
            <a:r>
              <a:rPr sz="1400" b="0">
                <a:solidFill>
                  <a:srgbClr val="CFE3FF"/>
                </a:solidFill>
                <a:latin typeface="Calibri"/>
              </a:rPr>
              <a:t>Titre · problématique · solution · utilisateurs</a:t>
            </a:r>
          </a:p>
        </p:txBody>
      </p:sp>
      <p:sp>
        <p:nvSpPr>
          <p:cNvPr id="6" name="Rectangle 5"/>
          <p:cNvSpPr/>
          <p:nvPr/>
        </p:nvSpPr>
        <p:spPr>
          <a:xfrm>
            <a:off x="411480" y="155448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21945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5212080" cy="20116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Problématique</a:t>
            </a:r>
          </a:p>
          <a:p>
            <a:pPr algn="l">
              <a:spcBef>
                <a:spcPts val="0"/>
              </a:spcBef>
              <a:spcAft>
                <a:spcPts val="300"/>
              </a:spcAft>
            </a:pPr>
            <a:r>
              <a:rPr sz="1300" b="0">
                <a:solidFill>
                  <a:srgbClr val="404040"/>
                </a:solidFill>
                <a:latin typeface="Calibri"/>
              </a:rPr>
              <a:t>•  Cliniques : prise de RDV par téléphone, agendas papier, fichiers Excel</a:t>
            </a:r>
          </a:p>
          <a:p>
            <a:pPr algn="l">
              <a:spcBef>
                <a:spcPts val="0"/>
              </a:spcBef>
              <a:spcAft>
                <a:spcPts val="300"/>
              </a:spcAft>
            </a:pPr>
            <a:r>
              <a:rPr sz="1300" b="0">
                <a:solidFill>
                  <a:srgbClr val="404040"/>
                </a:solidFill>
                <a:latin typeface="Calibri"/>
              </a:rPr>
              <a:t>•  Erreurs, doubles réservations, oublis, pas de vue d'ensemble</a:t>
            </a:r>
          </a:p>
          <a:p>
            <a:pPr algn="l">
              <a:spcBef>
                <a:spcPts val="0"/>
              </a:spcBef>
              <a:spcAft>
                <a:spcPts val="300"/>
              </a:spcAft>
            </a:pPr>
            <a:r>
              <a:rPr sz="1300" b="0">
                <a:solidFill>
                  <a:srgbClr val="404040"/>
                </a:solidFill>
                <a:latin typeface="Calibri"/>
              </a:rPr>
              <a:t>•  Aucune disponibilité 24 h/24 pour les patients</a:t>
            </a:r>
          </a:p>
        </p:txBody>
      </p:sp>
      <p:sp>
        <p:nvSpPr>
          <p:cNvPr id="9" name="Rectangle 8"/>
          <p:cNvSpPr/>
          <p:nvPr/>
        </p:nvSpPr>
        <p:spPr>
          <a:xfrm>
            <a:off x="6172200" y="155448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76200" cy="21945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5212080" cy="20116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Solution proposée</a:t>
            </a:r>
          </a:p>
          <a:p>
            <a:pPr algn="l">
              <a:spcBef>
                <a:spcPts val="0"/>
              </a:spcBef>
              <a:spcAft>
                <a:spcPts val="300"/>
              </a:spcAft>
            </a:pPr>
            <a:r>
              <a:rPr sz="1300" b="0">
                <a:solidFill>
                  <a:srgbClr val="404040"/>
                </a:solidFill>
                <a:latin typeface="Calibri"/>
              </a:rPr>
              <a:t>•  Plateforme web unique, sécurisée, accessible 24 h/24</a:t>
            </a:r>
          </a:p>
          <a:p>
            <a:pPr algn="l">
              <a:spcBef>
                <a:spcPts val="0"/>
              </a:spcBef>
              <a:spcAft>
                <a:spcPts val="300"/>
              </a:spcAft>
            </a:pPr>
            <a:r>
              <a:rPr sz="1300" b="0">
                <a:solidFill>
                  <a:srgbClr val="404040"/>
                </a:solidFill>
                <a:latin typeface="Calibri"/>
              </a:rPr>
              <a:t>•  Réservation / modification / annulation en ligne</a:t>
            </a:r>
          </a:p>
          <a:p>
            <a:pPr algn="l">
              <a:spcBef>
                <a:spcPts val="0"/>
              </a:spcBef>
              <a:spcAft>
                <a:spcPts val="300"/>
              </a:spcAft>
            </a:pPr>
            <a:r>
              <a:rPr sz="1300" b="0">
                <a:solidFill>
                  <a:srgbClr val="404040"/>
                </a:solidFill>
                <a:latin typeface="Calibri"/>
              </a:rPr>
              <a:t>•  Gestion des disponibilités, flux du jour, statistiques</a:t>
            </a:r>
          </a:p>
          <a:p>
            <a:pPr algn="l">
              <a:spcBef>
                <a:spcPts val="0"/>
              </a:spcBef>
              <a:spcAft>
                <a:spcPts val="300"/>
              </a:spcAft>
            </a:pPr>
            <a:r>
              <a:rPr sz="1300" b="0">
                <a:solidFill>
                  <a:srgbClr val="404040"/>
                </a:solidFill>
                <a:latin typeface="Calibri"/>
              </a:rPr>
              <a:t>•  Angular + NestJS + PostgreSQL + Docker</a:t>
            </a:r>
          </a:p>
        </p:txBody>
      </p:sp>
      <p:sp>
        <p:nvSpPr>
          <p:cNvPr id="12" name="Rectangle 11"/>
          <p:cNvSpPr/>
          <p:nvPr/>
        </p:nvSpPr>
        <p:spPr>
          <a:xfrm>
            <a:off x="411480" y="3931920"/>
            <a:ext cx="11338560" cy="22402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931920"/>
            <a:ext cx="76200" cy="224028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041648"/>
            <a:ext cx="10972800" cy="205740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Utilisateurs / clients visés  —  4 rôles (RBAC)</a:t>
            </a:r>
          </a:p>
          <a:p>
            <a:pPr algn="l">
              <a:spcBef>
                <a:spcPts val="0"/>
              </a:spcBef>
              <a:spcAft>
                <a:spcPts val="300"/>
              </a:spcAft>
            </a:pPr>
            <a:r>
              <a:rPr sz="1300" b="0">
                <a:solidFill>
                  <a:srgbClr val="404040"/>
                </a:solidFill>
                <a:latin typeface="Calibri"/>
              </a:rPr>
              <a:t>•  Patient : réserve, modifie ou annule ses rendez-vous sans téléphoner</a:t>
            </a:r>
          </a:p>
          <a:p>
            <a:pPr algn="l">
              <a:spcBef>
                <a:spcPts val="0"/>
              </a:spcBef>
              <a:spcAft>
                <a:spcPts val="300"/>
              </a:spcAft>
            </a:pPr>
            <a:r>
              <a:rPr sz="1300" b="0">
                <a:solidFill>
                  <a:srgbClr val="404040"/>
                </a:solidFill>
                <a:latin typeface="Calibri"/>
              </a:rPr>
              <a:t>•  Médecin : consulte son horaire, gère ses disponibilités, suit le flux du jour</a:t>
            </a:r>
          </a:p>
          <a:p>
            <a:pPr algn="l">
              <a:spcBef>
                <a:spcPts val="0"/>
              </a:spcBef>
              <a:spcAft>
                <a:spcPts val="300"/>
              </a:spcAft>
            </a:pPr>
            <a:r>
              <a:rPr sz="1300" b="0">
                <a:solidFill>
                  <a:srgbClr val="404040"/>
                </a:solidFill>
                <a:latin typeface="Calibri"/>
              </a:rPr>
              <a:t>•  Administrateur de clinique : gère utilisateurs, médecins, disponibilités, statistiques</a:t>
            </a:r>
          </a:p>
          <a:p>
            <a:pPr algn="l">
              <a:spcBef>
                <a:spcPts val="0"/>
              </a:spcBef>
              <a:spcAft>
                <a:spcPts val="300"/>
              </a:spcAft>
            </a:pPr>
            <a:r>
              <a:rPr sz="1300" b="0">
                <a:solidFill>
                  <a:srgbClr val="404040"/>
                </a:solidFill>
                <a:latin typeface="Calibri"/>
              </a:rPr>
              <a:t>•  Super administrateur : configure les cliniques et la plateforme</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2</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Objectif du Sprint 1</a:t>
            </a:r>
          </a:p>
          <a:p>
            <a:pPr algn="l">
              <a:spcBef>
                <a:spcPts val="0"/>
              </a:spcBef>
              <a:spcAft>
                <a:spcPts val="0"/>
              </a:spcAft>
            </a:pPr>
            <a:r>
              <a:rPr sz="1400" b="0">
                <a:solidFill>
                  <a:srgbClr val="CFE3FF"/>
                </a:solidFill>
                <a:latin typeface="Calibri"/>
              </a:rPr>
              <a:t>Analyse &amp; conception</a:t>
            </a:r>
          </a:p>
        </p:txBody>
      </p:sp>
      <p:sp>
        <p:nvSpPr>
          <p:cNvPr id="6" name="Rectangle 5"/>
          <p:cNvSpPr/>
          <p:nvPr/>
        </p:nvSpPr>
        <p:spPr>
          <a:xfrm>
            <a:off x="411480" y="1554480"/>
            <a:ext cx="5577840" cy="42062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42062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5212080" cy="40233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Ce que l'équipe voulait accomplir</a:t>
            </a:r>
          </a:p>
          <a:p>
            <a:pPr algn="l">
              <a:spcBef>
                <a:spcPts val="0"/>
              </a:spcBef>
              <a:spcAft>
                <a:spcPts val="300"/>
              </a:spcAft>
            </a:pPr>
            <a:r>
              <a:rPr sz="1300" b="0">
                <a:solidFill>
                  <a:srgbClr val="404040"/>
                </a:solidFill>
                <a:latin typeface="Calibri"/>
              </a:rPr>
              <a:t>•  Cadrer le périmètre : cahier des charges (fonctions EF-01 à EF-09)</a:t>
            </a:r>
          </a:p>
          <a:p>
            <a:pPr algn="l">
              <a:spcBef>
                <a:spcPts val="0"/>
              </a:spcBef>
              <a:spcAft>
                <a:spcPts val="300"/>
              </a:spcAft>
            </a:pPr>
            <a:r>
              <a:rPr sz="1300" b="0">
                <a:solidFill>
                  <a:srgbClr val="404040"/>
                </a:solidFill>
                <a:latin typeface="Calibri"/>
              </a:rPr>
              <a:t>•  Modéliser le système avant de coder</a:t>
            </a:r>
          </a:p>
          <a:p>
            <a:pPr algn="l">
              <a:spcBef>
                <a:spcPts val="0"/>
              </a:spcBef>
              <a:spcAft>
                <a:spcPts val="300"/>
              </a:spcAft>
            </a:pPr>
            <a:r>
              <a:rPr sz="1300" b="0">
                <a:solidFill>
                  <a:srgbClr val="404040"/>
                </a:solidFill>
                <a:latin typeface="Calibri"/>
              </a:rPr>
              <a:t>•  Produire les diagrammes UML : cas d'utilisation, classes, séquence</a:t>
            </a:r>
          </a:p>
          <a:p>
            <a:pPr algn="l">
              <a:spcBef>
                <a:spcPts val="0"/>
              </a:spcBef>
              <a:spcAft>
                <a:spcPts val="300"/>
              </a:spcAft>
            </a:pPr>
            <a:r>
              <a:rPr sz="1300" b="0">
                <a:solidFill>
                  <a:srgbClr val="404040"/>
                </a:solidFill>
                <a:latin typeface="Calibri"/>
              </a:rPr>
              <a:t>•  Ajouter un diagramme entité-association (ERD) pour PostgreSQL</a:t>
            </a:r>
          </a:p>
          <a:p>
            <a:pPr algn="l">
              <a:spcBef>
                <a:spcPts val="0"/>
              </a:spcBef>
              <a:spcAft>
                <a:spcPts val="300"/>
              </a:spcAft>
            </a:pPr>
            <a:r>
              <a:rPr sz="1300" b="0">
                <a:solidFill>
                  <a:srgbClr val="404040"/>
                </a:solidFill>
                <a:latin typeface="Calibri"/>
              </a:rPr>
              <a:t>•  Mettre en place les outils de suivi : Jira + GitHub</a:t>
            </a:r>
          </a:p>
          <a:p>
            <a:pPr algn="l">
              <a:spcBef>
                <a:spcPts val="0"/>
              </a:spcBef>
              <a:spcAft>
                <a:spcPts val="300"/>
              </a:spcAft>
            </a:pPr>
            <a:r>
              <a:rPr sz="1300" b="0">
                <a:solidFill>
                  <a:srgbClr val="404040"/>
                </a:solidFill>
                <a:latin typeface="Calibri"/>
              </a:rPr>
              <a:t>•  Déposer le dossier de conception et le soumettre sur eCité</a:t>
            </a:r>
          </a:p>
        </p:txBody>
      </p:sp>
      <p:sp>
        <p:nvSpPr>
          <p:cNvPr id="9" name="Rectangle 8"/>
          <p:cNvSpPr/>
          <p:nvPr/>
        </p:nvSpPr>
        <p:spPr>
          <a:xfrm>
            <a:off x="6172200" y="1554480"/>
            <a:ext cx="5577840" cy="42062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76200" cy="42062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5212080" cy="402336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Pourquoi cet objectif est important</a:t>
            </a:r>
          </a:p>
          <a:p>
            <a:pPr algn="l">
              <a:spcBef>
                <a:spcPts val="0"/>
              </a:spcBef>
              <a:spcAft>
                <a:spcPts val="300"/>
              </a:spcAft>
            </a:pPr>
            <a:r>
              <a:rPr sz="1300" b="0">
                <a:solidFill>
                  <a:srgbClr val="404040"/>
                </a:solidFill>
                <a:latin typeface="Calibri"/>
              </a:rPr>
              <a:t>•  La conception est la fondation de tout le projet</a:t>
            </a:r>
          </a:p>
          <a:p>
            <a:pPr algn="l">
              <a:spcBef>
                <a:spcPts val="0"/>
              </a:spcBef>
              <a:spcAft>
                <a:spcPts val="300"/>
              </a:spcAft>
            </a:pPr>
            <a:r>
              <a:rPr sz="1300" b="0">
                <a:solidFill>
                  <a:srgbClr val="404040"/>
                </a:solidFill>
                <a:latin typeface="Calibri"/>
              </a:rPr>
              <a:t>•  Éviter de coder dans le flou : moins d'erreurs ensuite</a:t>
            </a:r>
          </a:p>
          <a:p>
            <a:pPr algn="l">
              <a:spcBef>
                <a:spcPts val="0"/>
              </a:spcBef>
              <a:spcAft>
                <a:spcPts val="300"/>
              </a:spcAft>
            </a:pPr>
            <a:r>
              <a:rPr sz="1300" b="0">
                <a:solidFill>
                  <a:srgbClr val="404040"/>
                </a:solidFill>
                <a:latin typeface="Calibri"/>
              </a:rPr>
              <a:t>•  Le diagramme de classes guide directement la base de données</a:t>
            </a:r>
          </a:p>
          <a:p>
            <a:pPr algn="l">
              <a:spcBef>
                <a:spcPts val="0"/>
              </a:spcBef>
              <a:spcAft>
                <a:spcPts val="300"/>
              </a:spcAft>
            </a:pPr>
            <a:r>
              <a:rPr sz="1300" b="0">
                <a:solidFill>
                  <a:srgbClr val="404040"/>
                </a:solidFill>
                <a:latin typeface="Calibri"/>
              </a:rPr>
              <a:t>•  Identifier tôt les risques techniques (gestion des disponibilités)</a:t>
            </a:r>
          </a:p>
          <a:p>
            <a:pPr algn="l">
              <a:spcBef>
                <a:spcPts val="0"/>
              </a:spcBef>
              <a:spcAft>
                <a:spcPts val="300"/>
              </a:spcAft>
            </a:pPr>
            <a:r>
              <a:rPr sz="1300" b="0">
                <a:solidFill>
                  <a:srgbClr val="404040"/>
                </a:solidFill>
                <a:latin typeface="Calibri"/>
              </a:rPr>
              <a:t>•  Aligner toute l'équipe sur une vision commune</a:t>
            </a:r>
          </a:p>
          <a:p>
            <a:pPr algn="l">
              <a:spcBef>
                <a:spcPts val="0"/>
              </a:spcBef>
              <a:spcAft>
                <a:spcPts val="300"/>
              </a:spcAft>
            </a:pPr>
            <a:r>
              <a:rPr sz="1300" b="0">
                <a:solidFill>
                  <a:srgbClr val="404040"/>
                </a:solidFill>
                <a:latin typeface="Calibri"/>
              </a:rPr>
              <a:t>•  Découper le travail en Epics / sprints réalistes</a:t>
            </a:r>
          </a:p>
        </p:txBody>
      </p:sp>
      <p:sp>
        <p:nvSpPr>
          <p:cNvPr id="12" name="TextBox 11"/>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3" name="TextBox 12"/>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3</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Notre organisation &amp; démarche</a:t>
            </a:r>
          </a:p>
          <a:p>
            <a:pPr algn="l">
              <a:spcBef>
                <a:spcPts val="0"/>
              </a:spcBef>
              <a:spcAft>
                <a:spcPts val="0"/>
              </a:spcAft>
            </a:pPr>
            <a:r>
              <a:rPr sz="1400" b="0">
                <a:solidFill>
                  <a:srgbClr val="CFE3FF"/>
                </a:solidFill>
                <a:latin typeface="Calibri"/>
              </a:rPr>
              <a:t>Comment l'équipe travaille</a:t>
            </a:r>
          </a:p>
        </p:txBody>
      </p:sp>
      <p:sp>
        <p:nvSpPr>
          <p:cNvPr id="6" name="Rectangle 5"/>
          <p:cNvSpPr/>
          <p:nvPr/>
        </p:nvSpPr>
        <p:spPr>
          <a:xfrm>
            <a:off x="411480" y="1554480"/>
            <a:ext cx="3657600" cy="21031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21031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3291840" cy="19202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Planification</a:t>
            </a:r>
          </a:p>
          <a:p>
            <a:pPr algn="l">
              <a:spcBef>
                <a:spcPts val="0"/>
              </a:spcBef>
              <a:spcAft>
                <a:spcPts val="300"/>
              </a:spcAft>
            </a:pPr>
            <a:r>
              <a:rPr sz="1300" b="0">
                <a:solidFill>
                  <a:srgbClr val="404040"/>
                </a:solidFill>
                <a:latin typeface="Calibri"/>
              </a:rPr>
              <a:t>•  Jira : Epics, user stories, tâches</a:t>
            </a:r>
          </a:p>
          <a:p>
            <a:pPr algn="l">
              <a:spcBef>
                <a:spcPts val="0"/>
              </a:spcBef>
              <a:spcAft>
                <a:spcPts val="300"/>
              </a:spcAft>
            </a:pPr>
            <a:r>
              <a:rPr sz="1300" b="0">
                <a:solidFill>
                  <a:srgbClr val="404040"/>
                </a:solidFill>
                <a:latin typeface="Calibri"/>
              </a:rPr>
              <a:t>•  Sprints gérés par labels Sprint-1…6</a:t>
            </a:r>
          </a:p>
          <a:p>
            <a:pPr algn="l">
              <a:spcBef>
                <a:spcPts val="0"/>
              </a:spcBef>
              <a:spcAft>
                <a:spcPts val="300"/>
              </a:spcAft>
            </a:pPr>
            <a:r>
              <a:rPr sz="1300" b="0">
                <a:solidFill>
                  <a:srgbClr val="404040"/>
                </a:solidFill>
                <a:latin typeface="Calibri"/>
              </a:rPr>
              <a:t>•  Statuts et responsables à jour</a:t>
            </a:r>
          </a:p>
        </p:txBody>
      </p:sp>
      <p:sp>
        <p:nvSpPr>
          <p:cNvPr id="9" name="Rectangle 8"/>
          <p:cNvSpPr/>
          <p:nvPr/>
        </p:nvSpPr>
        <p:spPr>
          <a:xfrm>
            <a:off x="4251960" y="1554480"/>
            <a:ext cx="3657600" cy="21031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54480"/>
            <a:ext cx="76200" cy="21031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64208"/>
            <a:ext cx="3291840" cy="19202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Versionnement</a:t>
            </a:r>
          </a:p>
          <a:p>
            <a:pPr algn="l">
              <a:spcBef>
                <a:spcPts val="0"/>
              </a:spcBef>
              <a:spcAft>
                <a:spcPts val="300"/>
              </a:spcAft>
            </a:pPr>
            <a:r>
              <a:rPr sz="1300" b="0">
                <a:solidFill>
                  <a:srgbClr val="404040"/>
                </a:solidFill>
                <a:latin typeface="Calibri"/>
              </a:rPr>
              <a:t>•  GitHub : dépôt privé partagé</a:t>
            </a:r>
          </a:p>
          <a:p>
            <a:pPr algn="l">
              <a:spcBef>
                <a:spcPts val="0"/>
              </a:spcBef>
              <a:spcAft>
                <a:spcPts val="300"/>
              </a:spcAft>
            </a:pPr>
            <a:r>
              <a:rPr sz="1300" b="0">
                <a:solidFill>
                  <a:srgbClr val="404040"/>
                </a:solidFill>
                <a:latin typeface="Calibri"/>
              </a:rPr>
              <a:t>•  Dossier docs/conception/</a:t>
            </a:r>
          </a:p>
          <a:p>
            <a:pPr algn="l">
              <a:spcBef>
                <a:spcPts val="0"/>
              </a:spcBef>
              <a:spcAft>
                <a:spcPts val="300"/>
              </a:spcAft>
            </a:pPr>
            <a:r>
              <a:rPr sz="1300" b="0">
                <a:solidFill>
                  <a:srgbClr val="404040"/>
                </a:solidFill>
                <a:latin typeface="Calibri"/>
              </a:rPr>
              <a:t>•  Accès donné à la professeure</a:t>
            </a:r>
          </a:p>
        </p:txBody>
      </p:sp>
      <p:sp>
        <p:nvSpPr>
          <p:cNvPr id="12" name="Rectangle 11"/>
          <p:cNvSpPr/>
          <p:nvPr/>
        </p:nvSpPr>
        <p:spPr>
          <a:xfrm>
            <a:off x="8092440" y="1554480"/>
            <a:ext cx="3657600" cy="21031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54480"/>
            <a:ext cx="76200" cy="210312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64208"/>
            <a:ext cx="3291840" cy="192024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Modélisation</a:t>
            </a:r>
          </a:p>
          <a:p>
            <a:pPr algn="l">
              <a:spcBef>
                <a:spcPts val="0"/>
              </a:spcBef>
              <a:spcAft>
                <a:spcPts val="300"/>
              </a:spcAft>
            </a:pPr>
            <a:r>
              <a:rPr sz="1300" b="0">
                <a:solidFill>
                  <a:srgbClr val="404040"/>
                </a:solidFill>
                <a:latin typeface="Calibri"/>
              </a:rPr>
              <a:t>•  Diagrammes en Mermaid (versionnables)</a:t>
            </a:r>
          </a:p>
          <a:p>
            <a:pPr algn="l">
              <a:spcBef>
                <a:spcPts val="0"/>
              </a:spcBef>
              <a:spcAft>
                <a:spcPts val="300"/>
              </a:spcAft>
            </a:pPr>
            <a:r>
              <a:rPr sz="1300" b="0">
                <a:solidFill>
                  <a:srgbClr val="404040"/>
                </a:solidFill>
                <a:latin typeface="Calibri"/>
              </a:rPr>
              <a:t>•  Affichage direct dans GitHub</a:t>
            </a:r>
          </a:p>
          <a:p>
            <a:pPr algn="l">
              <a:spcBef>
                <a:spcPts val="0"/>
              </a:spcBef>
              <a:spcAft>
                <a:spcPts val="300"/>
              </a:spcAft>
            </a:pPr>
            <a:r>
              <a:rPr sz="1300" b="0">
                <a:solidFill>
                  <a:srgbClr val="404040"/>
                </a:solidFill>
                <a:latin typeface="Calibri"/>
              </a:rPr>
              <a:t>•  Images PNG exportées</a:t>
            </a:r>
          </a:p>
        </p:txBody>
      </p:sp>
      <p:sp>
        <p:nvSpPr>
          <p:cNvPr id="15" name="Rectangle 14"/>
          <p:cNvSpPr/>
          <p:nvPr/>
        </p:nvSpPr>
        <p:spPr>
          <a:xfrm>
            <a:off x="411480" y="3886200"/>
            <a:ext cx="1133856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3886200"/>
            <a:ext cx="76200" cy="2286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95928"/>
            <a:ext cx="10972800" cy="210312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Répartition des rôles dans l'équipe</a:t>
            </a:r>
          </a:p>
          <a:p>
            <a:pPr algn="l">
              <a:spcBef>
                <a:spcPts val="0"/>
              </a:spcBef>
              <a:spcAft>
                <a:spcPts val="300"/>
              </a:spcAft>
            </a:pPr>
            <a:r>
              <a:rPr sz="1300" b="0">
                <a:solidFill>
                  <a:srgbClr val="404040"/>
                </a:solidFill>
                <a:latin typeface="Calibri"/>
              </a:rPr>
              <a:t>•  Souleymane DIALLO : pilotage du projet, mise en place Jira &amp; GitHub, cahier des charges, 7 diagrammes de cas d'utilisation</a:t>
            </a:r>
          </a:p>
          <a:p>
            <a:pPr algn="l">
              <a:spcBef>
                <a:spcPts val="0"/>
              </a:spcBef>
              <a:spcAft>
                <a:spcPts val="300"/>
              </a:spcAft>
            </a:pPr>
            <a:r>
              <a:rPr sz="1300" b="0">
                <a:solidFill>
                  <a:srgbClr val="404040"/>
                </a:solidFill>
                <a:latin typeface="Calibri"/>
              </a:rPr>
              <a:t>•  Zakaria Lahouiri : diagramme de classes et son explication écrite</a:t>
            </a:r>
          </a:p>
          <a:p>
            <a:pPr algn="l">
              <a:spcBef>
                <a:spcPts val="0"/>
              </a:spcBef>
              <a:spcAft>
                <a:spcPts val="300"/>
              </a:spcAft>
            </a:pPr>
            <a:r>
              <a:rPr sz="1300" b="0">
                <a:solidFill>
                  <a:srgbClr val="404040"/>
                </a:solidFill>
                <a:latin typeface="Calibri"/>
              </a:rPr>
              <a:t>•  Larbi Saib : diagramme de séquence et son explication écrite</a:t>
            </a:r>
          </a:p>
          <a:p>
            <a:pPr algn="l">
              <a:spcBef>
                <a:spcPts val="0"/>
              </a:spcBef>
              <a:spcAft>
                <a:spcPts val="300"/>
              </a:spcAft>
            </a:pPr>
            <a:r>
              <a:rPr sz="1300" b="0">
                <a:solidFill>
                  <a:srgbClr val="404040"/>
                </a:solidFill>
                <a:latin typeface="Calibri"/>
              </a:rPr>
              <a:t>•  Travail en équipe : relecture croisée, validation des diagrammes et rédaction des explications</a:t>
            </a:r>
          </a:p>
        </p:txBody>
      </p:sp>
      <p:sp>
        <p:nvSpPr>
          <p:cNvPr id="18" name="TextBox 17"/>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9" name="TextBox 18"/>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4</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Avancement dans Jira</a:t>
            </a:r>
          </a:p>
          <a:p>
            <a:pPr algn="l">
              <a:spcBef>
                <a:spcPts val="0"/>
              </a:spcBef>
              <a:spcAft>
                <a:spcPts val="0"/>
              </a:spcAft>
            </a:pPr>
            <a:r>
              <a:rPr sz="1400" b="0">
                <a:solidFill>
                  <a:srgbClr val="CFE3FF"/>
                </a:solidFill>
                <a:latin typeface="Calibri"/>
              </a:rPr>
              <a:t>Epics · user stories · tâches · progression</a:t>
            </a:r>
          </a:p>
        </p:txBody>
      </p:sp>
      <p:sp>
        <p:nvSpPr>
          <p:cNvPr id="6" name="Rectangle 5"/>
          <p:cNvSpPr/>
          <p:nvPr/>
        </p:nvSpPr>
        <p:spPr>
          <a:xfrm>
            <a:off x="411480" y="1554480"/>
            <a:ext cx="2606040" cy="13716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2763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7</a:t>
            </a:r>
          </a:p>
          <a:p>
            <a:pPr algn="ctr">
              <a:spcBef>
                <a:spcPts val="0"/>
              </a:spcBef>
              <a:spcAft>
                <a:spcPts val="0"/>
              </a:spcAft>
            </a:pPr>
            <a:r>
              <a:rPr sz="1300" b="0">
                <a:solidFill>
                  <a:srgbClr val="FFFFFF"/>
                </a:solidFill>
                <a:latin typeface="Calibri"/>
              </a:rPr>
              <a:t>Epics</a:t>
            </a:r>
          </a:p>
        </p:txBody>
      </p:sp>
      <p:sp>
        <p:nvSpPr>
          <p:cNvPr id="8" name="Rectangle 7"/>
          <p:cNvSpPr/>
          <p:nvPr/>
        </p:nvSpPr>
        <p:spPr>
          <a:xfrm>
            <a:off x="3246120" y="1554480"/>
            <a:ext cx="260604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62763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23</a:t>
            </a:r>
          </a:p>
          <a:p>
            <a:pPr algn="ctr">
              <a:spcBef>
                <a:spcPts val="0"/>
              </a:spcBef>
              <a:spcAft>
                <a:spcPts val="0"/>
              </a:spcAft>
            </a:pPr>
            <a:r>
              <a:rPr sz="1300" b="0">
                <a:solidFill>
                  <a:srgbClr val="FFFFFF"/>
                </a:solidFill>
                <a:latin typeface="Calibri"/>
              </a:rPr>
              <a:t>User stories</a:t>
            </a:r>
          </a:p>
        </p:txBody>
      </p:sp>
      <p:sp>
        <p:nvSpPr>
          <p:cNvPr id="10" name="Rectangle 9"/>
          <p:cNvSpPr/>
          <p:nvPr/>
        </p:nvSpPr>
        <p:spPr>
          <a:xfrm>
            <a:off x="6080760" y="1554480"/>
            <a:ext cx="260604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62763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3</a:t>
            </a:r>
          </a:p>
          <a:p>
            <a:pPr algn="ctr">
              <a:spcBef>
                <a:spcPts val="0"/>
              </a:spcBef>
              <a:spcAft>
                <a:spcPts val="0"/>
              </a:spcAft>
            </a:pPr>
            <a:r>
              <a:rPr sz="1300" b="0">
                <a:solidFill>
                  <a:srgbClr val="FFFFFF"/>
                </a:solidFill>
                <a:latin typeface="Calibri"/>
              </a:rPr>
              <a:t>Tâches</a:t>
            </a:r>
          </a:p>
        </p:txBody>
      </p:sp>
      <p:sp>
        <p:nvSpPr>
          <p:cNvPr id="12" name="Rectangle 11"/>
          <p:cNvSpPr/>
          <p:nvPr/>
        </p:nvSpPr>
        <p:spPr>
          <a:xfrm>
            <a:off x="8915400" y="1554480"/>
            <a:ext cx="2606040" cy="137160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62763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6</a:t>
            </a:r>
          </a:p>
          <a:p>
            <a:pPr algn="ctr">
              <a:spcBef>
                <a:spcPts val="0"/>
              </a:spcBef>
              <a:spcAft>
                <a:spcPts val="0"/>
              </a:spcAft>
            </a:pPr>
            <a:r>
              <a:rPr sz="1300" b="0">
                <a:solidFill>
                  <a:srgbClr val="FFFFFF"/>
                </a:solidFill>
                <a:latin typeface="Calibri"/>
              </a:rPr>
              <a:t>Sprints planifiés</a:t>
            </a:r>
          </a:p>
        </p:txBody>
      </p:sp>
      <p:sp>
        <p:nvSpPr>
          <p:cNvPr id="14" name="Rectangle 13"/>
          <p:cNvSpPr/>
          <p:nvPr/>
        </p:nvSpPr>
        <p:spPr>
          <a:xfrm>
            <a:off x="411480" y="3154680"/>
            <a:ext cx="5577840" cy="30175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154680"/>
            <a:ext cx="76200" cy="30175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4408"/>
            <a:ext cx="5212080" cy="28346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Sprint 1 — Analyse &amp; conception</a:t>
            </a:r>
          </a:p>
          <a:p>
            <a:pPr algn="l">
              <a:spcBef>
                <a:spcPts val="0"/>
              </a:spcBef>
              <a:spcAft>
                <a:spcPts val="300"/>
              </a:spcAft>
            </a:pPr>
            <a:r>
              <a:rPr sz="1300" b="0">
                <a:solidFill>
                  <a:srgbClr val="404040"/>
                </a:solidFill>
                <a:latin typeface="Calibri"/>
              </a:rPr>
              <a:t>•  Epic E1 (Analyse / Conception) : conception terminée</a:t>
            </a:r>
          </a:p>
          <a:p>
            <a:pPr algn="l">
              <a:spcBef>
                <a:spcPts val="0"/>
              </a:spcBef>
              <a:spcAft>
                <a:spcPts val="300"/>
              </a:spcAft>
            </a:pPr>
            <a:r>
              <a:rPr sz="1300" b="0">
                <a:solidFill>
                  <a:srgbClr val="404040"/>
                </a:solidFill>
                <a:latin typeface="Calibri"/>
              </a:rPr>
              <a:t>•  Stories de conception : cahier des charges, cas d'usage,</a:t>
            </a:r>
          </a:p>
          <a:p>
            <a:pPr algn="l">
              <a:spcBef>
                <a:spcPts val="0"/>
              </a:spcBef>
              <a:spcAft>
                <a:spcPts val="300"/>
              </a:spcAft>
            </a:pPr>
            <a:r>
              <a:rPr sz="1300" b="0">
                <a:solidFill>
                  <a:srgbClr val="404040"/>
                </a:solidFill>
                <a:latin typeface="Calibri"/>
              </a:rPr>
              <a:t>•     classes, séquence, ERD, dépôt GitHub — terminées</a:t>
            </a:r>
          </a:p>
          <a:p>
            <a:pPr algn="l">
              <a:spcBef>
                <a:spcPts val="0"/>
              </a:spcBef>
              <a:spcAft>
                <a:spcPts val="300"/>
              </a:spcAft>
            </a:pPr>
            <a:r>
              <a:rPr sz="1300" b="0">
                <a:solidFill>
                  <a:srgbClr val="404040"/>
                </a:solidFill>
                <a:latin typeface="Calibri"/>
              </a:rPr>
              <a:t>•  Responsables assignés pour chaque ticket</a:t>
            </a:r>
          </a:p>
          <a:p>
            <a:pPr algn="l">
              <a:spcBef>
                <a:spcPts val="0"/>
              </a:spcBef>
              <a:spcAft>
                <a:spcPts val="300"/>
              </a:spcAft>
            </a:pPr>
            <a:r>
              <a:rPr sz="1300" b="0">
                <a:solidFill>
                  <a:srgbClr val="404040"/>
                </a:solidFill>
                <a:latin typeface="Calibri"/>
              </a:rPr>
              <a:t>•  Sprint 1 quasi complet, jalon conception atteint</a:t>
            </a:r>
          </a:p>
        </p:txBody>
      </p:sp>
      <p:sp>
        <p:nvSpPr>
          <p:cNvPr id="17" name="Rectangle 16"/>
          <p:cNvSpPr/>
          <p:nvPr/>
        </p:nvSpPr>
        <p:spPr>
          <a:xfrm>
            <a:off x="6172200" y="3154680"/>
            <a:ext cx="5577840" cy="30175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154680"/>
            <a:ext cx="76200" cy="30175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264408"/>
            <a:ext cx="5212080" cy="28346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Backlog des sprints suivants (planifié)</a:t>
            </a:r>
          </a:p>
          <a:p>
            <a:pPr algn="l">
              <a:spcBef>
                <a:spcPts val="0"/>
              </a:spcBef>
              <a:spcAft>
                <a:spcPts val="300"/>
              </a:spcAft>
            </a:pPr>
            <a:r>
              <a:rPr sz="1300" b="0">
                <a:solidFill>
                  <a:srgbClr val="404040"/>
                </a:solidFill>
                <a:latin typeface="Calibri"/>
              </a:rPr>
              <a:t>•  S2 — Fondations &amp; authentification (Docker, JWT, RBAC)</a:t>
            </a:r>
          </a:p>
          <a:p>
            <a:pPr algn="l">
              <a:spcBef>
                <a:spcPts val="0"/>
              </a:spcBef>
              <a:spcAft>
                <a:spcPts val="300"/>
              </a:spcAft>
            </a:pPr>
            <a:r>
              <a:rPr sz="1300" b="0">
                <a:solidFill>
                  <a:srgbClr val="404040"/>
                </a:solidFill>
                <a:latin typeface="Calibri"/>
              </a:rPr>
              <a:t>•  S3 — Cliniques, médecins &amp; disponibilités</a:t>
            </a:r>
          </a:p>
          <a:p>
            <a:pPr algn="l">
              <a:spcBef>
                <a:spcPts val="0"/>
              </a:spcBef>
              <a:spcAft>
                <a:spcPts val="300"/>
              </a:spcAft>
            </a:pPr>
            <a:r>
              <a:rPr sz="1300" b="0">
                <a:solidFill>
                  <a:srgbClr val="404040"/>
                </a:solidFill>
                <a:latin typeface="Calibri"/>
              </a:rPr>
              <a:t>•  S4 — Rendez-vous &amp; notifications</a:t>
            </a:r>
          </a:p>
          <a:p>
            <a:pPr algn="l">
              <a:spcBef>
                <a:spcPts val="0"/>
              </a:spcBef>
              <a:spcAft>
                <a:spcPts val="300"/>
              </a:spcAft>
            </a:pPr>
            <a:r>
              <a:rPr sz="1300" b="0">
                <a:solidFill>
                  <a:srgbClr val="404040"/>
                </a:solidFill>
                <a:latin typeface="Calibri"/>
              </a:rPr>
              <a:t>•  S5 — Flux clinique &amp; tableaux de bord</a:t>
            </a:r>
          </a:p>
          <a:p>
            <a:pPr algn="l">
              <a:spcBef>
                <a:spcPts val="0"/>
              </a:spcBef>
              <a:spcAft>
                <a:spcPts val="300"/>
              </a:spcAft>
            </a:pPr>
            <a:r>
              <a:rPr sz="1300" b="0">
                <a:solidFill>
                  <a:srgbClr val="404040"/>
                </a:solidFill>
                <a:latin typeface="Calibri"/>
              </a:rPr>
              <a:t>•  S6 — Qualité, CI/CD &amp; déploiement</a:t>
            </a:r>
          </a:p>
        </p:txBody>
      </p:sp>
      <p:sp>
        <p:nvSpPr>
          <p:cNvPr id="20" name="TextBox 19"/>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21" name="TextBox 20"/>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5</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Dossier de conception (1/2)</a:t>
            </a:r>
          </a:p>
          <a:p>
            <a:pPr algn="l">
              <a:spcBef>
                <a:spcPts val="0"/>
              </a:spcBef>
              <a:spcAft>
                <a:spcPts val="0"/>
              </a:spcAft>
            </a:pPr>
            <a:r>
              <a:rPr sz="1400" b="0">
                <a:solidFill>
                  <a:srgbClr val="CFE3FF"/>
                </a:solidFill>
                <a:latin typeface="Calibri"/>
              </a:rPr>
              <a:t>Diagrammes de cas d'utilisation</a:t>
            </a:r>
          </a:p>
        </p:txBody>
      </p:sp>
      <p:sp>
        <p:nvSpPr>
          <p:cNvPr id="6" name="TextBox 5"/>
          <p:cNvSpPr txBox="1"/>
          <p:nvPr/>
        </p:nvSpPr>
        <p:spPr>
          <a:xfrm>
            <a:off x="411480" y="1371600"/>
            <a:ext cx="11338560" cy="548640"/>
          </a:xfrm>
          <a:prstGeom prst="rect">
            <a:avLst/>
          </a:prstGeom>
          <a:noFill/>
        </p:spPr>
        <p:txBody>
          <a:bodyPr wrap="square">
            <a:spAutoFit/>
          </a:bodyPr>
          <a:lstStyle/>
          <a:p>
            <a:pPr algn="l">
              <a:spcBef>
                <a:spcPts val="0"/>
              </a:spcBef>
              <a:spcAft>
                <a:spcPts val="0"/>
              </a:spcAft>
            </a:pPr>
            <a:r>
              <a:rPr sz="1500" b="1">
                <a:solidFill>
                  <a:srgbClr val="404040"/>
                </a:solidFill>
                <a:latin typeface="Calibri"/>
              </a:rPr>
              <a:t>7 diagrammes produits (consigne : minimum 5) — couvrent les fonctions EF-01 à EF-09</a:t>
            </a:r>
          </a:p>
        </p:txBody>
      </p:sp>
      <p:sp>
        <p:nvSpPr>
          <p:cNvPr id="7" name="Rectangle 6"/>
          <p:cNvSpPr/>
          <p:nvPr/>
        </p:nvSpPr>
        <p:spPr>
          <a:xfrm>
            <a:off x="411480" y="2011680"/>
            <a:ext cx="5577840" cy="27432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2011680"/>
            <a:ext cx="76200" cy="27432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21408"/>
            <a:ext cx="5212080" cy="256032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Les diagrammes</a:t>
            </a:r>
          </a:p>
          <a:p>
            <a:pPr algn="l">
              <a:spcBef>
                <a:spcPts val="0"/>
              </a:spcBef>
              <a:spcAft>
                <a:spcPts val="300"/>
              </a:spcAft>
            </a:pPr>
            <a:r>
              <a:rPr sz="1300" b="0">
                <a:solidFill>
                  <a:srgbClr val="404040"/>
                </a:solidFill>
                <a:latin typeface="Calibri"/>
              </a:rPr>
              <a:t>•  UC-1  Vue d'ensemble du système (4 acteurs)</a:t>
            </a:r>
          </a:p>
          <a:p>
            <a:pPr algn="l">
              <a:spcBef>
                <a:spcPts val="0"/>
              </a:spcBef>
              <a:spcAft>
                <a:spcPts val="300"/>
              </a:spcAft>
            </a:pPr>
            <a:r>
              <a:rPr sz="1300" b="0">
                <a:solidFill>
                  <a:srgbClr val="404040"/>
                </a:solidFill>
                <a:latin typeface="Calibri"/>
              </a:rPr>
              <a:t>•  UC-2  Authentification &amp; gestion des comptes</a:t>
            </a:r>
          </a:p>
          <a:p>
            <a:pPr algn="l">
              <a:spcBef>
                <a:spcPts val="0"/>
              </a:spcBef>
              <a:spcAft>
                <a:spcPts val="300"/>
              </a:spcAft>
            </a:pPr>
            <a:r>
              <a:rPr sz="1300" b="0">
                <a:solidFill>
                  <a:srgbClr val="404040"/>
                </a:solidFill>
                <a:latin typeface="Calibri"/>
              </a:rPr>
              <a:t>•  UC-3  Réservation / modification / annulation</a:t>
            </a:r>
          </a:p>
          <a:p>
            <a:pPr algn="l">
              <a:spcBef>
                <a:spcPts val="0"/>
              </a:spcBef>
              <a:spcAft>
                <a:spcPts val="300"/>
              </a:spcAft>
            </a:pPr>
            <a:r>
              <a:rPr sz="1300" b="0">
                <a:solidFill>
                  <a:srgbClr val="404040"/>
                </a:solidFill>
                <a:latin typeface="Calibri"/>
              </a:rPr>
              <a:t>•  UC-4  Médecins &amp; disponibilités</a:t>
            </a:r>
          </a:p>
        </p:txBody>
      </p:sp>
      <p:sp>
        <p:nvSpPr>
          <p:cNvPr id="10" name="Rectangle 9"/>
          <p:cNvSpPr/>
          <p:nvPr/>
        </p:nvSpPr>
        <p:spPr>
          <a:xfrm>
            <a:off x="6172200" y="2011680"/>
            <a:ext cx="5577840" cy="27432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2011680"/>
            <a:ext cx="76200" cy="27432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121408"/>
            <a:ext cx="5212080" cy="256032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 </a:t>
            </a:r>
          </a:p>
          <a:p>
            <a:pPr algn="l">
              <a:spcBef>
                <a:spcPts val="0"/>
              </a:spcBef>
              <a:spcAft>
                <a:spcPts val="300"/>
              </a:spcAft>
            </a:pPr>
            <a:r>
              <a:rPr sz="1300" b="0">
                <a:solidFill>
                  <a:srgbClr val="404040"/>
                </a:solidFill>
                <a:latin typeface="Calibri"/>
              </a:rPr>
              <a:t>•  UC-5  Flux clinique du jour</a:t>
            </a:r>
          </a:p>
          <a:p>
            <a:pPr algn="l">
              <a:spcBef>
                <a:spcPts val="0"/>
              </a:spcBef>
              <a:spcAft>
                <a:spcPts val="300"/>
              </a:spcAft>
            </a:pPr>
            <a:r>
              <a:rPr sz="1300" b="0">
                <a:solidFill>
                  <a:srgbClr val="404040"/>
                </a:solidFill>
                <a:latin typeface="Calibri"/>
              </a:rPr>
              <a:t>•  UC-6  Administration des cliniques</a:t>
            </a:r>
          </a:p>
          <a:p>
            <a:pPr algn="l">
              <a:spcBef>
                <a:spcPts val="0"/>
              </a:spcBef>
              <a:spcAft>
                <a:spcPts val="300"/>
              </a:spcAft>
            </a:pPr>
            <a:r>
              <a:rPr sz="1300" b="0">
                <a:solidFill>
                  <a:srgbClr val="404040"/>
                </a:solidFill>
                <a:latin typeface="Calibri"/>
              </a:rPr>
              <a:t>•  UC-7  Tableaux de bord &amp; statistiques</a:t>
            </a:r>
          </a:p>
        </p:txBody>
      </p:sp>
      <p:sp>
        <p:nvSpPr>
          <p:cNvPr id="13" name="Rectangle 12"/>
          <p:cNvSpPr/>
          <p:nvPr/>
        </p:nvSpPr>
        <p:spPr>
          <a:xfrm>
            <a:off x="411480" y="4892040"/>
            <a:ext cx="11338560" cy="12801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892040"/>
            <a:ext cx="76200" cy="12801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001768"/>
            <a:ext cx="10972800" cy="10972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Ce qu'ils montrent / lien avec le projet</a:t>
            </a:r>
          </a:p>
          <a:p>
            <a:pPr algn="l">
              <a:spcBef>
                <a:spcPts val="0"/>
              </a:spcBef>
              <a:spcAft>
                <a:spcPts val="300"/>
              </a:spcAft>
            </a:pPr>
            <a:r>
              <a:rPr sz="1300" b="0">
                <a:solidFill>
                  <a:srgbClr val="404040"/>
                </a:solidFill>
                <a:latin typeface="Calibri"/>
              </a:rPr>
              <a:t>•  Les acteurs, les fonctionnalités importantes et les interactions acteur-système (include / extend)</a:t>
            </a:r>
          </a:p>
          <a:p>
            <a:pPr algn="l">
              <a:spcBef>
                <a:spcPts val="0"/>
              </a:spcBef>
              <a:spcAft>
                <a:spcPts val="300"/>
              </a:spcAft>
            </a:pPr>
            <a:r>
              <a:rPr sz="1300" b="0">
                <a:solidFill>
                  <a:srgbClr val="404040"/>
                </a:solidFill>
                <a:latin typeface="Calibri"/>
              </a:rPr>
              <a:t>•  Chaque diagramme = une fonctionnalité Must du cahier des charges ; ils orientent le découpage en Epics</a:t>
            </a:r>
          </a:p>
        </p:txBody>
      </p:sp>
      <p:sp>
        <p:nvSpPr>
          <p:cNvPr id="16" name="TextBox 15"/>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7" name="TextBox 16"/>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6</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Dossier de conception (2/2)</a:t>
            </a:r>
          </a:p>
          <a:p>
            <a:pPr algn="l">
              <a:spcBef>
                <a:spcPts val="0"/>
              </a:spcBef>
              <a:spcAft>
                <a:spcPts val="0"/>
              </a:spcAft>
            </a:pPr>
            <a:r>
              <a:rPr sz="1400" b="0">
                <a:solidFill>
                  <a:srgbClr val="CFE3FF"/>
                </a:solidFill>
                <a:latin typeface="Calibri"/>
              </a:rPr>
              <a:t>Diagramme de classes &amp; de séquence</a:t>
            </a:r>
          </a:p>
        </p:txBody>
      </p:sp>
      <p:sp>
        <p:nvSpPr>
          <p:cNvPr id="6" name="Rectangle 5"/>
          <p:cNvSpPr/>
          <p:nvPr/>
        </p:nvSpPr>
        <p:spPr>
          <a:xfrm>
            <a:off x="411480" y="1554480"/>
            <a:ext cx="557784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46177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5212080" cy="44348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Diagramme de classes</a:t>
            </a:r>
          </a:p>
          <a:p>
            <a:pPr algn="l">
              <a:spcBef>
                <a:spcPts val="0"/>
              </a:spcBef>
              <a:spcAft>
                <a:spcPts val="300"/>
              </a:spcAft>
            </a:pPr>
            <a:r>
              <a:rPr sz="1300" b="0">
                <a:solidFill>
                  <a:srgbClr val="404040"/>
                </a:solidFill>
                <a:latin typeface="Calibri"/>
              </a:rPr>
              <a:t>•  Structure principale de la plateforme</a:t>
            </a:r>
          </a:p>
          <a:p>
            <a:pPr algn="l">
              <a:spcBef>
                <a:spcPts val="0"/>
              </a:spcBef>
              <a:spcAft>
                <a:spcPts val="300"/>
              </a:spcAft>
            </a:pPr>
            <a:r>
              <a:rPr sz="1300" b="0">
                <a:solidFill>
                  <a:srgbClr val="404040"/>
                </a:solidFill>
                <a:latin typeface="Calibri"/>
              </a:rPr>
              <a:t>•  Classes : Utilisateur, Patient, Médecin, Administrateur,</a:t>
            </a:r>
          </a:p>
          <a:p>
            <a:pPr algn="l">
              <a:spcBef>
                <a:spcPts val="0"/>
              </a:spcBef>
              <a:spcAft>
                <a:spcPts val="300"/>
              </a:spcAft>
            </a:pPr>
            <a:r>
              <a:rPr sz="1300" b="0">
                <a:solidFill>
                  <a:srgbClr val="404040"/>
                </a:solidFill>
                <a:latin typeface="Calibri"/>
              </a:rPr>
              <a:t>•     Clinique, RendezVous, Disponibilite, Specialite, Notification</a:t>
            </a:r>
          </a:p>
          <a:p>
            <a:pPr algn="l">
              <a:spcBef>
                <a:spcPts val="0"/>
              </a:spcBef>
              <a:spcAft>
                <a:spcPts val="300"/>
              </a:spcAft>
            </a:pPr>
            <a:r>
              <a:rPr sz="1300" b="0">
                <a:solidFill>
                  <a:srgbClr val="404040"/>
                </a:solidFill>
                <a:latin typeface="Calibri"/>
              </a:rPr>
              <a:t>•  Attributs, méthodes et relations entre classes</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Lien : sert de base à la base de données PostgreSQL</a:t>
            </a:r>
          </a:p>
          <a:p>
            <a:pPr algn="l">
              <a:spcBef>
                <a:spcPts val="0"/>
              </a:spcBef>
              <a:spcAft>
                <a:spcPts val="300"/>
              </a:spcAft>
            </a:pPr>
            <a:r>
              <a:rPr sz="1300" b="0">
                <a:solidFill>
                  <a:srgbClr val="404040"/>
                </a:solidFill>
                <a:latin typeface="Calibri"/>
              </a:rPr>
              <a:t>•  et au développement des fonctionnalités essentielles</a:t>
            </a:r>
          </a:p>
        </p:txBody>
      </p:sp>
      <p:sp>
        <p:nvSpPr>
          <p:cNvPr id="9" name="Rectangle 8"/>
          <p:cNvSpPr/>
          <p:nvPr/>
        </p:nvSpPr>
        <p:spPr>
          <a:xfrm>
            <a:off x="6172200" y="1554480"/>
            <a:ext cx="557784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76200" cy="46177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5212080" cy="44348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Diagramme de séquence</a:t>
            </a:r>
          </a:p>
          <a:p>
            <a:pPr algn="l">
              <a:spcBef>
                <a:spcPts val="0"/>
              </a:spcBef>
              <a:spcAft>
                <a:spcPts val="300"/>
              </a:spcAft>
            </a:pPr>
            <a:r>
              <a:rPr sz="1300" b="0">
                <a:solidFill>
                  <a:srgbClr val="404040"/>
                </a:solidFill>
                <a:latin typeface="Calibri"/>
              </a:rPr>
              <a:t>•  5 participants : Patient, Interface Web, API,</a:t>
            </a:r>
          </a:p>
          <a:p>
            <a:pPr algn="l">
              <a:spcBef>
                <a:spcPts val="0"/>
              </a:spcBef>
              <a:spcAft>
                <a:spcPts val="300"/>
              </a:spcAft>
            </a:pPr>
            <a:r>
              <a:rPr sz="1300" b="0">
                <a:solidFill>
                  <a:srgbClr val="404040"/>
                </a:solidFill>
                <a:latin typeface="Calibri"/>
              </a:rPr>
              <a:t>•     Base de données, Service de notification</a:t>
            </a:r>
          </a:p>
          <a:p>
            <a:pPr algn="l">
              <a:spcBef>
                <a:spcPts val="0"/>
              </a:spcBef>
              <a:spcAft>
                <a:spcPts val="300"/>
              </a:spcAft>
            </a:pPr>
            <a:r>
              <a:rPr sz="1300" b="0">
                <a:solidFill>
                  <a:srgbClr val="404040"/>
                </a:solidFill>
                <a:latin typeface="Calibri"/>
              </a:rPr>
              <a:t>•  Connexion : vérification e-mail / mot de passe → JWT</a:t>
            </a:r>
          </a:p>
          <a:p>
            <a:pPr algn="l">
              <a:spcBef>
                <a:spcPts val="0"/>
              </a:spcBef>
              <a:spcAft>
                <a:spcPts val="300"/>
              </a:spcAft>
            </a:pPr>
            <a:r>
              <a:rPr sz="1300" b="0">
                <a:solidFill>
                  <a:srgbClr val="404040"/>
                </a:solidFill>
                <a:latin typeface="Calibri"/>
              </a:rPr>
              <a:t>•  Réservation : vérifie que le créneau est libre</a:t>
            </a:r>
          </a:p>
          <a:p>
            <a:pPr algn="l">
              <a:spcBef>
                <a:spcPts val="0"/>
              </a:spcBef>
              <a:spcAft>
                <a:spcPts val="300"/>
              </a:spcAft>
            </a:pPr>
            <a:r>
              <a:rPr sz="1300" b="0">
                <a:solidFill>
                  <a:srgbClr val="404040"/>
                </a:solidFill>
                <a:latin typeface="Calibri"/>
              </a:rPr>
              <a:t>•     → enregistre, sinon message d'erreur (anti-doublon)</a:t>
            </a:r>
          </a:p>
          <a:p>
            <a:pPr algn="l">
              <a:spcBef>
                <a:spcPts val="0"/>
              </a:spcBef>
              <a:spcAft>
                <a:spcPts val="300"/>
              </a:spcAft>
            </a:pPr>
            <a:r>
              <a:rPr sz="1300" b="0">
                <a:solidFill>
                  <a:srgbClr val="404040"/>
                </a:solidFill>
                <a:latin typeface="Calibri"/>
              </a:rPr>
              <a:t>•  Annulation : statut « annulé » (historique conservé)</a:t>
            </a:r>
          </a:p>
          <a:p>
            <a:pPr algn="l">
              <a:spcBef>
                <a:spcPts val="0"/>
              </a:spcBef>
              <a:spcAft>
                <a:spcPts val="300"/>
              </a:spcAft>
            </a:pPr>
            <a:r>
              <a:rPr sz="1300" b="0">
                <a:solidFill>
                  <a:srgbClr val="404040"/>
                </a:solidFill>
                <a:latin typeface="Calibri"/>
              </a:rPr>
              <a:t>•  Notification après chaque opération</a:t>
            </a:r>
          </a:p>
        </p:txBody>
      </p:sp>
      <p:sp>
        <p:nvSpPr>
          <p:cNvPr id="12" name="TextBox 11"/>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 (classes) · Larbi (séquence)</a:t>
            </a:r>
          </a:p>
        </p:txBody>
      </p:sp>
      <p:sp>
        <p:nvSpPr>
          <p:cNvPr id="13" name="TextBox 12"/>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7</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Dépôt GitHub</a:t>
            </a:r>
          </a:p>
          <a:p>
            <a:pPr algn="l">
              <a:spcBef>
                <a:spcPts val="0"/>
              </a:spcBef>
              <a:spcAft>
                <a:spcPts val="0"/>
              </a:spcAft>
            </a:pPr>
            <a:r>
              <a:rPr sz="1400" b="0">
                <a:solidFill>
                  <a:srgbClr val="CFE3FF"/>
                </a:solidFill>
                <a:latin typeface="Calibri"/>
              </a:rPr>
              <a:t>Structure · emplacement des fichiers · accès</a:t>
            </a:r>
          </a:p>
        </p:txBody>
      </p:sp>
      <p:sp>
        <p:nvSpPr>
          <p:cNvPr id="6" name="Rectangle 5"/>
          <p:cNvSpPr/>
          <p:nvPr/>
        </p:nvSpPr>
        <p:spPr>
          <a:xfrm>
            <a:off x="411480" y="1554480"/>
            <a:ext cx="5577840" cy="461772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5212080" cy="4206240"/>
          </a:xfrm>
          <a:prstGeom prst="rect">
            <a:avLst/>
          </a:prstGeom>
          <a:noFill/>
        </p:spPr>
        <p:txBody>
          <a:bodyPr wrap="square">
            <a:spAutoFit/>
          </a:bodyPr>
          <a:lstStyle/>
          <a:p>
            <a:pPr>
              <a:spcAft>
                <a:spcPts val="200"/>
              </a:spcAft>
            </a:pPr>
            <a:r>
              <a:rPr sz="1300">
                <a:solidFill>
                  <a:srgbClr val="FFFFFF"/>
                </a:solidFill>
                <a:latin typeface="Consolas"/>
              </a:rPr>
              <a:t>mediplan/</a:t>
            </a:r>
          </a:p>
          <a:p>
            <a:pPr>
              <a:spcAft>
                <a:spcPts val="200"/>
              </a:spcAft>
            </a:pPr>
            <a:r>
              <a:rPr sz="1300">
                <a:solidFill>
                  <a:srgbClr val="FFFFFF"/>
                </a:solidFill>
                <a:latin typeface="Consolas"/>
              </a:rPr>
              <a:t>  README.md</a:t>
            </a:r>
          </a:p>
          <a:p>
            <a:pPr>
              <a:spcAft>
                <a:spcPts val="200"/>
              </a:spcAft>
            </a:pPr>
            <a:r>
              <a:rPr sz="1300">
                <a:solidFill>
                  <a:srgbClr val="FFFFFF"/>
                </a:solidFill>
                <a:latin typeface="Consolas"/>
              </a:rPr>
              <a:t>  docs/</a:t>
            </a:r>
          </a:p>
          <a:p>
            <a:pPr>
              <a:spcAft>
                <a:spcPts val="200"/>
              </a:spcAft>
            </a:pPr>
            <a:r>
              <a:rPr sz="1300">
                <a:solidFill>
                  <a:srgbClr val="FFFFFF"/>
                </a:solidFill>
                <a:latin typeface="Consolas"/>
              </a:rPr>
              <a:t>    cahier-des-charges/</a:t>
            </a:r>
          </a:p>
          <a:p>
            <a:pPr>
              <a:spcAft>
                <a:spcPts val="200"/>
              </a:spcAft>
            </a:pPr>
            <a:r>
              <a:rPr sz="1300">
                <a:solidFill>
                  <a:srgbClr val="FFFFFF"/>
                </a:solidFill>
                <a:latin typeface="Consolas"/>
              </a:rPr>
              <a:t>    consignes/</a:t>
            </a:r>
          </a:p>
          <a:p>
            <a:pPr>
              <a:spcAft>
                <a:spcPts val="200"/>
              </a:spcAft>
            </a:pPr>
            <a:r>
              <a:rPr sz="1300">
                <a:solidFill>
                  <a:srgbClr val="8BE9C8"/>
                </a:solidFill>
                <a:latin typeface="Consolas"/>
              </a:rPr>
              <a:t>    conception/        ← livrables</a:t>
            </a:r>
          </a:p>
          <a:p>
            <a:pPr>
              <a:spcAft>
                <a:spcPts val="200"/>
              </a:spcAft>
            </a:pPr>
            <a:r>
              <a:rPr sz="1300">
                <a:solidFill>
                  <a:srgbClr val="FFFFFF"/>
                </a:solidFill>
                <a:latin typeface="Consolas"/>
              </a:rPr>
              <a:t>      00-introduction.md</a:t>
            </a:r>
          </a:p>
          <a:p>
            <a:pPr>
              <a:spcAft>
                <a:spcPts val="200"/>
              </a:spcAft>
            </a:pPr>
            <a:r>
              <a:rPr sz="1300">
                <a:solidFill>
                  <a:srgbClr val="8BE9C8"/>
                </a:solidFill>
                <a:latin typeface="Consolas"/>
              </a:rPr>
              <a:t>      cas-utilisation/  (7 UC)</a:t>
            </a:r>
          </a:p>
          <a:p>
            <a:pPr>
              <a:spcAft>
                <a:spcPts val="200"/>
              </a:spcAft>
            </a:pPr>
            <a:r>
              <a:rPr sz="1300">
                <a:solidFill>
                  <a:srgbClr val="8BE9C8"/>
                </a:solidFill>
                <a:latin typeface="Consolas"/>
              </a:rPr>
              <a:t>      erd/   (MCD / ERD)</a:t>
            </a:r>
          </a:p>
          <a:p>
            <a:pPr>
              <a:spcAft>
                <a:spcPts val="200"/>
              </a:spcAft>
            </a:pPr>
            <a:r>
              <a:rPr sz="1300">
                <a:solidFill>
                  <a:srgbClr val="FFFFFF"/>
                </a:solidFill>
                <a:latin typeface="Consolas"/>
              </a:rPr>
              <a:t>      images/  (.mmd + .png)</a:t>
            </a:r>
          </a:p>
          <a:p>
            <a:pPr>
              <a:spcAft>
                <a:spcPts val="200"/>
              </a:spcAft>
            </a:pPr>
            <a:r>
              <a:rPr sz="1300">
                <a:solidFill>
                  <a:srgbClr val="FFFFFF"/>
                </a:solidFill>
                <a:latin typeface="Consolas"/>
              </a:rPr>
              <a:t>      README.md</a:t>
            </a:r>
          </a:p>
          <a:p>
            <a:pPr>
              <a:spcAft>
                <a:spcPts val="200"/>
              </a:spcAft>
            </a:pPr>
            <a:r>
              <a:rPr sz="1300">
                <a:solidFill>
                  <a:srgbClr val="FFFFFF"/>
                </a:solidFill>
                <a:latin typeface="Consolas"/>
              </a:rPr>
              <a:t>  (frontend/ &amp; backend/ : phases 2-3)</a:t>
            </a:r>
          </a:p>
        </p:txBody>
      </p:sp>
      <p:sp>
        <p:nvSpPr>
          <p:cNvPr id="8" name="Rectangle 7"/>
          <p:cNvSpPr/>
          <p:nvPr/>
        </p:nvSpPr>
        <p:spPr>
          <a:xfrm>
            <a:off x="6172200" y="1554480"/>
            <a:ext cx="5577840" cy="224028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554480"/>
            <a:ext cx="76200" cy="224028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664208"/>
            <a:ext cx="5212080" cy="205740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Ce qui est déposé</a:t>
            </a:r>
          </a:p>
          <a:p>
            <a:pPr algn="l">
              <a:spcBef>
                <a:spcPts val="0"/>
              </a:spcBef>
              <a:spcAft>
                <a:spcPts val="300"/>
              </a:spcAft>
            </a:pPr>
            <a:r>
              <a:rPr sz="1300" b="0">
                <a:solidFill>
                  <a:srgbClr val="404040"/>
                </a:solidFill>
                <a:latin typeface="Calibri"/>
              </a:rPr>
              <a:t>•  Dossier docs/conception/ : tous les livrables</a:t>
            </a:r>
          </a:p>
          <a:p>
            <a:pPr algn="l">
              <a:spcBef>
                <a:spcPts val="0"/>
              </a:spcBef>
              <a:spcAft>
                <a:spcPts val="300"/>
              </a:spcAft>
            </a:pPr>
            <a:r>
              <a:rPr sz="1300" b="0">
                <a:solidFill>
                  <a:srgbClr val="404040"/>
                </a:solidFill>
                <a:latin typeface="Calibri"/>
              </a:rPr>
              <a:t>•  7 cas d'utilisation + ERD (Mermaid + PNG)</a:t>
            </a:r>
          </a:p>
          <a:p>
            <a:pPr algn="l">
              <a:spcBef>
                <a:spcPts val="0"/>
              </a:spcBef>
              <a:spcAft>
                <a:spcPts val="300"/>
              </a:spcAft>
            </a:pPr>
            <a:r>
              <a:rPr sz="1300" b="0">
                <a:solidFill>
                  <a:srgbClr val="404040"/>
                </a:solidFill>
                <a:latin typeface="Calibri"/>
              </a:rPr>
              <a:t>•  Explications écrites pour chaque diagramme</a:t>
            </a:r>
          </a:p>
          <a:p>
            <a:pPr algn="l">
              <a:spcBef>
                <a:spcPts val="0"/>
              </a:spcBef>
              <a:spcAft>
                <a:spcPts val="300"/>
              </a:spcAft>
            </a:pPr>
            <a:r>
              <a:rPr sz="1300" b="0">
                <a:solidFill>
                  <a:srgbClr val="404040"/>
                </a:solidFill>
                <a:latin typeface="Calibri"/>
              </a:rPr>
              <a:t>•  README qui sert de table des matières</a:t>
            </a:r>
          </a:p>
        </p:txBody>
      </p:sp>
      <p:sp>
        <p:nvSpPr>
          <p:cNvPr id="11" name="Rectangle 10"/>
          <p:cNvSpPr/>
          <p:nvPr/>
        </p:nvSpPr>
        <p:spPr>
          <a:xfrm>
            <a:off x="6172200" y="3977639"/>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3977639"/>
            <a:ext cx="76200" cy="21945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87367"/>
            <a:ext cx="5212080" cy="20116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Accès &amp; remise (compte pour des points)</a:t>
            </a:r>
          </a:p>
          <a:p>
            <a:pPr algn="l">
              <a:spcBef>
                <a:spcPts val="0"/>
              </a:spcBef>
              <a:spcAft>
                <a:spcPts val="300"/>
              </a:spcAft>
            </a:pPr>
            <a:r>
              <a:rPr sz="1300" b="0">
                <a:solidFill>
                  <a:srgbClr val="404040"/>
                </a:solidFill>
                <a:latin typeface="Calibri"/>
              </a:rPr>
              <a:t>•  Dépôt privé partagé</a:t>
            </a:r>
          </a:p>
          <a:p>
            <a:pPr algn="l">
              <a:spcBef>
                <a:spcPts val="0"/>
              </a:spcBef>
              <a:spcAft>
                <a:spcPts val="300"/>
              </a:spcAft>
            </a:pPr>
            <a:r>
              <a:rPr sz="1300" b="0">
                <a:solidFill>
                  <a:srgbClr val="404040"/>
                </a:solidFill>
                <a:latin typeface="Calibri"/>
              </a:rPr>
              <a:t>•  Professeure invitée comme collaboratrice (lecture)</a:t>
            </a:r>
          </a:p>
          <a:p>
            <a:pPr algn="l">
              <a:spcBef>
                <a:spcPts val="0"/>
              </a:spcBef>
              <a:spcAft>
                <a:spcPts val="300"/>
              </a:spcAft>
            </a:pPr>
            <a:r>
              <a:rPr sz="1300" b="0">
                <a:solidFill>
                  <a:srgbClr val="404040"/>
                </a:solidFill>
                <a:latin typeface="Calibri"/>
              </a:rPr>
              <a:t>•  Lien GitHub + lien docs/conception/ soumis sur eCité</a:t>
            </a:r>
          </a:p>
        </p:txBody>
      </p:sp>
      <p:sp>
        <p:nvSpPr>
          <p:cNvPr id="14" name="TextBox 13"/>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a:t>
            </a:r>
          </a:p>
        </p:txBody>
      </p:sp>
      <p:sp>
        <p:nvSpPr>
          <p:cNvPr id="15" name="TextBox 14"/>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8</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Travail réalisé, en cours et points à clarifier</a:t>
            </a:r>
          </a:p>
        </p:txBody>
      </p:sp>
      <p:sp>
        <p:nvSpPr>
          <p:cNvPr id="6" name="Rectangle 5"/>
          <p:cNvSpPr/>
          <p:nvPr/>
        </p:nvSpPr>
        <p:spPr>
          <a:xfrm>
            <a:off x="411480" y="1554480"/>
            <a:ext cx="365760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46177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3291840" cy="44348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  Terminé</a:t>
            </a:r>
          </a:p>
          <a:p>
            <a:pPr algn="l">
              <a:spcBef>
                <a:spcPts val="0"/>
              </a:spcBef>
              <a:spcAft>
                <a:spcPts val="300"/>
              </a:spcAft>
            </a:pPr>
            <a:r>
              <a:rPr sz="1300" b="0">
                <a:solidFill>
                  <a:srgbClr val="404040"/>
                </a:solidFill>
                <a:latin typeface="Calibri"/>
              </a:rPr>
              <a:t>•  Cahier des charges</a:t>
            </a:r>
          </a:p>
          <a:p>
            <a:pPr algn="l">
              <a:spcBef>
                <a:spcPts val="0"/>
              </a:spcBef>
              <a:spcAft>
                <a:spcPts val="300"/>
              </a:spcAft>
            </a:pPr>
            <a:r>
              <a:rPr sz="1300" b="0">
                <a:solidFill>
                  <a:srgbClr val="404040"/>
                </a:solidFill>
                <a:latin typeface="Calibri"/>
              </a:rPr>
              <a:t>•  7 diagrammes de cas d'utilisation</a:t>
            </a:r>
          </a:p>
          <a:p>
            <a:pPr algn="l">
              <a:spcBef>
                <a:spcPts val="0"/>
              </a:spcBef>
              <a:spcAft>
                <a:spcPts val="300"/>
              </a:spcAft>
            </a:pPr>
            <a:r>
              <a:rPr sz="1300" b="0">
                <a:solidFill>
                  <a:srgbClr val="404040"/>
                </a:solidFill>
                <a:latin typeface="Calibri"/>
              </a:rPr>
              <a:t>•  Diagramme de classes</a:t>
            </a:r>
          </a:p>
          <a:p>
            <a:pPr algn="l">
              <a:spcBef>
                <a:spcPts val="0"/>
              </a:spcBef>
              <a:spcAft>
                <a:spcPts val="300"/>
              </a:spcAft>
            </a:pPr>
            <a:r>
              <a:rPr sz="1300" b="0">
                <a:solidFill>
                  <a:srgbClr val="404040"/>
                </a:solidFill>
                <a:latin typeface="Calibri"/>
              </a:rPr>
              <a:t>•  Diagrammes de séquence</a:t>
            </a:r>
          </a:p>
          <a:p>
            <a:pPr algn="l">
              <a:spcBef>
                <a:spcPts val="0"/>
              </a:spcBef>
              <a:spcAft>
                <a:spcPts val="300"/>
              </a:spcAft>
            </a:pPr>
            <a:r>
              <a:rPr sz="1300" b="0">
                <a:solidFill>
                  <a:srgbClr val="404040"/>
                </a:solidFill>
                <a:latin typeface="Calibri"/>
              </a:rPr>
              <a:t>•  Diagramme entité-association (ERD)</a:t>
            </a:r>
          </a:p>
          <a:p>
            <a:pPr algn="l">
              <a:spcBef>
                <a:spcPts val="0"/>
              </a:spcBef>
              <a:spcAft>
                <a:spcPts val="300"/>
              </a:spcAft>
            </a:pPr>
            <a:r>
              <a:rPr sz="1300" b="0">
                <a:solidFill>
                  <a:srgbClr val="404040"/>
                </a:solidFill>
                <a:latin typeface="Calibri"/>
              </a:rPr>
              <a:t>•  Explications écrites</a:t>
            </a:r>
          </a:p>
          <a:p>
            <a:pPr algn="l">
              <a:spcBef>
                <a:spcPts val="0"/>
              </a:spcBef>
              <a:spcAft>
                <a:spcPts val="300"/>
              </a:spcAft>
            </a:pPr>
            <a:r>
              <a:rPr sz="1300" b="0">
                <a:solidFill>
                  <a:srgbClr val="404040"/>
                </a:solidFill>
                <a:latin typeface="Calibri"/>
              </a:rPr>
              <a:t>•  Mise en place Jira &amp; GitHub</a:t>
            </a:r>
          </a:p>
          <a:p>
            <a:pPr algn="l">
              <a:spcBef>
                <a:spcPts val="0"/>
              </a:spcBef>
              <a:spcAft>
                <a:spcPts val="300"/>
              </a:spcAft>
            </a:pPr>
            <a:r>
              <a:rPr sz="1300" b="0">
                <a:solidFill>
                  <a:srgbClr val="404040"/>
                </a:solidFill>
                <a:latin typeface="Calibri"/>
              </a:rPr>
              <a:t>•  Soumission eCité</a:t>
            </a:r>
          </a:p>
        </p:txBody>
      </p:sp>
      <p:sp>
        <p:nvSpPr>
          <p:cNvPr id="9" name="Rectangle 8"/>
          <p:cNvSpPr/>
          <p:nvPr/>
        </p:nvSpPr>
        <p:spPr>
          <a:xfrm>
            <a:off x="4251960" y="1554480"/>
            <a:ext cx="365760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54480"/>
            <a:ext cx="76200" cy="461772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64208"/>
            <a:ext cx="3291840" cy="443484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  En cours</a:t>
            </a:r>
          </a:p>
          <a:p>
            <a:pPr algn="l">
              <a:spcBef>
                <a:spcPts val="0"/>
              </a:spcBef>
              <a:spcAft>
                <a:spcPts val="300"/>
              </a:spcAft>
            </a:pPr>
            <a:r>
              <a:rPr sz="1300" b="0">
                <a:solidFill>
                  <a:srgbClr val="404040"/>
                </a:solidFill>
                <a:latin typeface="Calibri"/>
              </a:rPr>
              <a:t>•  Réintégration des diagrammes de</a:t>
            </a:r>
          </a:p>
          <a:p>
            <a:pPr algn="l">
              <a:spcBef>
                <a:spcPts val="0"/>
              </a:spcBef>
              <a:spcAft>
                <a:spcPts val="300"/>
              </a:spcAft>
            </a:pPr>
            <a:r>
              <a:rPr sz="1300" b="0">
                <a:solidFill>
                  <a:srgbClr val="404040"/>
                </a:solidFill>
                <a:latin typeface="Calibri"/>
              </a:rPr>
              <a:t>•     classes et de séquence dans</a:t>
            </a:r>
          </a:p>
          <a:p>
            <a:pPr algn="l">
              <a:spcBef>
                <a:spcPts val="0"/>
              </a:spcBef>
              <a:spcAft>
                <a:spcPts val="300"/>
              </a:spcAft>
            </a:pPr>
            <a:r>
              <a:rPr sz="1300" b="0">
                <a:solidFill>
                  <a:srgbClr val="404040"/>
                </a:solidFill>
                <a:latin typeface="Calibri"/>
              </a:rPr>
              <a:t>•     docs/conception/ (finalisés</a:t>
            </a:r>
          </a:p>
          <a:p>
            <a:pPr algn="l">
              <a:spcBef>
                <a:spcPts val="0"/>
              </a:spcBef>
              <a:spcAft>
                <a:spcPts val="300"/>
              </a:spcAft>
            </a:pPr>
            <a:r>
              <a:rPr sz="1300" b="0">
                <a:solidFill>
                  <a:srgbClr val="404040"/>
                </a:solidFill>
                <a:latin typeface="Calibri"/>
              </a:rPr>
              <a:t>•     dans un espace de travail</a:t>
            </a:r>
          </a:p>
          <a:p>
            <a:pPr algn="l">
              <a:spcBef>
                <a:spcPts val="0"/>
              </a:spcBef>
              <a:spcAft>
                <a:spcPts val="300"/>
              </a:spcAft>
            </a:pPr>
            <a:r>
              <a:rPr sz="1300" b="0">
                <a:solidFill>
                  <a:srgbClr val="404040"/>
                </a:solidFill>
                <a:latin typeface="Calibri"/>
              </a:rPr>
              <a:t>•     séparé)</a:t>
            </a:r>
          </a:p>
          <a:p>
            <a:pPr algn="l">
              <a:spcBef>
                <a:spcPts val="0"/>
              </a:spcBef>
              <a:spcAft>
                <a:spcPts val="300"/>
              </a:spcAft>
            </a:pPr>
            <a:r>
              <a:rPr sz="1300" b="0">
                <a:solidFill>
                  <a:srgbClr val="404040"/>
                </a:solidFill>
                <a:latin typeface="Calibri"/>
              </a:rPr>
              <a:t>•  Export PNG final de ces deux</a:t>
            </a:r>
          </a:p>
          <a:p>
            <a:pPr algn="l">
              <a:spcBef>
                <a:spcPts val="0"/>
              </a:spcBef>
              <a:spcAft>
                <a:spcPts val="300"/>
              </a:spcAft>
            </a:pPr>
            <a:r>
              <a:rPr sz="1300" b="0">
                <a:solidFill>
                  <a:srgbClr val="404040"/>
                </a:solidFill>
                <a:latin typeface="Calibri"/>
              </a:rPr>
              <a:t>•     diagrammes dans le dépôt</a:t>
            </a:r>
          </a:p>
        </p:txBody>
      </p:sp>
      <p:sp>
        <p:nvSpPr>
          <p:cNvPr id="12" name="Rectangle 11"/>
          <p:cNvSpPr/>
          <p:nvPr/>
        </p:nvSpPr>
        <p:spPr>
          <a:xfrm>
            <a:off x="8092440" y="1554480"/>
            <a:ext cx="3657600" cy="4617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54480"/>
            <a:ext cx="76200" cy="461772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64208"/>
            <a:ext cx="3291840" cy="4434840"/>
          </a:xfrm>
          <a:prstGeom prst="rect">
            <a:avLst/>
          </a:prstGeom>
          <a:noFill/>
        </p:spPr>
        <p:txBody>
          <a:bodyPr wrap="square">
            <a:spAutoFit/>
          </a:bodyPr>
          <a:lstStyle/>
          <a:p>
            <a:pPr algn="l">
              <a:spcBef>
                <a:spcPts val="0"/>
              </a:spcBef>
              <a:spcAft>
                <a:spcPts val="400"/>
              </a:spcAft>
            </a:pPr>
            <a:r>
              <a:rPr sz="1600" b="1">
                <a:solidFill>
                  <a:srgbClr val="404040"/>
                </a:solidFill>
                <a:latin typeface="Calibri"/>
              </a:rPr>
              <a:t>⚠  À clarifier / bloquant</a:t>
            </a:r>
          </a:p>
          <a:p>
            <a:pPr algn="l">
              <a:spcBef>
                <a:spcPts val="0"/>
              </a:spcBef>
              <a:spcAft>
                <a:spcPts val="300"/>
              </a:spcAft>
            </a:pPr>
            <a:r>
              <a:rPr sz="1300" b="0">
                <a:solidFill>
                  <a:srgbClr val="404040"/>
                </a:solidFill>
                <a:latin typeface="Calibri"/>
              </a:rPr>
              <a:t>•  Confirmer l'acceptation de</a:t>
            </a:r>
          </a:p>
          <a:p>
            <a:pPr algn="l">
              <a:spcBef>
                <a:spcPts val="0"/>
              </a:spcBef>
              <a:spcAft>
                <a:spcPts val="300"/>
              </a:spcAft>
            </a:pPr>
            <a:r>
              <a:rPr sz="1300" b="0">
                <a:solidFill>
                  <a:srgbClr val="404040"/>
                </a:solidFill>
                <a:latin typeface="Calibri"/>
              </a:rPr>
              <a:t>•     l'invitation GitHub par la</a:t>
            </a:r>
          </a:p>
          <a:p>
            <a:pPr algn="l">
              <a:spcBef>
                <a:spcPts val="0"/>
              </a:spcBef>
              <a:spcAft>
                <a:spcPts val="300"/>
              </a:spcAft>
            </a:pPr>
            <a:r>
              <a:rPr sz="1300" b="0">
                <a:solidFill>
                  <a:srgbClr val="404040"/>
                </a:solidFill>
                <a:latin typeface="Calibri"/>
              </a:rPr>
              <a:t>•     professeure</a:t>
            </a:r>
          </a:p>
          <a:p>
            <a:pPr algn="l">
              <a:spcBef>
                <a:spcPts val="0"/>
              </a:spcBef>
              <a:spcAft>
                <a:spcPts val="300"/>
              </a:spcAft>
            </a:pPr>
            <a:r>
              <a:rPr sz="1300" b="0">
                <a:solidFill>
                  <a:srgbClr val="404040"/>
                </a:solidFill>
                <a:latin typeface="Calibri"/>
              </a:rPr>
              <a:t>•  Valider les règles de délai</a:t>
            </a:r>
          </a:p>
          <a:p>
            <a:pPr algn="l">
              <a:spcBef>
                <a:spcPts val="0"/>
              </a:spcBef>
              <a:spcAft>
                <a:spcPts val="300"/>
              </a:spcAft>
            </a:pPr>
            <a:r>
              <a:rPr sz="1300" b="0">
                <a:solidFill>
                  <a:srgbClr val="404040"/>
                </a:solidFill>
                <a:latin typeface="Calibri"/>
              </a:rPr>
              <a:t>•     d'annulation (ex. 24 h)</a:t>
            </a:r>
          </a:p>
          <a:p>
            <a:pPr algn="l">
              <a:spcBef>
                <a:spcPts val="0"/>
              </a:spcBef>
              <a:spcAft>
                <a:spcPts val="300"/>
              </a:spcAft>
            </a:pPr>
            <a:r>
              <a:rPr sz="1300" b="0">
                <a:solidFill>
                  <a:srgbClr val="404040"/>
                </a:solidFill>
                <a:latin typeface="Calibri"/>
              </a:rPr>
              <a:t>•  Confirmer les sprints natifs</a:t>
            </a:r>
          </a:p>
          <a:p>
            <a:pPr algn="l">
              <a:spcBef>
                <a:spcPts val="0"/>
              </a:spcBef>
              <a:spcAft>
                <a:spcPts val="300"/>
              </a:spcAft>
            </a:pPr>
            <a:r>
              <a:rPr sz="1300" b="0">
                <a:solidFill>
                  <a:srgbClr val="404040"/>
                </a:solidFill>
                <a:latin typeface="Calibri"/>
              </a:rPr>
              <a:t>•     Jira (au-delà des labels)</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9</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Prochaines étapes</a:t>
            </a:r>
          </a:p>
          <a:p>
            <a:pPr algn="l">
              <a:spcBef>
                <a:spcPts val="0"/>
              </a:spcBef>
              <a:spcAft>
                <a:spcPts val="0"/>
              </a:spcAft>
            </a:pPr>
            <a:r>
              <a:rPr sz="1400" b="0">
                <a:solidFill>
                  <a:srgbClr val="CFE3FF"/>
                </a:solidFill>
                <a:latin typeface="Calibri"/>
              </a:rPr>
              <a:t>Priorités pour la suite</a:t>
            </a:r>
          </a:p>
        </p:txBody>
      </p:sp>
      <p:sp>
        <p:nvSpPr>
          <p:cNvPr id="6" name="Rectangle 5"/>
          <p:cNvSpPr/>
          <p:nvPr/>
        </p:nvSpPr>
        <p:spPr>
          <a:xfrm>
            <a:off x="411480" y="155448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21945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5212080" cy="20116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Finir de boucler le Sprint 1</a:t>
            </a:r>
          </a:p>
          <a:p>
            <a:pPr algn="l">
              <a:spcBef>
                <a:spcPts val="0"/>
              </a:spcBef>
              <a:spcAft>
                <a:spcPts val="300"/>
              </a:spcAft>
            </a:pPr>
            <a:r>
              <a:rPr sz="1300" b="0">
                <a:solidFill>
                  <a:srgbClr val="404040"/>
                </a:solidFill>
                <a:latin typeface="Calibri"/>
              </a:rPr>
              <a:t>•  Réintégrer classes &amp; séquence dans le dépôt</a:t>
            </a:r>
          </a:p>
          <a:p>
            <a:pPr algn="l">
              <a:spcBef>
                <a:spcPts val="0"/>
              </a:spcBef>
              <a:spcAft>
                <a:spcPts val="300"/>
              </a:spcAft>
            </a:pPr>
            <a:r>
              <a:rPr sz="1300" b="0">
                <a:solidFill>
                  <a:srgbClr val="404040"/>
                </a:solidFill>
                <a:latin typeface="Calibri"/>
              </a:rPr>
              <a:t>•  Vérifier l'accès de la professeure</a:t>
            </a:r>
          </a:p>
          <a:p>
            <a:pPr algn="l">
              <a:spcBef>
                <a:spcPts val="0"/>
              </a:spcBef>
              <a:spcAft>
                <a:spcPts val="300"/>
              </a:spcAft>
            </a:pPr>
            <a:r>
              <a:rPr sz="1300" b="0">
                <a:solidFill>
                  <a:srgbClr val="404040"/>
                </a:solidFill>
                <a:latin typeface="Calibri"/>
              </a:rPr>
              <a:t>•  Passer les derniers tickets en « Terminé »</a:t>
            </a:r>
          </a:p>
        </p:txBody>
      </p:sp>
      <p:sp>
        <p:nvSpPr>
          <p:cNvPr id="9" name="Rectangle 8"/>
          <p:cNvSpPr/>
          <p:nvPr/>
        </p:nvSpPr>
        <p:spPr>
          <a:xfrm>
            <a:off x="6172200" y="1554480"/>
            <a:ext cx="5577840" cy="21945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76200" cy="21945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5212080" cy="20116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Démarrer le Sprint 2 — Fondations</a:t>
            </a:r>
          </a:p>
          <a:p>
            <a:pPr algn="l">
              <a:spcBef>
                <a:spcPts val="0"/>
              </a:spcBef>
              <a:spcAft>
                <a:spcPts val="300"/>
              </a:spcAft>
            </a:pPr>
            <a:r>
              <a:rPr sz="1300" b="0">
                <a:solidFill>
                  <a:srgbClr val="404040"/>
                </a:solidFill>
                <a:latin typeface="Calibri"/>
              </a:rPr>
              <a:t>•  Squelettes Angular + NestJS</a:t>
            </a:r>
          </a:p>
          <a:p>
            <a:pPr algn="l">
              <a:spcBef>
                <a:spcPts val="0"/>
              </a:spcBef>
              <a:spcAft>
                <a:spcPts val="300"/>
              </a:spcAft>
            </a:pPr>
            <a:r>
              <a:rPr sz="1300" b="0">
                <a:solidFill>
                  <a:srgbClr val="404040"/>
                </a:solidFill>
                <a:latin typeface="Calibri"/>
              </a:rPr>
              <a:t>•  Conteneurisation Docker Compose</a:t>
            </a:r>
          </a:p>
          <a:p>
            <a:pPr algn="l">
              <a:spcBef>
                <a:spcPts val="0"/>
              </a:spcBef>
              <a:spcAft>
                <a:spcPts val="300"/>
              </a:spcAft>
            </a:pPr>
            <a:r>
              <a:rPr sz="1300" b="0">
                <a:solidFill>
                  <a:srgbClr val="404040"/>
                </a:solidFill>
                <a:latin typeface="Calibri"/>
              </a:rPr>
              <a:t>•  Authentification JWT + contrôle d'accès RBAC</a:t>
            </a:r>
          </a:p>
        </p:txBody>
      </p:sp>
      <p:sp>
        <p:nvSpPr>
          <p:cNvPr id="12" name="Rectangle 11"/>
          <p:cNvSpPr/>
          <p:nvPr/>
        </p:nvSpPr>
        <p:spPr>
          <a:xfrm>
            <a:off x="411480" y="3886200"/>
            <a:ext cx="1133856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3886200"/>
            <a:ext cx="76200" cy="22860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995928"/>
            <a:ext cx="10972800" cy="210312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Ajustements &amp; priorités</a:t>
            </a:r>
          </a:p>
          <a:p>
            <a:pPr algn="l">
              <a:spcBef>
                <a:spcPts val="0"/>
              </a:spcBef>
              <a:spcAft>
                <a:spcPts val="300"/>
              </a:spcAft>
            </a:pPr>
            <a:r>
              <a:rPr sz="1300" b="0">
                <a:solidFill>
                  <a:srgbClr val="404040"/>
                </a:solidFill>
                <a:latin typeface="Calibri"/>
              </a:rPr>
              <a:t>•  Prototyper tôt la gestion des disponibilités (risque technique identifié)</a:t>
            </a:r>
          </a:p>
          <a:p>
            <a:pPr algn="l">
              <a:spcBef>
                <a:spcPts val="0"/>
              </a:spcBef>
              <a:spcAft>
                <a:spcPts val="300"/>
              </a:spcAft>
            </a:pPr>
            <a:r>
              <a:rPr sz="1300" b="0">
                <a:solidFill>
                  <a:srgbClr val="404040"/>
                </a:solidFill>
                <a:latin typeface="Calibri"/>
              </a:rPr>
              <a:t>•  Garder Jira à jour en continu : statuts, responsables, progression réelle</a:t>
            </a:r>
          </a:p>
          <a:p>
            <a:pPr algn="l">
              <a:spcBef>
                <a:spcPts val="0"/>
              </a:spcBef>
              <a:spcAft>
                <a:spcPts val="300"/>
              </a:spcAft>
            </a:pPr>
            <a:r>
              <a:rPr sz="1300" b="0">
                <a:solidFill>
                  <a:srgbClr val="404040"/>
                </a:solidFill>
                <a:latin typeface="Calibri"/>
              </a:rPr>
              <a:t>•  Maintenir la relecture croisée en binôme pour la qualité des livrables</a:t>
            </a:r>
          </a:p>
          <a:p>
            <a:pPr algn="l">
              <a:spcBef>
                <a:spcPts val="0"/>
              </a:spcBef>
              <a:spcAft>
                <a:spcPts val="300"/>
              </a:spcAft>
            </a:pPr>
            <a:r>
              <a:rPr sz="1300" b="0">
                <a:solidFill>
                  <a:srgbClr val="404040"/>
                </a:solidFill>
                <a:latin typeface="Calibri"/>
              </a:rPr>
              <a:t>•  Priorité n° 1 du projet : le cœur métier de réservation (anti-double-réservation)</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30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320040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280160"/>
          </a:xfrm>
          <a:prstGeom prst="rect">
            <a:avLst/>
          </a:prstGeom>
          <a:noFill/>
        </p:spPr>
        <p:txBody>
          <a:bodyPr wrap="square">
            <a:spAutoFit/>
          </a:bodyPr>
          <a:lstStyle/>
          <a:p>
            <a:pPr algn="ctr">
              <a:spcBef>
                <a:spcPts val="0"/>
              </a:spcBef>
              <a:spcAft>
                <a:spcPts val="0"/>
              </a:spcAft>
            </a:pPr>
            <a:r>
              <a:rPr sz="4000" b="1">
                <a:solidFill>
                  <a:srgbClr val="FFFFFF"/>
                </a:solidFill>
                <a:latin typeface="Calibri"/>
              </a:rPr>
              <a:t>Merci de votre attention</a:t>
            </a:r>
          </a:p>
        </p:txBody>
      </p:sp>
      <p:sp>
        <p:nvSpPr>
          <p:cNvPr id="4" name="TextBox 3"/>
          <p:cNvSpPr txBox="1"/>
          <p:nvPr/>
        </p:nvSpPr>
        <p:spPr>
          <a:xfrm>
            <a:off x="914400" y="3474720"/>
            <a:ext cx="10332720" cy="1463040"/>
          </a:xfrm>
          <a:prstGeom prst="rect">
            <a:avLst/>
          </a:prstGeom>
          <a:noFill/>
        </p:spPr>
        <p:txBody>
          <a:bodyPr wrap="square">
            <a:spAutoFit/>
          </a:bodyPr>
          <a:lstStyle/>
          <a:p>
            <a:pPr algn="ctr">
              <a:spcBef>
                <a:spcPts val="0"/>
              </a:spcBef>
              <a:spcAft>
                <a:spcPts val="0"/>
              </a:spcAft>
            </a:pPr>
            <a:r>
              <a:rPr sz="2800" b="1">
                <a:solidFill>
                  <a:srgbClr val="CFE3FF"/>
                </a:solidFill>
                <a:latin typeface="Calibri"/>
              </a:rPr>
              <a:t>Questions ?</a:t>
            </a:r>
          </a:p>
          <a:p>
            <a:pPr algn="ctr">
              <a:spcBef>
                <a:spcPts val="0"/>
              </a:spcBef>
              <a:spcAft>
                <a:spcPts val="1400"/>
              </a:spcAft>
            </a:pPr>
            <a:r>
              <a:rPr sz="1600" b="0">
                <a:solidFill>
                  <a:srgbClr val="9FC8F5"/>
                </a:solidFill>
                <a:latin typeface="Calibri"/>
              </a:rPr>
              <a:t>Équipe MediPlan — Souleymane DIALLO  ·  Zakaria Lahouiri  ·  Larbi Saib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