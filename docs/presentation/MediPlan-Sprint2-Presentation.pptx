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20 s</a:t>
            </a:r>
          </a:p>
          <a:p/>
          <a:p>
            <a:r>
              <a:t>ACCROCHE (à dire telle quelle) :</a:t>
            </a:r>
          </a:p>
          <a:p>
            <a:r>
              <a:t>« Dans une clinique, quand deux personnes décrochent le téléphone en même temps, il arrive que le même créneau soit vendu deux fois. C'est un agenda papier, une rature, un patient qui se déplace pour rien. »</a:t>
            </a:r>
          </a:p>
          <a:p/>
          <a:p>
            <a:r>
              <a:t>[ MARQUER UN TEMPS — 1 seconde ]</a:t>
            </a:r>
          </a:p>
          <a:p/>
          <a:p>
            <a:r>
              <a:t>« Le Sprint 2, c'est le sprint où ça devient impossible dans MediPlan. Bonjour, nous sommes l'équipe MediPlan : Souleymane, Zakaria, Larbi. En dix minutes, nous allons vous montrer ce que nous avons développé, testé et intégré. »</a:t>
            </a:r>
          </a:p>
          <a:p/>
          <a:p>
            <a:r>
              <a:t>→ TRANSITION : « D'abord, un rappel rapide du projet. »</a:t>
            </a:r>
          </a:p>
          <a:p/>
          <a:p>
            <a:r>
              <a:t>RAPPEL : on ouvre sur le problème métier, pas sur la technologie.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 30</a:t>
            </a:r>
          </a:p>
          <a:p/>
          <a:p>
            <a:r>
              <a:t>« Le problème : la prise de rendez-vous se fait au téléphone, à la main. Agendas papier, doubles réservations, oublis. Et la réception n'a aucune vue claire de sa journée. »</a:t>
            </a:r>
          </a:p>
          <a:p/>
          <a:p>
            <a:r>
              <a:t>« Notre solution, c'est une application web où la réception gère les rendez-vous à la place des patients. Et c'est notre choix le plus structurant : notre utilisateur principal n'est pas le patient — c'est la réception. Le patient appelle, il ne s'inscrit pas en ligne. »</a:t>
            </a:r>
          </a:p>
          <a:p/>
          <a:p>
            <a:r>
              <a:t>« Quatre profils : la réception, qui fait tout ; le médecin, qui consulte sa journée ; le patient dit léger, créé au comptoir sans compte ni mot de passe ; et un super-administrateur. Le tout en Angular, NestJS, PostgreSQL, dans Docker. »</a:t>
            </a:r>
          </a:p>
          <a:p/>
          <a:p>
            <a:r>
              <a:t>ATTENTION : ne pas détailler la stack — Zakaria y revient à la diapo 4.</a:t>
            </a:r>
          </a:p>
          <a:p/>
          <a:p>
            <a:r>
              <a:t>→ TRANSITION : « Voilà le projet. Maintenant, qu'est-ce qu'on s'était engagé à livrer sur ce sprint ?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 — C'EST ICI QU'ON POSE LA PHRASE DU JOUR. DIRE LENTEMENT.</a:t>
            </a:r>
          </a:p>
          <a:p/>
          <a:p>
            <a:r>
              <a:t>« Notre objectif tenait en une phrase : une réception se connecte de façon sécurisée, définit les disponibilités des médecins, et réserve un rendez-vous pour un patient — sans jamais créer de double réservation. »</a:t>
            </a:r>
          </a:p>
          <a:p/>
          <a:p>
            <a:r>
              <a:t>[ TEMPS ]</a:t>
            </a:r>
          </a:p>
          <a:p/>
          <a:p>
            <a:r>
              <a:t>« Au Sprint 1, on savait ouvrir une session. Au Sprint 2, la réception fait tourner une vraie journée de clinique : elle ouvre l'agenda, elle réserve, elle suit le flux, elle annule. De bout en bout. »</a:t>
            </a:r>
          </a:p>
          <a:p/>
          <a:p>
            <a:r>
              <a:t>« Pourquoi ce périmètre-là ? Parce que c'est la tranche verticale la plus utile : de la connexion jusqu'à un vrai rendez-vous dans l'agenda. Nous avons volontairement écarté le libre-service patient. Un sprint qui livre un parcours complet vaut mieux que trois demi-fonctionnalités. »</a:t>
            </a:r>
          </a:p>
          <a:p/>
          <a:p>
            <a:r>
              <a:t>→ TRANSITION : « Zakaria va vous expliquer comment tout ça est construit. » — ET SE TOURNER VERS LUI.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1 min 30</a:t>
            </a:r>
          </a:p>
          <a:p/>
          <a:p>
            <a:r>
              <a:t>« Trois parties dans un seul dépôt : un frontend Angular, un backend NestJS, une base PostgreSQL. »</a:t>
            </a:r>
          </a:p>
          <a:p/>
          <a:p>
            <a:r>
              <a:t>« Suivons une réservation, de bout en bout. Un : le navigateur envoie la requête au backend, avec le jeton d'authentification dans l'en-tête. Deux : NestJS vérifie le jeton, vérifie le rôle de l'utilisateur, valide les données reçues, puis applique la règle métier. Trois : on écrit en base dans une transaction — et c'est là que se joue le cœur du sprint : un index unique garantit qu'un créneau ne peut être pris qu'une seule fois. Quatre : la réponse remonte, et l'écran se met à jour tout seul. »</a:t>
            </a:r>
          </a:p>
          <a:p/>
          <a:p>
            <a:r>
              <a:t>LE GESTE : suivre les trois blocs avec la main, de gauche à droite. On doit VOIR le flux.</a:t>
            </a:r>
          </a:p>
          <a:p/>
          <a:p>
            <a:r>
              <a:t>→ TRANSITION : « Regardons maintenant chaque couche de plus près.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1 min 30 — NE PAS LIRE LES PUCES. TROIS PHRASES PAR CARTE.</a:t>
            </a:r>
          </a:p>
          <a:p/>
          <a:p>
            <a:r>
              <a:t>BASE : « Un schéma issu directement de notre modèle de conception, avec des migrations versionnées — donc reproductible sur une machine neuve. La pièce maîtresse, c'est un index unique partiel sur le créneau : les rendez-vous annulés en sont exclus, donc un créneau annulé redevient réservable. Et le patient léger est un utilisateur sans mot de passe : il ne peut pas se connecter, par construction. »</a:t>
            </a:r>
          </a:p>
          <a:p/>
          <a:p>
            <a:r>
              <a:t>BACKEND : « Une API REST en modules — authentification, utilisateurs, disponibilités, rendez-vous. Jeton JWT, mots de passe hachés avec bcrypt, verrouillage du compte après cinq échecs, et un contrôle d'accès par rôle sur chaque route. Toutes les entrées sont validées avant d'atteindre la logique métier. »</a:t>
            </a:r>
          </a:p>
          <a:p/>
          <a:p>
            <a:r>
              <a:t>FRONTEND : « Des composants autonomes, un état réactif, et surtout un design system unique — une seule source de couleurs et de typographie. C'est ce qui fait qu'on a un mode sombre complet sans avoir retouché un seul écran à la main. »</a:t>
            </a:r>
          </a:p>
          <a:p/>
          <a:p>
            <a:r>
              <a:t>→ TRANSITION : « Assez de théorie — Larbi va vous le montrer en vrai.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2 min — RÈGLE D'OR : PARLER PENDANT QU'ON CLIQUE, JAMAIS APRÈS.</a:t>
            </a:r>
          </a:p>
          <a:p/>
          <a:p>
            <a:r>
              <a:t>1. Connexion réception : « Je me connecte comme la réception. Regardez l'en-tête : Alice Tremblay, son nom — pas son e-mail. Le profil vient du serveur. »</a:t>
            </a:r>
          </a:p>
          <a:p/>
          <a:p>
            <a:r>
              <a:t>2. Tableau de bord : « Le compteur rendez-vous du jour est un vrai chiffre, calculé en base. »</a:t>
            </a:r>
          </a:p>
          <a:p/>
          <a:p>
            <a:r>
              <a:t>3. Disponibilités, créer une plage, puis Voir les créneaux : « Je saisis une plage datée et une durée de créneau. Le système génère seul les créneaux réservables. Je ne les ai pas créés un par un. »</a:t>
            </a:r>
          </a:p>
          <a:p/>
          <a:p>
            <a:r>
              <a:t>4. RÉSERVER — LE SOMMET, RALENTIR ICI : « Le patient appelle. Je le crée au comptoir — pas de compte, pas de mot de passe. Je choisis un créneau libre, un motif, je réserve… » [TEMPS] « …et il est immédiatement dans la journée. C'est le geste réel d'une réceptionniste. »</a:t>
            </a:r>
          </a:p>
          <a:p/>
          <a:p>
            <a:r>
              <a:t>5. Arrivé, Consultation, Terminé : « Et voilà le cycle d'une consultation, tel qu'il se vit au comptoir. »</a:t>
            </a:r>
          </a:p>
          <a:p/>
          <a:p>
            <a:r>
              <a:t>6. Annuler avec motif : « J'annule, avec un motif obligatoire. Le créneau se libère et redevient réservable. »</a:t>
            </a:r>
          </a:p>
          <a:p/>
          <a:p>
            <a:r>
              <a:t>7. Déconnexion puis connexion médecin : « Même application, autre rôle. Regardez le menu : Utilisateurs a disparu. Le contrôle d'accès se voit à l'écran. »</a:t>
            </a:r>
          </a:p>
          <a:p/>
          <a:p>
            <a:r>
              <a:t>8. Mode sombre : « Et le thème sombre, en un clic, sur toute l'application. »</a:t>
            </a:r>
          </a:p>
          <a:p/>
          <a:p>
            <a:r>
              <a:t>PRATIQUE : naviguer par le menu de gauche, éviter les rechargements de page.</a:t>
            </a:r>
          </a:p>
          <a:p>
            <a:r>
              <a:t>SI ÇA PLANTE : « Le temps que ça revienne, je vous explique ce qui se passe derrière. » — ne jamais déboguer en direct.</a:t>
            </a:r>
          </a:p>
          <a:p/>
          <a:p>
            <a:r>
              <a:t>→ TRANSITION : « Ça, c'est ce que vous voyez. Voyons ce qu'on a vérifié.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LARBI — 1 min 30</a:t>
            </a:r>
          </a:p>
          <a:p/>
          <a:p>
            <a:r>
              <a:t>« 171 tests automatisés, tous verts : 48 sur le backend, 123 sur le frontend, zéro en échec. »</a:t>
            </a:r>
          </a:p>
          <a:p/>
          <a:p>
            <a:r>
              <a:t>« Le test dont nous sommes le plus fiers : la réservation en concurrence. Deux réservations lancées sur le même créneau au même instant — une passe, l'autre est refusée. »</a:t>
            </a:r>
          </a:p>
          <a:p/>
          <a:p>
            <a:r>
              <a:t>« Et nous avons trouvé de vrais bogues, que nous avons corrigés : une erreur 500 causée par un verrou SQL mal placé ; un sélecteur de médecin qui ne s'ouvrait pas parce que l'étiquette captait le clic ; des rendez-vous du jour vides à cause d'un problème de fuseau horaire. Tous corrigés. »</a:t>
            </a:r>
          </a:p>
          <a:p/>
          <a:p>
            <a:r>
              <a:t>POURQUOI CITER LES BOGUES : une équipe qui nomme ses bogues prouve qu'elle a réellement testé. Une équipe qui n'en cite aucun n'a testé que le chemin heureux.</a:t>
            </a:r>
          </a:p>
          <a:p/>
          <a:p>
            <a:r>
              <a:t>→ TRANSITION : « Souleymane va vous parler de ce qui a été le plus dur.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 30 — VOTRE MOMENT. RALENTIR, REGARDER LA SALLE, NE PAS S'EXCUSER.</a:t>
            </a:r>
          </a:p>
          <a:p/>
          <a:p>
            <a:r>
              <a:t>« Notre difficulté la plus sérieuse n'a pas été technique. Elle a été d'organisation. »</a:t>
            </a:r>
          </a:p>
          <a:p/>
          <a:p>
            <a:r>
              <a:t>[ TEMPS ]</a:t>
            </a:r>
          </a:p>
          <a:p/>
          <a:p>
            <a:r>
              <a:t>« Au début du sprint, nous avons travaillé chacun sur notre branche, et nous ne les avons pas fusionnées assez tôt. Résultat : deux migrations sur le même horodatage, et un module de rendez-vous écrit deux fois par deux personnes différentes, sans qu'on le sache. Nous avons perdu une journée entière à réintégrer au lieu de développer. »</a:t>
            </a:r>
          </a:p>
          <a:p/>
          <a:p>
            <a:r>
              <a:t>« Nous en avons tiré six règles, que nous appliquons depuis : le code qui touche la base passe en premier ; aucune branche ne vit plus de trois jours sans être proposée à la fusion ; un seul module par ticket ; on ne fusionne que si les tests passent ; un point d'intégration à mi-sprint. Et surtout, notre définition de terminé a changé : terminé, ça ne veut plus dire codé sur ma machine, ça veut dire fusionné dans la branche commune. »</a:t>
            </a:r>
          </a:p>
          <a:p/>
          <a:p>
            <a:r>
              <a:t>« Côté technique, la vraie question était : comment empêcher deux réceptions de réserver le même créneau au même instant ? Notre réponse, c'est de ne pas laisser notre code arbitrer. C'est PostgreSQL qui tranche la course, avec un index unique et une transaction. Vérifié par un test de concurrence. »</a:t>
            </a:r>
          </a:p>
          <a:p/>
          <a:p>
            <a:r>
              <a:t>→ TRANSITION : « Voyons maintenant où ça nous mène dans Jira.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 min — NOMMER CHAQUE PERSONNE À VOIX HAUTE (exigence de la consigne).</a:t>
            </a:r>
          </a:p>
          <a:p/>
          <a:p>
            <a:r>
              <a:t>« 18 tickets terminés sur 21, environ 86 % du sprint. »</a:t>
            </a:r>
          </a:p>
          <a:p/>
          <a:p>
            <a:r>
              <a:t>« La répartition : j'ai porté l'authentification, la réservation avec l'anti-double-réservation, la mise en place du monorepo et de Docker, et l'intégration. Zakaria a fait les disponibilités des médecins et le flux clinique du jour. Larbi a modélisé le patient léger, la réservation par la réception et le socle technique des rendez-vous. Le frontend d'authentification et la refonte de l'interface, c'est un effort partagé. »</a:t>
            </a:r>
          </a:p>
          <a:p/>
          <a:p>
            <a:r>
              <a:t>« Trois tickets passent au Sprint 3 : la gestion des médecins par l'administrateur, une précision de documentation, et les variables d'environnement. Aucun n'est bloquant, et nous les assumons comme tels. Et nous avons même livré l'annulation en avance sur le planning. »</a:t>
            </a:r>
          </a:p>
          <a:p/>
          <a:p>
            <a:r>
              <a:t>→ TRANSITION : « Zakaria, pour la suite.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 1 min</a:t>
            </a:r>
          </a:p>
          <a:p/>
          <a:p>
            <a:r>
              <a:t>« Le Sprint 3 porte sur le cycle de vie complet du rendez-vous : l'annulation, déjà livrée, à valider officiellement ; les notifications internes, en cours ; les statistiques réelles du tableau de bord ; et un renforcement de la sécurité des rendez-vous. »</a:t>
            </a:r>
          </a:p>
          <a:p/>
          <a:p>
            <a:r>
              <a:t>« En un mot : le Sprint 2 livre une tranche complète, de la connexion au suivi de la journée. Le Sprint 3 ajoute le cycle de vie et durcit la sécurité. »</a:t>
            </a:r>
          </a:p>
          <a:p/>
          <a:p>
            <a:r>
              <a:t>PRÉCISION SI ON DEMANDE : le compteur des rendez-vous du jour est déjà réel ; ce sont les statistiques complètes qui viennent au Sprint 3.</a:t>
            </a:r>
          </a:p>
          <a:p/>
          <a:p>
            <a:r>
              <a:t>NE PAS PROMETTRE le décalage en bloc (24) : le code existe sur une branche, il n'est pas intégré.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SOULEYMANE — 15 s — REPRENDRE L'ACCROCHE DU DÉBUT. C'est ce qui donne une présentation construite plutôt que trois exposés.</a:t>
            </a:r>
          </a:p>
          <a:p/>
          <a:p>
            <a:r>
              <a:t>« On a commencé par un créneau vendu deux fois. Aujourd'hui, dans MediPlan, c'est la base de données elle-même qui l'empêche. La réception se connecte, ouvre son agenda, réserve, suit sa journée, annule — de bout en bout, avec 171 tests derrière. Merci. Nous répondons à vos questions, chacun sur sa partie. »</a:t>
            </a:r>
          </a:p>
          <a:p/>
          <a:p>
            <a:r>
              <a:t>RÈGLE : répondre court, puis SE TAIRE. Une réponse qui s'étire donne l'impression qu'on cherche.</a:t>
            </a:r>
          </a:p>
          <a:p/>
          <a:p>
            <a:r>
              <a:t>— Pourquoi le patient ne réserve pas lui-même ? (Souleymane) « Choix métier assumé : l'utilisateur réel est la réception, le patient appelle. Le libre-service viendra quand le cœur sera solide. »</a:t>
            </a:r>
          </a:p>
          <a:p>
            <a:r>
              <a:t>— Comment évitez-vous les doubles réservations ? (Souleymane) « Un index unique partiel en base, plus une transaction avec verrou. Ce n'est pas notre code qui arbitre, c'est PostgreSQL. Testé en concurrence. »</a:t>
            </a:r>
          </a:p>
          <a:p>
            <a:r>
              <a:t>— Les données de santé sont-elles protégées ? (Souleymane) « Quatre rôles, cloisonnement par clinique, mots de passe hachés bcrypt, verrouillage après cinq échecs, et un patient léger qui ne peut pas se connecter par construction. »</a:t>
            </a:r>
          </a:p>
          <a:p>
            <a:r>
              <a:t>— Qu'est-ce qui n'est pas fini ? (Souleymane) « Trois tickets non bloquants transférés au Sprint 3 : gestion des médecins, une précision de doc, les secrets d'environnement. »</a:t>
            </a:r>
          </a:p>
          <a:p>
            <a:r>
              <a:t>— Comment testez-vous le frontend ? (Larbi) « Composants, services HTTP, guards de rôle et intercepteurs — 123 tests — plus une vérification manuelle bout-en-bout. »</a:t>
            </a:r>
          </a:p>
          <a:p>
            <a:r>
              <a:t>— Pourquoi Angular / NestJS ? (Zakaria) « Un seul langage, TypeScript, du navigateur à la base. Une équipe de trois, une seule courbe d'apprentissage. »</a:t>
            </a:r>
          </a:p>
          <a:p>
            <a:r>
              <a:t>— Et le décalage en bloc ? (Souleymane) « Le code existe sur une branche, il n'est pas intégré. Donc pour nous il n'est pas terminé — c'est le Sprint 3. »</a:t>
            </a:r>
          </a:p>
          <a:p>
            <a:r>
              <a:t>— Qui a fait quoi ? Chacun reprend SA ligne de la diapo Jira.</a:t>
            </a:r>
          </a:p>
          <a:p/>
          <a:p>
            <a:r>
              <a:t>SI ON NE SAIT PAS : « Je ne veux pas vous répondre de mémoire — c'est un point que je vérifie et je vous reviens dessus. » Jamais de bluff.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78892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1280160"/>
          </a:xfrm>
          <a:prstGeom prst="rect">
            <a:avLst/>
          </a:prstGeom>
          <a:noFill/>
        </p:spPr>
        <p:txBody>
          <a:bodyPr wrap="square">
            <a:spAutoFit/>
          </a:bodyPr>
          <a:lstStyle/>
          <a:p>
            <a:pPr algn="ctr">
              <a:spcBef>
                <a:spcPts val="0"/>
              </a:spcBef>
              <a:spcAft>
                <a:spcPts val="0"/>
              </a:spcAft>
            </a:pPr>
            <a:r>
              <a:rPr sz="5800" b="1">
                <a:solidFill>
                  <a:srgbClr val="FFFFFF"/>
                </a:solidFill>
                <a:latin typeface="Calibri"/>
              </a:rPr>
              <a:t>MediPlan</a:t>
            </a:r>
          </a:p>
        </p:txBody>
      </p:sp>
      <p:sp>
        <p:nvSpPr>
          <p:cNvPr id="4" name="TextBox 3"/>
          <p:cNvSpPr txBox="1"/>
          <p:nvPr/>
        </p:nvSpPr>
        <p:spPr>
          <a:xfrm>
            <a:off x="914400" y="2011680"/>
            <a:ext cx="10332720" cy="640080"/>
          </a:xfrm>
          <a:prstGeom prst="rect">
            <a:avLst/>
          </a:prstGeom>
          <a:noFill/>
        </p:spPr>
        <p:txBody>
          <a:bodyPr wrap="square">
            <a:spAutoFit/>
          </a:bodyPr>
          <a:lstStyle/>
          <a:p>
            <a:pPr algn="ctr">
              <a:spcBef>
                <a:spcPts val="0"/>
              </a:spcBef>
              <a:spcAft>
                <a:spcPts val="0"/>
              </a:spcAft>
            </a:pPr>
            <a:r>
              <a:rPr sz="2200" b="0">
                <a:solidFill>
                  <a:srgbClr val="CFE3FF"/>
                </a:solidFill>
                <a:latin typeface="Calibri"/>
              </a:rPr>
              <a:t>Plateforme web de gestion des rendez-vous médicaux</a:t>
            </a:r>
          </a:p>
        </p:txBody>
      </p:sp>
      <p:sp>
        <p:nvSpPr>
          <p:cNvPr id="5" name="TextBox 4"/>
          <p:cNvSpPr txBox="1"/>
          <p:nvPr/>
        </p:nvSpPr>
        <p:spPr>
          <a:xfrm>
            <a:off x="914400" y="2971800"/>
            <a:ext cx="10332720" cy="1280160"/>
          </a:xfrm>
          <a:prstGeom prst="rect">
            <a:avLst/>
          </a:prstGeom>
          <a:noFill/>
        </p:spPr>
        <p:txBody>
          <a:bodyPr wrap="square">
            <a:spAutoFit/>
          </a:bodyPr>
          <a:lstStyle/>
          <a:p>
            <a:pPr algn="ctr">
              <a:spcBef>
                <a:spcPts val="0"/>
              </a:spcBef>
              <a:spcAft>
                <a:spcPts val="800"/>
              </a:spcAft>
            </a:pPr>
            <a:r>
              <a:rPr sz="2800" b="1">
                <a:solidFill>
                  <a:srgbClr val="FFFFFF"/>
                </a:solidFill>
                <a:latin typeface="Calibri"/>
              </a:rPr>
              <a:t>Présentation du Sprint 2</a:t>
            </a:r>
          </a:p>
          <a:p>
            <a:pPr algn="ctr">
              <a:spcBef>
                <a:spcPts val="0"/>
              </a:spcBef>
              <a:spcAft>
                <a:spcPts val="0"/>
              </a:spcAft>
            </a:pPr>
            <a:r>
              <a:rPr sz="1800" b="0">
                <a:solidFill>
                  <a:srgbClr val="9FC8F5"/>
                </a:solidFill>
                <a:latin typeface="Calibri"/>
              </a:rPr>
              <a:t>Revue de réalisation — ce qui a été développé, testé et intégré</a:t>
            </a:r>
          </a:p>
        </p:txBody>
      </p:sp>
      <p:sp>
        <p:nvSpPr>
          <p:cNvPr id="6" name="TextBox 5"/>
          <p:cNvSpPr txBox="1"/>
          <p:nvPr/>
        </p:nvSpPr>
        <p:spPr>
          <a:xfrm>
            <a:off x="914400" y="4846320"/>
            <a:ext cx="10332720" cy="1371600"/>
          </a:xfrm>
          <a:prstGeom prst="rect">
            <a:avLst/>
          </a:prstGeom>
          <a:noFill/>
        </p:spPr>
        <p:txBody>
          <a:bodyPr wrap="square">
            <a:spAutoFit/>
          </a:bodyPr>
          <a:lstStyle/>
          <a:p>
            <a:pPr algn="ctr">
              <a:spcBef>
                <a:spcPts val="0"/>
              </a:spcBef>
              <a:spcAft>
                <a:spcPts val="400"/>
              </a:spcAft>
            </a:pPr>
            <a:r>
              <a:rPr sz="1800" b="0">
                <a:solidFill>
                  <a:srgbClr val="FFFFFF"/>
                </a:solidFill>
                <a:latin typeface="Calibri"/>
              </a:rPr>
              <a:t>Équipe : Souleymane DIALLO  ·  Zakaria Lahouiri  ·  Larbi Saib</a:t>
            </a:r>
          </a:p>
          <a:p>
            <a:pPr algn="ctr">
              <a:spcBef>
                <a:spcPts val="0"/>
              </a:spcBef>
              <a:spcAft>
                <a:spcPts val="200"/>
              </a:spcAft>
            </a:pPr>
            <a:r>
              <a:rPr sz="1400" b="0">
                <a:solidFill>
                  <a:srgbClr val="9FC8F5"/>
                </a:solidFill>
                <a:latin typeface="Calibri"/>
              </a:rPr>
              <a:t>Projet intégrateur — Programmation informatique  ·  Collège La Cité  ·  Printemps 2026</a:t>
            </a:r>
          </a:p>
          <a:p>
            <a:pPr algn="ctr">
              <a:spcBef>
                <a:spcPts val="0"/>
              </a:spcBef>
              <a:spcAft>
                <a:spcPts val="600"/>
              </a:spcAft>
            </a:pPr>
            <a:r>
              <a:rPr sz="1300" b="0">
                <a:solidFill>
                  <a:srgbClr val="CFE3FF"/>
                </a:solidFill>
                <a:latin typeface="Calibri"/>
              </a:rPr>
              <a:t>Présentation des 29–30 juillet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Rappel du projet</a:t>
            </a:r>
          </a:p>
          <a:p>
            <a:pPr algn="l">
              <a:spcBef>
                <a:spcPts val="0"/>
              </a:spcBef>
              <a:spcAft>
                <a:spcPts val="0"/>
              </a:spcAft>
            </a:pPr>
            <a:r>
              <a:rPr sz="1400" b="0">
                <a:solidFill>
                  <a:srgbClr val="CFE3FF"/>
                </a:solidFill>
                <a:latin typeface="Calibri"/>
              </a:rPr>
              <a:t>MediPlan — gérer les rendez-vous d'une clinique</a:t>
            </a:r>
          </a:p>
        </p:txBody>
      </p:sp>
      <p:sp>
        <p:nvSpPr>
          <p:cNvPr id="6" name="Rectangle 5"/>
          <p:cNvSpPr/>
          <p:nvPr/>
        </p:nvSpPr>
        <p:spPr>
          <a:xfrm>
            <a:off x="411480" y="150876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28600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210312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Problématique</a:t>
            </a:r>
          </a:p>
          <a:p>
            <a:pPr algn="l">
              <a:spcBef>
                <a:spcPts val="0"/>
              </a:spcBef>
              <a:spcAft>
                <a:spcPts val="300"/>
              </a:spcAft>
            </a:pPr>
            <a:r>
              <a:rPr sz="1300" b="0">
                <a:solidFill>
                  <a:srgbClr val="404040"/>
                </a:solidFill>
                <a:latin typeface="Calibri"/>
              </a:rPr>
              <a:t>•  Dans une clinique, la prise de rendez-vous par téléphone est</a:t>
            </a:r>
          </a:p>
          <a:p>
            <a:pPr algn="l">
              <a:spcBef>
                <a:spcPts val="0"/>
              </a:spcBef>
              <a:spcAft>
                <a:spcPts val="300"/>
              </a:spcAft>
            </a:pPr>
            <a:r>
              <a:rPr sz="1300" b="0">
                <a:solidFill>
                  <a:srgbClr val="404040"/>
                </a:solidFill>
                <a:latin typeface="Calibri"/>
              </a:rPr>
              <a:t>•     manuelle : agendas papier, doubles réservations, oublis</a:t>
            </a:r>
          </a:p>
          <a:p>
            <a:pPr algn="l">
              <a:spcBef>
                <a:spcPts val="0"/>
              </a:spcBef>
              <a:spcAft>
                <a:spcPts val="300"/>
              </a:spcAft>
            </a:pPr>
            <a:r>
              <a:rPr sz="1300" b="0">
                <a:solidFill>
                  <a:srgbClr val="404040"/>
                </a:solidFill>
                <a:latin typeface="Calibri"/>
              </a:rPr>
              <a:t>•  Pas de vue claire de l'activité du jour pour la réception</a:t>
            </a:r>
          </a:p>
          <a:p>
            <a:pPr algn="l">
              <a:spcBef>
                <a:spcPts val="0"/>
              </a:spcBef>
              <a:spcAft>
                <a:spcPts val="300"/>
              </a:spcAft>
            </a:pPr>
            <a:r>
              <a:rPr sz="1300" b="0">
                <a:solidFill>
                  <a:srgbClr val="404040"/>
                </a:solidFill>
                <a:latin typeface="Calibri"/>
              </a:rPr>
              <a:t>•  Données de patients sensibles à protéger et à cloisonner</a:t>
            </a:r>
          </a:p>
        </p:txBody>
      </p:sp>
      <p:sp>
        <p:nvSpPr>
          <p:cNvPr id="9" name="Rectangle 8"/>
          <p:cNvSpPr/>
          <p:nvPr/>
        </p:nvSpPr>
        <p:spPr>
          <a:xfrm>
            <a:off x="6172200" y="150876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2286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210312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Solution proposée</a:t>
            </a:r>
          </a:p>
          <a:p>
            <a:pPr algn="l">
              <a:spcBef>
                <a:spcPts val="0"/>
              </a:spcBef>
              <a:spcAft>
                <a:spcPts val="300"/>
              </a:spcAft>
            </a:pPr>
            <a:r>
              <a:rPr sz="1300" b="0">
                <a:solidFill>
                  <a:srgbClr val="404040"/>
                </a:solidFill>
                <a:latin typeface="Calibri"/>
              </a:rPr>
              <a:t>•  Application web : la réception gère les rendez-vous à la place</a:t>
            </a:r>
          </a:p>
          <a:p>
            <a:pPr algn="l">
              <a:spcBef>
                <a:spcPts val="0"/>
              </a:spcBef>
              <a:spcAft>
                <a:spcPts val="300"/>
              </a:spcAft>
            </a:pPr>
            <a:r>
              <a:rPr sz="1300" b="0">
                <a:solidFill>
                  <a:srgbClr val="404040"/>
                </a:solidFill>
                <a:latin typeface="Calibri"/>
              </a:rPr>
              <a:t>•     des patients (qui appellent au téléphone)</a:t>
            </a:r>
          </a:p>
          <a:p>
            <a:pPr algn="l">
              <a:spcBef>
                <a:spcPts val="0"/>
              </a:spcBef>
              <a:spcAft>
                <a:spcPts val="300"/>
              </a:spcAft>
            </a:pPr>
            <a:r>
              <a:rPr sz="1300" b="0">
                <a:solidFill>
                  <a:srgbClr val="404040"/>
                </a:solidFill>
                <a:latin typeface="Calibri"/>
              </a:rPr>
              <a:t>•  Disponibilités des médecins → créneaux réservables générés</a:t>
            </a:r>
          </a:p>
          <a:p>
            <a:pPr algn="l">
              <a:spcBef>
                <a:spcPts val="0"/>
              </a:spcBef>
              <a:spcAft>
                <a:spcPts val="300"/>
              </a:spcAft>
            </a:pPr>
            <a:r>
              <a:rPr sz="1300" b="0">
                <a:solidFill>
                  <a:srgbClr val="404040"/>
                </a:solidFill>
                <a:latin typeface="Calibri"/>
              </a:rPr>
              <a:t>•  Flux du jour en temps réel + contrôle d'accès par rôle (RBAC)</a:t>
            </a:r>
          </a:p>
        </p:txBody>
      </p:sp>
      <p:sp>
        <p:nvSpPr>
          <p:cNvPr id="12" name="Rectangle 11"/>
          <p:cNvSpPr/>
          <p:nvPr/>
        </p:nvSpPr>
        <p:spPr>
          <a:xfrm>
            <a:off x="411480" y="4023360"/>
            <a:ext cx="11338560" cy="21488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023360"/>
            <a:ext cx="76200" cy="21488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33088"/>
            <a:ext cx="10972800" cy="19659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Utilisateurs / clients visés</a:t>
            </a:r>
          </a:p>
          <a:p>
            <a:pPr algn="l">
              <a:spcBef>
                <a:spcPts val="0"/>
              </a:spcBef>
              <a:spcAft>
                <a:spcPts val="300"/>
              </a:spcAft>
            </a:pPr>
            <a:r>
              <a:rPr sz="1300" b="0">
                <a:solidFill>
                  <a:srgbClr val="404040"/>
                </a:solidFill>
                <a:latin typeface="Calibri"/>
              </a:rPr>
              <a:t>•  Réception / administrateur de clinique — utilisateur principal : crée et suit les rendez-vous</a:t>
            </a:r>
          </a:p>
          <a:p>
            <a:pPr algn="l">
              <a:spcBef>
                <a:spcPts val="0"/>
              </a:spcBef>
              <a:spcAft>
                <a:spcPts val="300"/>
              </a:spcAft>
            </a:pPr>
            <a:r>
              <a:rPr sz="1300" b="0">
                <a:solidFill>
                  <a:srgbClr val="404040"/>
                </a:solidFill>
                <a:latin typeface="Calibri"/>
              </a:rPr>
              <a:t>•  Médecin — consulte ses disponibilités et le flux de sa journée</a:t>
            </a:r>
          </a:p>
          <a:p>
            <a:pPr algn="l">
              <a:spcBef>
                <a:spcPts val="0"/>
              </a:spcBef>
              <a:spcAft>
                <a:spcPts val="300"/>
              </a:spcAft>
            </a:pPr>
            <a:r>
              <a:rPr sz="1300" b="0">
                <a:solidFill>
                  <a:srgbClr val="404040"/>
                </a:solidFill>
                <a:latin typeface="Calibri"/>
              </a:rPr>
              <a:t>•  Patient « léger » — créé au comptoir, sans compte ni mot de passe (il téléphone, il ne s'inscrit pas)</a:t>
            </a:r>
          </a:p>
          <a:p>
            <a:pPr algn="l">
              <a:spcBef>
                <a:spcPts val="0"/>
              </a:spcBef>
              <a:spcAft>
                <a:spcPts val="300"/>
              </a:spcAft>
            </a:pPr>
            <a:r>
              <a:rPr sz="1300" b="0">
                <a:solidFill>
                  <a:srgbClr val="404040"/>
                </a:solidFill>
                <a:latin typeface="Calibri"/>
              </a:rPr>
              <a:t>•  Super-administrateur — supervise l'ensemble des cliniques</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Stack : Angular (frontend) · NestJS (backend) · PostgreSQL (base) · Docker (environnement)</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2</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Objectif du Sprint 2</a:t>
            </a:r>
          </a:p>
          <a:p>
            <a:pPr algn="l">
              <a:spcBef>
                <a:spcPts val="0"/>
              </a:spcBef>
              <a:spcAft>
                <a:spcPts val="0"/>
              </a:spcAft>
            </a:pPr>
            <a:r>
              <a:rPr sz="1400" b="0">
                <a:solidFill>
                  <a:srgbClr val="CFE3FF"/>
                </a:solidFill>
                <a:latin typeface="Calibri"/>
              </a:rPr>
              <a:t>Ce que l'équipe voulait accomplir</a:t>
            </a:r>
          </a:p>
        </p:txBody>
      </p:sp>
      <p:sp>
        <p:nvSpPr>
          <p:cNvPr id="6" name="Rectangle 5"/>
          <p:cNvSpPr/>
          <p:nvPr/>
        </p:nvSpPr>
        <p:spPr>
          <a:xfrm>
            <a:off x="411480" y="1463040"/>
            <a:ext cx="11338560" cy="9601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0789920" cy="822960"/>
          </a:xfrm>
          <a:prstGeom prst="rect">
            <a:avLst/>
          </a:prstGeom>
          <a:noFill/>
        </p:spPr>
        <p:txBody>
          <a:bodyPr wrap="square" anchor="ctr">
            <a:spAutoFit/>
          </a:bodyPr>
          <a:lstStyle/>
          <a:p>
            <a:pPr algn="l">
              <a:spcBef>
                <a:spcPts val="0"/>
              </a:spcBef>
              <a:spcAft>
                <a:spcPts val="200"/>
              </a:spcAft>
            </a:pPr>
            <a:r>
              <a:rPr sz="1200" b="1">
                <a:solidFill>
                  <a:srgbClr val="CFE3FF"/>
                </a:solidFill>
                <a:latin typeface="Calibri"/>
              </a:rPr>
              <a:t>Objectif</a:t>
            </a:r>
          </a:p>
          <a:p>
            <a:pPr algn="l">
              <a:spcBef>
                <a:spcPts val="0"/>
              </a:spcBef>
              <a:spcAft>
                <a:spcPts val="0"/>
              </a:spcAft>
            </a:pPr>
            <a:r>
              <a:rPr sz="1600" b="1">
                <a:solidFill>
                  <a:srgbClr val="FFFFFF"/>
                </a:solidFill>
                <a:latin typeface="Calibri"/>
              </a:rPr>
              <a:t>Une réception se connecte de façon sécurisée, définit les disponibilités des médecins et réserve un rendez-vous pour un patient — sans jamais créer de double réservation.</a:t>
            </a:r>
          </a:p>
        </p:txBody>
      </p:sp>
      <p:sp>
        <p:nvSpPr>
          <p:cNvPr id="8" name="Rectangle 7"/>
          <p:cNvSpPr/>
          <p:nvPr/>
        </p:nvSpPr>
        <p:spPr>
          <a:xfrm>
            <a:off x="411480" y="2651760"/>
            <a:ext cx="5577840" cy="35204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651760"/>
            <a:ext cx="76200" cy="35204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61488"/>
            <a:ext cx="5212080" cy="33375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Fonctionnalités visées</a:t>
            </a:r>
          </a:p>
          <a:p>
            <a:pPr algn="l">
              <a:spcBef>
                <a:spcPts val="0"/>
              </a:spcBef>
              <a:spcAft>
                <a:spcPts val="300"/>
              </a:spcAft>
            </a:pPr>
            <a:r>
              <a:rPr sz="1300" b="0">
                <a:solidFill>
                  <a:srgbClr val="404040"/>
                </a:solidFill>
                <a:latin typeface="Calibri"/>
              </a:rPr>
              <a:t>•  Authentification complète + contrôle d'accès (RBAC 4 rôles)</a:t>
            </a:r>
          </a:p>
          <a:p>
            <a:pPr algn="l">
              <a:spcBef>
                <a:spcPts val="0"/>
              </a:spcBef>
              <a:spcAft>
                <a:spcPts val="300"/>
              </a:spcAft>
            </a:pPr>
            <a:r>
              <a:rPr sz="1300" b="0">
                <a:solidFill>
                  <a:srgbClr val="404040"/>
                </a:solidFill>
                <a:latin typeface="Calibri"/>
              </a:rPr>
              <a:t>•  Modéliser le « patient léger » géré par la réception</a:t>
            </a:r>
          </a:p>
          <a:p>
            <a:pPr algn="l">
              <a:spcBef>
                <a:spcPts val="0"/>
              </a:spcBef>
              <a:spcAft>
                <a:spcPts val="300"/>
              </a:spcAft>
            </a:pPr>
            <a:r>
              <a:rPr sz="1300" b="0">
                <a:solidFill>
                  <a:srgbClr val="404040"/>
                </a:solidFill>
                <a:latin typeface="Calibri"/>
              </a:rPr>
              <a:t>•  Définir les disponibilités des médecins</a:t>
            </a:r>
          </a:p>
          <a:p>
            <a:pPr algn="l">
              <a:spcBef>
                <a:spcPts val="0"/>
              </a:spcBef>
              <a:spcAft>
                <a:spcPts val="300"/>
              </a:spcAft>
            </a:pPr>
            <a:r>
              <a:rPr sz="1300" b="0">
                <a:solidFill>
                  <a:srgbClr val="404040"/>
                </a:solidFill>
                <a:latin typeface="Calibri"/>
              </a:rPr>
              <a:t>•  Générer automatiquement les créneaux réservables</a:t>
            </a:r>
          </a:p>
          <a:p>
            <a:pPr algn="l">
              <a:spcBef>
                <a:spcPts val="0"/>
              </a:spcBef>
              <a:spcAft>
                <a:spcPts val="300"/>
              </a:spcAft>
            </a:pPr>
            <a:r>
              <a:rPr sz="1300" b="0">
                <a:solidFill>
                  <a:srgbClr val="404040"/>
                </a:solidFill>
                <a:latin typeface="Calibri"/>
              </a:rPr>
              <a:t>•  Réserver un rendez-vous (réception) sans double-réservation</a:t>
            </a:r>
          </a:p>
          <a:p>
            <a:pPr algn="l">
              <a:spcBef>
                <a:spcPts val="0"/>
              </a:spcBef>
              <a:spcAft>
                <a:spcPts val="300"/>
              </a:spcAft>
            </a:pPr>
            <a:r>
              <a:rPr sz="1300" b="0">
                <a:solidFill>
                  <a:srgbClr val="404040"/>
                </a:solidFill>
                <a:latin typeface="Calibri"/>
              </a:rPr>
              <a:t>•  Suivre le flux clinique du jour (statuts de consultation)</a:t>
            </a:r>
          </a:p>
          <a:p>
            <a:pPr algn="l">
              <a:spcBef>
                <a:spcPts val="0"/>
              </a:spcBef>
              <a:spcAft>
                <a:spcPts val="300"/>
              </a:spcAft>
            </a:pPr>
            <a:r>
              <a:rPr sz="1300" b="0">
                <a:solidFill>
                  <a:srgbClr val="404040"/>
                </a:solidFill>
                <a:latin typeface="Calibri"/>
              </a:rPr>
              <a:t>•  Interface soignée + mode sombre (design system)</a:t>
            </a:r>
          </a:p>
        </p:txBody>
      </p:sp>
      <p:sp>
        <p:nvSpPr>
          <p:cNvPr id="11" name="Rectangle 10"/>
          <p:cNvSpPr/>
          <p:nvPr/>
        </p:nvSpPr>
        <p:spPr>
          <a:xfrm>
            <a:off x="6172200" y="2651760"/>
            <a:ext cx="5577840" cy="35204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2651760"/>
            <a:ext cx="76200" cy="35204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761488"/>
            <a:ext cx="5212080" cy="33375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Pourquoi ce périmètre</a:t>
            </a:r>
          </a:p>
          <a:p>
            <a:pPr algn="l">
              <a:spcBef>
                <a:spcPts val="0"/>
              </a:spcBef>
              <a:spcAft>
                <a:spcPts val="300"/>
              </a:spcAft>
            </a:pPr>
            <a:r>
              <a:rPr sz="1300" b="0">
                <a:solidFill>
                  <a:srgbClr val="404040"/>
                </a:solidFill>
                <a:latin typeface="Calibri"/>
              </a:rPr>
              <a:t>•  C'est la tranche verticale la plus utile : de la connexion</a:t>
            </a:r>
          </a:p>
          <a:p>
            <a:pPr algn="l">
              <a:spcBef>
                <a:spcPts val="0"/>
              </a:spcBef>
              <a:spcAft>
                <a:spcPts val="300"/>
              </a:spcAft>
            </a:pPr>
            <a:r>
              <a:rPr sz="1300" b="0">
                <a:solidFill>
                  <a:srgbClr val="404040"/>
                </a:solidFill>
                <a:latin typeface="Calibri"/>
              </a:rPr>
              <a:t>•     jusqu'à un rendez-vous réel dans l'agenda</a:t>
            </a:r>
          </a:p>
          <a:p>
            <a:pPr algn="l">
              <a:spcBef>
                <a:spcPts val="0"/>
              </a:spcBef>
              <a:spcAft>
                <a:spcPts val="300"/>
              </a:spcAft>
            </a:pPr>
            <a:r>
              <a:rPr sz="1300" b="0">
                <a:solidFill>
                  <a:srgbClr val="404040"/>
                </a:solidFill>
                <a:latin typeface="Calibri"/>
              </a:rPr>
              <a:t>•  Elle couvre le cœur métier (anti-double-réservation) et la</a:t>
            </a:r>
          </a:p>
          <a:p>
            <a:pPr algn="l">
              <a:spcBef>
                <a:spcPts val="0"/>
              </a:spcBef>
              <a:spcAft>
                <a:spcPts val="300"/>
              </a:spcAft>
            </a:pPr>
            <a:r>
              <a:rPr sz="1300" b="0">
                <a:solidFill>
                  <a:srgbClr val="404040"/>
                </a:solidFill>
                <a:latin typeface="Calibri"/>
              </a:rPr>
              <a:t>•     sécurité (données de santé, RBAC)</a:t>
            </a:r>
          </a:p>
          <a:p>
            <a:pPr algn="l">
              <a:spcBef>
                <a:spcPts val="0"/>
              </a:spcBef>
              <a:spcAft>
                <a:spcPts val="300"/>
              </a:spcAft>
            </a:pPr>
            <a:r>
              <a:rPr sz="1300" b="0">
                <a:solidFill>
                  <a:srgbClr val="404040"/>
                </a:solidFill>
                <a:latin typeface="Calibri"/>
              </a:rPr>
              <a:t>•  Chaque fonctionnalité est démontrable de bout en bout</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Note : notre découpage interne comptait plusieurs sprints ;</a:t>
            </a:r>
          </a:p>
          <a:p>
            <a:pPr algn="l">
              <a:spcBef>
                <a:spcPts val="0"/>
              </a:spcBef>
              <a:spcAft>
                <a:spcPts val="300"/>
              </a:spcAft>
            </a:pPr>
            <a:r>
              <a:rPr sz="1300" b="0">
                <a:solidFill>
                  <a:srgbClr val="404040"/>
                </a:solidFill>
                <a:latin typeface="Calibri"/>
              </a:rPr>
              <a:t>•     ils ont été alignés sur le calendrier du cours.</a:t>
            </a:r>
          </a:p>
        </p:txBody>
      </p:sp>
      <p:sp>
        <p:nvSpPr>
          <p:cNvPr id="14" name="TextBox 13"/>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5" name="TextBox 14"/>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3</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Développement — architecture générale</a:t>
            </a:r>
          </a:p>
          <a:p>
            <a:pPr algn="l">
              <a:spcBef>
                <a:spcPts val="0"/>
              </a:spcBef>
              <a:spcAft>
                <a:spcPts val="0"/>
              </a:spcAft>
            </a:pPr>
            <a:r>
              <a:rPr sz="1400" b="0">
                <a:solidFill>
                  <a:srgbClr val="CFE3FF"/>
                </a:solidFill>
                <a:latin typeface="Calibri"/>
              </a:rPr>
              <a:t>Comment les parties fonctionnent ensemble</a:t>
            </a:r>
          </a:p>
        </p:txBody>
      </p:sp>
      <p:sp>
        <p:nvSpPr>
          <p:cNvPr id="6" name="Rectangle 5"/>
          <p:cNvSpPr/>
          <p:nvPr/>
        </p:nvSpPr>
        <p:spPr>
          <a:xfrm>
            <a:off x="502920" y="1691640"/>
            <a:ext cx="3200400" cy="22860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2880360" cy="2057400"/>
          </a:xfrm>
          <a:prstGeom prst="rect">
            <a:avLst/>
          </a:prstGeom>
          <a:noFill/>
        </p:spPr>
        <p:txBody>
          <a:bodyPr wrap="square">
            <a:spAutoFit/>
          </a:bodyPr>
          <a:lstStyle/>
          <a:p>
            <a:pPr algn="ctr">
              <a:spcBef>
                <a:spcPts val="0"/>
              </a:spcBef>
              <a:spcAft>
                <a:spcPts val="400"/>
              </a:spcAft>
            </a:pPr>
            <a:r>
              <a:rPr sz="1700" b="1">
                <a:solidFill>
                  <a:srgbClr val="FFFFFF"/>
                </a:solidFill>
                <a:latin typeface="Calibri"/>
              </a:rPr>
              <a:t>Frontend — Angular</a:t>
            </a:r>
          </a:p>
          <a:p>
            <a:pPr algn="ctr">
              <a:spcBef>
                <a:spcPts val="0"/>
              </a:spcBef>
              <a:spcAft>
                <a:spcPts val="300"/>
              </a:spcAft>
            </a:pPr>
            <a:r>
              <a:rPr sz="1200" b="0">
                <a:solidFill>
                  <a:srgbClr val="FFFFFF"/>
                </a:solidFill>
                <a:latin typeface="Calibri"/>
              </a:rPr>
              <a:t>Écrans réception &amp; médecin</a:t>
            </a:r>
          </a:p>
          <a:p>
            <a:pPr algn="ctr">
              <a:spcBef>
                <a:spcPts val="0"/>
              </a:spcBef>
              <a:spcAft>
                <a:spcPts val="300"/>
              </a:spcAft>
            </a:pPr>
            <a:r>
              <a:rPr sz="1200" b="0">
                <a:solidFill>
                  <a:srgbClr val="FFFFFF"/>
                </a:solidFill>
                <a:latin typeface="Calibri"/>
              </a:rPr>
              <a:t>Signals · Material 3</a:t>
            </a:r>
          </a:p>
          <a:p>
            <a:pPr algn="ctr">
              <a:spcBef>
                <a:spcPts val="0"/>
              </a:spcBef>
              <a:spcAft>
                <a:spcPts val="300"/>
              </a:spcAft>
            </a:pPr>
            <a:r>
              <a:rPr sz="1200" b="0">
                <a:solidFill>
                  <a:srgbClr val="FFFFFF"/>
                </a:solidFill>
                <a:latin typeface="Calibri"/>
              </a:rPr>
              <a:t>Design system (tokens)</a:t>
            </a:r>
          </a:p>
        </p:txBody>
      </p:sp>
      <p:sp>
        <p:nvSpPr>
          <p:cNvPr id="8" name="Rectangle 7"/>
          <p:cNvSpPr/>
          <p:nvPr/>
        </p:nvSpPr>
        <p:spPr>
          <a:xfrm>
            <a:off x="4480560" y="1691640"/>
            <a:ext cx="3200400" cy="2286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828800"/>
            <a:ext cx="2880360" cy="2057400"/>
          </a:xfrm>
          <a:prstGeom prst="rect">
            <a:avLst/>
          </a:prstGeom>
          <a:noFill/>
        </p:spPr>
        <p:txBody>
          <a:bodyPr wrap="square">
            <a:spAutoFit/>
          </a:bodyPr>
          <a:lstStyle/>
          <a:p>
            <a:pPr algn="ctr">
              <a:spcBef>
                <a:spcPts val="0"/>
              </a:spcBef>
              <a:spcAft>
                <a:spcPts val="400"/>
              </a:spcAft>
            </a:pPr>
            <a:r>
              <a:rPr sz="1700" b="1">
                <a:solidFill>
                  <a:srgbClr val="FFFFFF"/>
                </a:solidFill>
                <a:latin typeface="Calibri"/>
              </a:rPr>
              <a:t>Backend — NestJS</a:t>
            </a:r>
          </a:p>
          <a:p>
            <a:pPr algn="ctr">
              <a:spcBef>
                <a:spcPts val="0"/>
              </a:spcBef>
              <a:spcAft>
                <a:spcPts val="300"/>
              </a:spcAft>
            </a:pPr>
            <a:r>
              <a:rPr sz="1200" b="0">
                <a:solidFill>
                  <a:srgbClr val="FFFFFF"/>
                </a:solidFill>
                <a:latin typeface="Calibri"/>
              </a:rPr>
              <a:t>API REST /api/v1</a:t>
            </a:r>
          </a:p>
          <a:p>
            <a:pPr algn="ctr">
              <a:spcBef>
                <a:spcPts val="0"/>
              </a:spcBef>
              <a:spcAft>
                <a:spcPts val="300"/>
              </a:spcAft>
            </a:pPr>
            <a:r>
              <a:rPr sz="1200" b="0">
                <a:solidFill>
                  <a:srgbClr val="FFFFFF"/>
                </a:solidFill>
                <a:latin typeface="Calibri"/>
              </a:rPr>
              <a:t>JWT + guards RBAC</a:t>
            </a:r>
          </a:p>
          <a:p>
            <a:pPr algn="ctr">
              <a:spcBef>
                <a:spcPts val="0"/>
              </a:spcBef>
              <a:spcAft>
                <a:spcPts val="300"/>
              </a:spcAft>
            </a:pPr>
            <a:r>
              <a:rPr sz="1200" b="0">
                <a:solidFill>
                  <a:srgbClr val="FFFFFF"/>
                </a:solidFill>
                <a:latin typeface="Calibri"/>
              </a:rPr>
              <a:t>Validation par DTO</a:t>
            </a:r>
          </a:p>
        </p:txBody>
      </p:sp>
      <p:sp>
        <p:nvSpPr>
          <p:cNvPr id="10" name="Rectangle 9"/>
          <p:cNvSpPr/>
          <p:nvPr/>
        </p:nvSpPr>
        <p:spPr>
          <a:xfrm>
            <a:off x="8458200" y="1691640"/>
            <a:ext cx="3200400" cy="2286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41080" y="1828800"/>
            <a:ext cx="2880360" cy="2057400"/>
          </a:xfrm>
          <a:prstGeom prst="rect">
            <a:avLst/>
          </a:prstGeom>
          <a:noFill/>
        </p:spPr>
        <p:txBody>
          <a:bodyPr wrap="square">
            <a:spAutoFit/>
          </a:bodyPr>
          <a:lstStyle/>
          <a:p>
            <a:pPr algn="ctr">
              <a:spcBef>
                <a:spcPts val="0"/>
              </a:spcBef>
              <a:spcAft>
                <a:spcPts val="400"/>
              </a:spcAft>
            </a:pPr>
            <a:r>
              <a:rPr sz="1700" b="1">
                <a:solidFill>
                  <a:srgbClr val="FFFFFF"/>
                </a:solidFill>
                <a:latin typeface="Calibri"/>
              </a:rPr>
              <a:t>Base — PostgreSQL</a:t>
            </a:r>
          </a:p>
          <a:p>
            <a:pPr algn="ctr">
              <a:spcBef>
                <a:spcPts val="0"/>
              </a:spcBef>
              <a:spcAft>
                <a:spcPts val="300"/>
              </a:spcAft>
            </a:pPr>
            <a:r>
              <a:rPr sz="1200" b="0">
                <a:solidFill>
                  <a:srgbClr val="FFFFFF"/>
                </a:solidFill>
                <a:latin typeface="Calibri"/>
              </a:rPr>
              <a:t>TypeORM + migrations</a:t>
            </a:r>
          </a:p>
          <a:p>
            <a:pPr algn="ctr">
              <a:spcBef>
                <a:spcPts val="0"/>
              </a:spcBef>
              <a:spcAft>
                <a:spcPts val="300"/>
              </a:spcAft>
            </a:pPr>
            <a:r>
              <a:rPr sz="1200" b="0">
                <a:solidFill>
                  <a:srgbClr val="FFFFFF"/>
                </a:solidFill>
                <a:latin typeface="Calibri"/>
              </a:rPr>
              <a:t>Index anti-double</a:t>
            </a:r>
          </a:p>
          <a:p>
            <a:pPr algn="ctr">
              <a:spcBef>
                <a:spcPts val="0"/>
              </a:spcBef>
              <a:spcAft>
                <a:spcPts val="300"/>
              </a:spcAft>
            </a:pPr>
            <a:r>
              <a:rPr sz="1200" b="0">
                <a:solidFill>
                  <a:srgbClr val="FFFFFF"/>
                </a:solidFill>
                <a:latin typeface="Calibri"/>
              </a:rPr>
              <a:t>Données cloisonnées</a:t>
            </a:r>
          </a:p>
        </p:txBody>
      </p:sp>
      <p:sp>
        <p:nvSpPr>
          <p:cNvPr id="12" name="Right Arrow 11"/>
          <p:cNvSpPr/>
          <p:nvPr/>
        </p:nvSpPr>
        <p:spPr>
          <a:xfrm>
            <a:off x="3977639" y="2651760"/>
            <a:ext cx="457200" cy="411480"/>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955279" y="2651760"/>
            <a:ext cx="457200" cy="411480"/>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297680"/>
            <a:ext cx="11338560" cy="1874519"/>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4297680"/>
            <a:ext cx="76200" cy="1874519"/>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407408"/>
            <a:ext cx="10972800" cy="1691639"/>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Le lien entre les parties (un flux de réservation)</a:t>
            </a:r>
          </a:p>
          <a:p>
            <a:pPr algn="l">
              <a:spcBef>
                <a:spcPts val="0"/>
              </a:spcBef>
              <a:spcAft>
                <a:spcPts val="300"/>
              </a:spcAft>
            </a:pPr>
            <a:r>
              <a:rPr sz="1300" b="0">
                <a:solidFill>
                  <a:srgbClr val="404040"/>
                </a:solidFill>
                <a:latin typeface="Calibri"/>
              </a:rPr>
              <a:t>•  1.  Le navigateur envoie une requête HTTPS au backend, avec le jeton JWT dans l'en-tête (proxy /api → NestJS)</a:t>
            </a:r>
          </a:p>
          <a:p>
            <a:pPr algn="l">
              <a:spcBef>
                <a:spcPts val="0"/>
              </a:spcBef>
              <a:spcAft>
                <a:spcPts val="300"/>
              </a:spcAft>
            </a:pPr>
            <a:r>
              <a:rPr sz="1300" b="0">
                <a:solidFill>
                  <a:srgbClr val="404040"/>
                </a:solidFill>
                <a:latin typeface="Calibri"/>
              </a:rPr>
              <a:t>•  2.  NestJS valide le jeton, vérifie le rôle (guard RBAC) et les données reçues (DTO), puis applique la règle métier</a:t>
            </a:r>
          </a:p>
          <a:p>
            <a:pPr algn="l">
              <a:spcBef>
                <a:spcPts val="0"/>
              </a:spcBef>
              <a:spcAft>
                <a:spcPts val="300"/>
              </a:spcAft>
            </a:pPr>
            <a:r>
              <a:rPr sz="1300" b="0">
                <a:solidFill>
                  <a:srgbClr val="404040"/>
                </a:solidFill>
                <a:latin typeface="Calibri"/>
              </a:rPr>
              <a:t>•  3.  TypeORM écrit en base dans une transaction ; l'index unique partiel garantit qu'un créneau n'est pris qu'une fois</a:t>
            </a:r>
          </a:p>
          <a:p>
            <a:pPr algn="l">
              <a:spcBef>
                <a:spcPts val="0"/>
              </a:spcBef>
              <a:spcAft>
                <a:spcPts val="300"/>
              </a:spcAft>
            </a:pPr>
            <a:r>
              <a:rPr sz="1300" b="0">
                <a:solidFill>
                  <a:srgbClr val="404040"/>
                </a:solidFill>
                <a:latin typeface="Calibri"/>
              </a:rPr>
              <a:t>•  4.  La réponse remonte au frontend, qui met à jour l'affichage via les signals — monorepo unique (frontend + backend)</a:t>
            </a:r>
          </a:p>
        </p:txBody>
      </p:sp>
      <p:sp>
        <p:nvSpPr>
          <p:cNvPr id="17" name="TextBox 16"/>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a:t>
            </a:r>
          </a:p>
        </p:txBody>
      </p:sp>
      <p:sp>
        <p:nvSpPr>
          <p:cNvPr id="18" name="TextBox 17"/>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4</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Développement — base, backend, frontend</a:t>
            </a:r>
          </a:p>
          <a:p>
            <a:pPr algn="l">
              <a:spcBef>
                <a:spcPts val="0"/>
              </a:spcBef>
              <a:spcAft>
                <a:spcPts val="0"/>
              </a:spcAft>
            </a:pPr>
            <a:r>
              <a:rPr sz="1400" b="0">
                <a:solidFill>
                  <a:srgbClr val="CFE3FF"/>
                </a:solidFill>
                <a:latin typeface="Calibri"/>
              </a:rPr>
              <a:t>Les choix techniques, couche par couche</a:t>
            </a:r>
          </a:p>
        </p:txBody>
      </p:sp>
      <p:sp>
        <p:nvSpPr>
          <p:cNvPr id="6" name="Rectangle 5"/>
          <p:cNvSpPr/>
          <p:nvPr/>
        </p:nvSpPr>
        <p:spPr>
          <a:xfrm>
            <a:off x="411480" y="1508760"/>
            <a:ext cx="3703320" cy="4572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572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3337560" cy="438912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Base de données</a:t>
            </a:r>
          </a:p>
          <a:p>
            <a:pPr algn="l">
              <a:spcBef>
                <a:spcPts val="0"/>
              </a:spcBef>
              <a:spcAft>
                <a:spcPts val="300"/>
              </a:spcAft>
            </a:pPr>
            <a:r>
              <a:rPr sz="1300" b="0">
                <a:solidFill>
                  <a:srgbClr val="404040"/>
                </a:solidFill>
                <a:latin typeface="Calibri"/>
              </a:rPr>
              <a:t>•  PostgreSQL, schéma issu de l'ERD</a:t>
            </a:r>
          </a:p>
          <a:p>
            <a:pPr algn="l">
              <a:spcBef>
                <a:spcPts val="0"/>
              </a:spcBef>
              <a:spcAft>
                <a:spcPts val="300"/>
              </a:spcAft>
            </a:pPr>
            <a:r>
              <a:rPr sz="1300" b="0">
                <a:solidFill>
                  <a:srgbClr val="404040"/>
                </a:solidFill>
                <a:latin typeface="Calibri"/>
              </a:rPr>
              <a:t>•  Migrations TypeORM versionnées</a:t>
            </a:r>
          </a:p>
          <a:p>
            <a:pPr algn="l">
              <a:spcBef>
                <a:spcPts val="0"/>
              </a:spcBef>
              <a:spcAft>
                <a:spcPts val="300"/>
              </a:spcAft>
            </a:pPr>
            <a:r>
              <a:rPr sz="1300" b="0">
                <a:solidFill>
                  <a:srgbClr val="404040"/>
                </a:solidFill>
                <a:latin typeface="Calibri"/>
              </a:rPr>
              <a:t>•  Entités : Clinique, Utilisateur,</a:t>
            </a:r>
          </a:p>
          <a:p>
            <a:pPr algn="l">
              <a:spcBef>
                <a:spcPts val="0"/>
              </a:spcBef>
              <a:spcAft>
                <a:spcPts val="300"/>
              </a:spcAft>
            </a:pPr>
            <a:r>
              <a:rPr sz="1300" b="0">
                <a:solidFill>
                  <a:srgbClr val="404040"/>
                </a:solidFill>
                <a:latin typeface="Calibri"/>
              </a:rPr>
              <a:t>•     Disponibilité, Créneau, RDV</a:t>
            </a:r>
          </a:p>
          <a:p>
            <a:pPr algn="l">
              <a:spcBef>
                <a:spcPts val="0"/>
              </a:spcBef>
              <a:spcAft>
                <a:spcPts val="300"/>
              </a:spcAft>
            </a:pPr>
            <a:r>
              <a:rPr sz="1300" b="0">
                <a:solidFill>
                  <a:srgbClr val="404040"/>
                </a:solidFill>
                <a:latin typeface="Calibri"/>
              </a:rPr>
              <a:t>•  Patient léger : rôle patient,</a:t>
            </a:r>
          </a:p>
          <a:p>
            <a:pPr algn="l">
              <a:spcBef>
                <a:spcPts val="0"/>
              </a:spcBef>
              <a:spcAft>
                <a:spcPts val="300"/>
              </a:spcAft>
            </a:pPr>
            <a:r>
              <a:rPr sz="1300" b="0">
                <a:solidFill>
                  <a:srgbClr val="404040"/>
                </a:solidFill>
                <a:latin typeface="Calibri"/>
              </a:rPr>
              <a:t>•     mot de passe NULL</a:t>
            </a:r>
          </a:p>
          <a:p>
            <a:pPr algn="l">
              <a:spcBef>
                <a:spcPts val="0"/>
              </a:spcBef>
              <a:spcAft>
                <a:spcPts val="300"/>
              </a:spcAft>
            </a:pPr>
            <a:r>
              <a:rPr sz="1300" b="0">
                <a:solidFill>
                  <a:srgbClr val="404040"/>
                </a:solidFill>
                <a:latin typeface="Calibri"/>
              </a:rPr>
              <a:t>•  Cœur métier :</a:t>
            </a:r>
          </a:p>
          <a:p>
            <a:pPr algn="l">
              <a:spcBef>
                <a:spcPts val="0"/>
              </a:spcBef>
              <a:spcAft>
                <a:spcPts val="300"/>
              </a:spcAft>
            </a:pPr>
            <a:r>
              <a:rPr sz="1300" b="0">
                <a:solidFill>
                  <a:srgbClr val="404040"/>
                </a:solidFill>
                <a:latin typeface="Calibri"/>
              </a:rPr>
              <a:t>•     index unique partiel sur le</a:t>
            </a:r>
          </a:p>
          <a:p>
            <a:pPr algn="l">
              <a:spcBef>
                <a:spcPts val="0"/>
              </a:spcBef>
              <a:spcAft>
                <a:spcPts val="300"/>
              </a:spcAft>
            </a:pPr>
            <a:r>
              <a:rPr sz="1300" b="0">
                <a:solidFill>
                  <a:srgbClr val="404040"/>
                </a:solidFill>
                <a:latin typeface="Calibri"/>
              </a:rPr>
              <a:t>•     créneau (hors annulés) →</a:t>
            </a:r>
          </a:p>
          <a:p>
            <a:pPr algn="l">
              <a:spcBef>
                <a:spcPts val="0"/>
              </a:spcBef>
              <a:spcAft>
                <a:spcPts val="300"/>
              </a:spcAft>
            </a:pPr>
            <a:r>
              <a:rPr sz="1300" b="0">
                <a:solidFill>
                  <a:srgbClr val="404040"/>
                </a:solidFill>
                <a:latin typeface="Calibri"/>
              </a:rPr>
              <a:t>•     pas de double réservation</a:t>
            </a:r>
          </a:p>
          <a:p>
            <a:pPr algn="l">
              <a:spcBef>
                <a:spcPts val="0"/>
              </a:spcBef>
              <a:spcAft>
                <a:spcPts val="300"/>
              </a:spcAft>
            </a:pPr>
            <a:r>
              <a:rPr sz="1300" b="0">
                <a:solidFill>
                  <a:srgbClr val="404040"/>
                </a:solidFill>
                <a:latin typeface="Calibri"/>
              </a:rPr>
              <a:t>•  Cloisonnement par clinic_id</a:t>
            </a:r>
          </a:p>
        </p:txBody>
      </p:sp>
      <p:sp>
        <p:nvSpPr>
          <p:cNvPr id="9" name="Rectangle 8"/>
          <p:cNvSpPr/>
          <p:nvPr/>
        </p:nvSpPr>
        <p:spPr>
          <a:xfrm>
            <a:off x="4297680" y="1508760"/>
            <a:ext cx="3703320" cy="4572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508760"/>
            <a:ext cx="76200" cy="4572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18488"/>
            <a:ext cx="3337560" cy="438912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Backend — NestJS</a:t>
            </a:r>
          </a:p>
          <a:p>
            <a:pPr algn="l">
              <a:spcBef>
                <a:spcPts val="0"/>
              </a:spcBef>
              <a:spcAft>
                <a:spcPts val="300"/>
              </a:spcAft>
            </a:pPr>
            <a:r>
              <a:rPr sz="1300" b="0">
                <a:solidFill>
                  <a:srgbClr val="404040"/>
                </a:solidFill>
                <a:latin typeface="Calibri"/>
              </a:rPr>
              <a:t>•  API REST sous /api/v1</a:t>
            </a:r>
          </a:p>
          <a:p>
            <a:pPr algn="l">
              <a:spcBef>
                <a:spcPts val="0"/>
              </a:spcBef>
              <a:spcAft>
                <a:spcPts val="300"/>
              </a:spcAft>
            </a:pPr>
            <a:r>
              <a:rPr sz="1300" b="0">
                <a:solidFill>
                  <a:srgbClr val="404040"/>
                </a:solidFill>
                <a:latin typeface="Calibri"/>
              </a:rPr>
              <a:t>•  Modules : auth, user, clinic,</a:t>
            </a:r>
          </a:p>
          <a:p>
            <a:pPr algn="l">
              <a:spcBef>
                <a:spcPts val="0"/>
              </a:spcBef>
              <a:spcAft>
                <a:spcPts val="300"/>
              </a:spcAft>
            </a:pPr>
            <a:r>
              <a:rPr sz="1300" b="0">
                <a:solidFill>
                  <a:srgbClr val="404040"/>
                </a:solidFill>
                <a:latin typeface="Calibri"/>
              </a:rPr>
              <a:t>•     availability, appointment</a:t>
            </a:r>
          </a:p>
          <a:p>
            <a:pPr algn="l">
              <a:spcBef>
                <a:spcPts val="0"/>
              </a:spcBef>
              <a:spcAft>
                <a:spcPts val="300"/>
              </a:spcAft>
            </a:pPr>
            <a:r>
              <a:rPr sz="1300" b="0">
                <a:solidFill>
                  <a:srgbClr val="404040"/>
                </a:solidFill>
                <a:latin typeface="Calibri"/>
              </a:rPr>
              <a:t>•  JWT (HS256, 60 min), bcrypt</a:t>
            </a:r>
          </a:p>
          <a:p>
            <a:pPr algn="l">
              <a:spcBef>
                <a:spcPts val="0"/>
              </a:spcBef>
              <a:spcAft>
                <a:spcPts val="300"/>
              </a:spcAft>
            </a:pPr>
            <a:r>
              <a:rPr sz="1300" b="0">
                <a:solidFill>
                  <a:srgbClr val="404040"/>
                </a:solidFill>
                <a:latin typeface="Calibri"/>
              </a:rPr>
              <a:t>•  Guards + @Roles → RBAC</a:t>
            </a:r>
          </a:p>
          <a:p>
            <a:pPr algn="l">
              <a:spcBef>
                <a:spcPts val="0"/>
              </a:spcBef>
              <a:spcAft>
                <a:spcPts val="300"/>
              </a:spcAft>
            </a:pPr>
            <a:r>
              <a:rPr sz="1300" b="0">
                <a:solidFill>
                  <a:srgbClr val="404040"/>
                </a:solidFill>
                <a:latin typeface="Calibri"/>
              </a:rPr>
              <a:t>•  Validation des entrées par DTO</a:t>
            </a:r>
          </a:p>
          <a:p>
            <a:pPr algn="l">
              <a:spcBef>
                <a:spcPts val="0"/>
              </a:spcBef>
              <a:spcAft>
                <a:spcPts val="300"/>
              </a:spcAft>
            </a:pPr>
            <a:r>
              <a:rPr sz="1300" b="0">
                <a:solidFill>
                  <a:srgbClr val="404040"/>
                </a:solidFill>
                <a:latin typeface="Calibri"/>
              </a:rPr>
              <a:t>•     (class-validator)</a:t>
            </a:r>
          </a:p>
          <a:p>
            <a:pPr algn="l">
              <a:spcBef>
                <a:spcPts val="0"/>
              </a:spcBef>
              <a:spcAft>
                <a:spcPts val="300"/>
              </a:spcAft>
            </a:pPr>
            <a:r>
              <a:rPr sz="1300" b="0">
                <a:solidFill>
                  <a:srgbClr val="404040"/>
                </a:solidFill>
                <a:latin typeface="Calibri"/>
              </a:rPr>
              <a:t>•  Verrouillage de compte (5/15 min)</a:t>
            </a:r>
          </a:p>
          <a:p>
            <a:pPr algn="l">
              <a:spcBef>
                <a:spcPts val="0"/>
              </a:spcBef>
              <a:spcAft>
                <a:spcPts val="300"/>
              </a:spcAft>
            </a:pPr>
            <a:r>
              <a:rPr sz="1300" b="0">
                <a:solidFill>
                  <a:srgbClr val="404040"/>
                </a:solidFill>
                <a:latin typeface="Calibri"/>
              </a:rPr>
              <a:t>•  Transactions + verrous pour la</a:t>
            </a:r>
          </a:p>
          <a:p>
            <a:pPr algn="l">
              <a:spcBef>
                <a:spcPts val="0"/>
              </a:spcBef>
              <a:spcAft>
                <a:spcPts val="300"/>
              </a:spcAft>
            </a:pPr>
            <a:r>
              <a:rPr sz="1300" b="0">
                <a:solidFill>
                  <a:srgbClr val="404040"/>
                </a:solidFill>
                <a:latin typeface="Calibri"/>
              </a:rPr>
              <a:t>•     réservation concurrente</a:t>
            </a:r>
          </a:p>
        </p:txBody>
      </p:sp>
      <p:sp>
        <p:nvSpPr>
          <p:cNvPr id="12" name="Rectangle 11"/>
          <p:cNvSpPr/>
          <p:nvPr/>
        </p:nvSpPr>
        <p:spPr>
          <a:xfrm>
            <a:off x="8183879" y="1508760"/>
            <a:ext cx="3566160" cy="4572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83879" y="1508760"/>
            <a:ext cx="76200" cy="45720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9" y="1618488"/>
            <a:ext cx="3200400" cy="438912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Frontend — Angular</a:t>
            </a:r>
          </a:p>
          <a:p>
            <a:pPr algn="l">
              <a:spcBef>
                <a:spcPts val="0"/>
              </a:spcBef>
              <a:spcAft>
                <a:spcPts val="300"/>
              </a:spcAft>
            </a:pPr>
            <a:r>
              <a:rPr sz="1300" b="0">
                <a:solidFill>
                  <a:srgbClr val="404040"/>
                </a:solidFill>
                <a:latin typeface="Calibri"/>
              </a:rPr>
              <a:t>•  Composants standalone</a:t>
            </a:r>
          </a:p>
          <a:p>
            <a:pPr algn="l">
              <a:spcBef>
                <a:spcPts val="0"/>
              </a:spcBef>
              <a:spcAft>
                <a:spcPts val="300"/>
              </a:spcAft>
            </a:pPr>
            <a:r>
              <a:rPr sz="1300" b="0">
                <a:solidFill>
                  <a:srgbClr val="404040"/>
                </a:solidFill>
                <a:latin typeface="Calibri"/>
              </a:rPr>
              <a:t>•  État réactif par signals</a:t>
            </a:r>
          </a:p>
          <a:p>
            <a:pPr algn="l">
              <a:spcBef>
                <a:spcPts val="0"/>
              </a:spcBef>
              <a:spcAft>
                <a:spcPts val="300"/>
              </a:spcAft>
            </a:pPr>
            <a:r>
              <a:rPr sz="1300" b="0">
                <a:solidFill>
                  <a:srgbClr val="404040"/>
                </a:solidFill>
                <a:latin typeface="Calibri"/>
              </a:rPr>
              <a:t>•  Angular Material 3</a:t>
            </a:r>
          </a:p>
          <a:p>
            <a:pPr algn="l">
              <a:spcBef>
                <a:spcPts val="0"/>
              </a:spcBef>
              <a:spcAft>
                <a:spcPts val="300"/>
              </a:spcAft>
            </a:pPr>
            <a:r>
              <a:rPr sz="1300" b="0">
                <a:solidFill>
                  <a:srgbClr val="404040"/>
                </a:solidFill>
                <a:latin typeface="Calibri"/>
              </a:rPr>
              <a:t>•  Design system : une seule</a:t>
            </a:r>
          </a:p>
          <a:p>
            <a:pPr algn="l">
              <a:spcBef>
                <a:spcPts val="0"/>
              </a:spcBef>
              <a:spcAft>
                <a:spcPts val="300"/>
              </a:spcAft>
            </a:pPr>
            <a:r>
              <a:rPr sz="1300" b="0">
                <a:solidFill>
                  <a:srgbClr val="404040"/>
                </a:solidFill>
                <a:latin typeface="Calibri"/>
              </a:rPr>
              <a:t>•     source de tokens (couleurs,</a:t>
            </a:r>
          </a:p>
          <a:p>
            <a:pPr algn="l">
              <a:spcBef>
                <a:spcPts val="0"/>
              </a:spcBef>
              <a:spcAft>
                <a:spcPts val="300"/>
              </a:spcAft>
            </a:pPr>
            <a:r>
              <a:rPr sz="1300" b="0">
                <a:solidFill>
                  <a:srgbClr val="404040"/>
                </a:solidFill>
                <a:latin typeface="Calibri"/>
              </a:rPr>
              <a:t>•     typographie) → cohérence</a:t>
            </a:r>
          </a:p>
          <a:p>
            <a:pPr algn="l">
              <a:spcBef>
                <a:spcPts val="0"/>
              </a:spcBef>
              <a:spcAft>
                <a:spcPts val="300"/>
              </a:spcAft>
            </a:pPr>
            <a:r>
              <a:rPr sz="1300" b="0">
                <a:solidFill>
                  <a:srgbClr val="404040"/>
                </a:solidFill>
                <a:latin typeface="Calibri"/>
              </a:rPr>
              <a:t>•  Intercepteur : jeton ajouté</a:t>
            </a:r>
          </a:p>
          <a:p>
            <a:pPr algn="l">
              <a:spcBef>
                <a:spcPts val="0"/>
              </a:spcBef>
              <a:spcAft>
                <a:spcPts val="300"/>
              </a:spcAft>
            </a:pPr>
            <a:r>
              <a:rPr sz="1300" b="0">
                <a:solidFill>
                  <a:srgbClr val="404040"/>
                </a:solidFill>
                <a:latin typeface="Calibri"/>
              </a:rPr>
              <a:t>•     automatiquement, gestion 401</a:t>
            </a:r>
          </a:p>
          <a:p>
            <a:pPr algn="l">
              <a:spcBef>
                <a:spcPts val="0"/>
              </a:spcBef>
              <a:spcAft>
                <a:spcPts val="300"/>
              </a:spcAft>
            </a:pPr>
            <a:r>
              <a:rPr sz="1300" b="0">
                <a:solidFill>
                  <a:srgbClr val="404040"/>
                </a:solidFill>
                <a:latin typeface="Calibri"/>
              </a:rPr>
              <a:t>•  Masquage des vues selon le rôle</a:t>
            </a:r>
          </a:p>
          <a:p>
            <a:pPr algn="l">
              <a:spcBef>
                <a:spcPts val="0"/>
              </a:spcBef>
              <a:spcAft>
                <a:spcPts val="300"/>
              </a:spcAft>
            </a:pPr>
            <a:r>
              <a:rPr sz="1300" b="0">
                <a:solidFill>
                  <a:srgbClr val="404040"/>
                </a:solidFill>
                <a:latin typeface="Calibri"/>
              </a:rPr>
              <a:t>•  Mode clair / sombre complet</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5</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Démonstration — ce qui fonctionne</a:t>
            </a:r>
          </a:p>
          <a:p>
            <a:pPr algn="l">
              <a:spcBef>
                <a:spcPts val="0"/>
              </a:spcBef>
              <a:spcAft>
                <a:spcPts val="0"/>
              </a:spcAft>
            </a:pPr>
            <a:r>
              <a:rPr sz="1400" b="0">
                <a:solidFill>
                  <a:srgbClr val="CFE3FF"/>
                </a:solidFill>
                <a:latin typeface="Calibri"/>
              </a:rPr>
              <a:t>Parcours réel de la réception</a:t>
            </a:r>
          </a:p>
        </p:txBody>
      </p:sp>
      <p:sp>
        <p:nvSpPr>
          <p:cNvPr id="6" name="Rectangle 5"/>
          <p:cNvSpPr/>
          <p:nvPr/>
        </p:nvSpPr>
        <p:spPr>
          <a:xfrm>
            <a:off x="411480" y="1508760"/>
            <a:ext cx="676656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46177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6400800" cy="44348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Le scénario que nous démontrons en direct</a:t>
            </a:r>
          </a:p>
          <a:p>
            <a:pPr algn="l">
              <a:spcBef>
                <a:spcPts val="0"/>
              </a:spcBef>
              <a:spcAft>
                <a:spcPts val="300"/>
              </a:spcAft>
            </a:pPr>
            <a:r>
              <a:rPr sz="1300" b="0">
                <a:solidFill>
                  <a:srgbClr val="404040"/>
                </a:solidFill>
                <a:latin typeface="Calibri"/>
              </a:rPr>
              <a:t>•  1.  Connexion réception → l'en-tête affiche « Alice Tremblay »</a:t>
            </a:r>
          </a:p>
          <a:p>
            <a:pPr algn="l">
              <a:spcBef>
                <a:spcPts val="0"/>
              </a:spcBef>
              <a:spcAft>
                <a:spcPts val="300"/>
              </a:spcAft>
            </a:pPr>
            <a:r>
              <a:rPr sz="1300" b="0">
                <a:solidFill>
                  <a:srgbClr val="404040"/>
                </a:solidFill>
                <a:latin typeface="Calibri"/>
              </a:rPr>
              <a:t>•       (le profil vient du serveur, pas du jeton)</a:t>
            </a:r>
          </a:p>
          <a:p>
            <a:pPr algn="l">
              <a:spcBef>
                <a:spcPts val="0"/>
              </a:spcBef>
              <a:spcAft>
                <a:spcPts val="300"/>
              </a:spcAft>
            </a:pPr>
            <a:r>
              <a:rPr sz="1300" b="0">
                <a:solidFill>
                  <a:srgbClr val="404040"/>
                </a:solidFill>
                <a:latin typeface="Calibri"/>
              </a:rPr>
              <a:t>•  2.  Tableau de bord → le compteur « RDV du jour » est un chiffre réel</a:t>
            </a:r>
          </a:p>
          <a:p>
            <a:pPr algn="l">
              <a:spcBef>
                <a:spcPts val="0"/>
              </a:spcBef>
              <a:spcAft>
                <a:spcPts val="300"/>
              </a:spcAft>
            </a:pPr>
            <a:r>
              <a:rPr sz="1300" b="0">
                <a:solidFill>
                  <a:srgbClr val="404040"/>
                </a:solidFill>
                <a:latin typeface="Calibri"/>
              </a:rPr>
              <a:t>•  3.  Disponibilités → saisir une plage datée + une durée</a:t>
            </a:r>
          </a:p>
          <a:p>
            <a:pPr algn="l">
              <a:spcBef>
                <a:spcPts val="0"/>
              </a:spcBef>
              <a:spcAft>
                <a:spcPts val="300"/>
              </a:spcAft>
            </a:pPr>
            <a:r>
              <a:rPr sz="1300" b="0">
                <a:solidFill>
                  <a:srgbClr val="404040"/>
                </a:solidFill>
                <a:latin typeface="Calibri"/>
              </a:rPr>
              <a:t>•       → le système génère seul les créneaux réservables</a:t>
            </a:r>
          </a:p>
          <a:p>
            <a:pPr algn="l">
              <a:spcBef>
                <a:spcPts val="0"/>
              </a:spcBef>
              <a:spcAft>
                <a:spcPts val="300"/>
              </a:spcAft>
            </a:pPr>
            <a:r>
              <a:rPr sz="1300" b="0">
                <a:solidFill>
                  <a:srgbClr val="404040"/>
                </a:solidFill>
                <a:latin typeface="Calibri"/>
              </a:rPr>
              <a:t>•  4.  Réserver → choisir médecin, créneau libre, patient, motif</a:t>
            </a:r>
          </a:p>
          <a:p>
            <a:pPr algn="l">
              <a:spcBef>
                <a:spcPts val="0"/>
              </a:spcBef>
              <a:spcAft>
                <a:spcPts val="300"/>
              </a:spcAft>
            </a:pPr>
            <a:r>
              <a:rPr sz="1300" b="0">
                <a:solidFill>
                  <a:srgbClr val="404040"/>
                </a:solidFill>
                <a:latin typeface="Calibri"/>
              </a:rPr>
              <a:t>•       → le rendez-vous entre dans l'agenda</a:t>
            </a:r>
          </a:p>
          <a:p>
            <a:pPr algn="l">
              <a:spcBef>
                <a:spcPts val="0"/>
              </a:spcBef>
              <a:spcAft>
                <a:spcPts val="300"/>
              </a:spcAft>
            </a:pPr>
            <a:r>
              <a:rPr sz="1300" b="0">
                <a:solidFill>
                  <a:srgbClr val="404040"/>
                </a:solidFill>
                <a:latin typeface="Calibri"/>
              </a:rPr>
              <a:t>•  5.  Flux du jour → cycle : Arrivé → En consultation → Terminé</a:t>
            </a:r>
          </a:p>
          <a:p>
            <a:pPr algn="l">
              <a:spcBef>
                <a:spcPts val="0"/>
              </a:spcBef>
              <a:spcAft>
                <a:spcPts val="300"/>
              </a:spcAft>
            </a:pPr>
            <a:r>
              <a:rPr sz="1300" b="0">
                <a:solidFill>
                  <a:srgbClr val="404040"/>
                </a:solidFill>
                <a:latin typeface="Calibri"/>
              </a:rPr>
              <a:t>•  6.  Annuler un rendez-vous avec motif → le créneau se libère</a:t>
            </a:r>
          </a:p>
          <a:p>
            <a:pPr algn="l">
              <a:spcBef>
                <a:spcPts val="0"/>
              </a:spcBef>
              <a:spcAft>
                <a:spcPts val="300"/>
              </a:spcAft>
            </a:pPr>
            <a:r>
              <a:rPr sz="1300" b="0">
                <a:solidFill>
                  <a:srgbClr val="404040"/>
                </a:solidFill>
                <a:latin typeface="Calibri"/>
              </a:rPr>
              <a:t>•       et redevient réservable  (fonctionnalité déjà livrée)</a:t>
            </a:r>
          </a:p>
          <a:p>
            <a:pPr algn="l">
              <a:spcBef>
                <a:spcPts val="0"/>
              </a:spcBef>
              <a:spcAft>
                <a:spcPts val="300"/>
              </a:spcAft>
            </a:pPr>
            <a:r>
              <a:rPr sz="1300" b="0">
                <a:solidFill>
                  <a:srgbClr val="404040"/>
                </a:solidFill>
                <a:latin typeface="Calibri"/>
              </a:rPr>
              <a:t>•  7.  RBAC visible : « Utilisateurs » disparaît pour un médecin</a:t>
            </a:r>
          </a:p>
          <a:p>
            <a:pPr algn="l">
              <a:spcBef>
                <a:spcPts val="0"/>
              </a:spcBef>
              <a:spcAft>
                <a:spcPts val="300"/>
              </a:spcAft>
            </a:pPr>
            <a:r>
              <a:rPr sz="1300" b="0">
                <a:solidFill>
                  <a:srgbClr val="404040"/>
                </a:solidFill>
                <a:latin typeface="Calibri"/>
              </a:rPr>
              <a:t>•  8.  Mode sombre en un clic</a:t>
            </a:r>
          </a:p>
        </p:txBody>
      </p:sp>
      <p:sp>
        <p:nvSpPr>
          <p:cNvPr id="9" name="Rectangle 8"/>
          <p:cNvSpPr/>
          <p:nvPr/>
        </p:nvSpPr>
        <p:spPr>
          <a:xfrm>
            <a:off x="7360920" y="1508760"/>
            <a:ext cx="438912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508760"/>
            <a:ext cx="76200" cy="46177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618488"/>
            <a:ext cx="4023360" cy="44348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Logique de fonctionnement</a:t>
            </a:r>
          </a:p>
          <a:p>
            <a:pPr algn="l">
              <a:spcBef>
                <a:spcPts val="0"/>
              </a:spcBef>
              <a:spcAft>
                <a:spcPts val="300"/>
              </a:spcAft>
            </a:pPr>
            <a:r>
              <a:rPr sz="1300" b="0">
                <a:solidFill>
                  <a:srgbClr val="404040"/>
                </a:solidFill>
                <a:latin typeface="Calibri"/>
              </a:rPr>
              <a:t>•  Le patient n'agit pas en ligne :</a:t>
            </a:r>
          </a:p>
          <a:p>
            <a:pPr algn="l">
              <a:spcBef>
                <a:spcPts val="0"/>
              </a:spcBef>
              <a:spcAft>
                <a:spcPts val="300"/>
              </a:spcAft>
            </a:pPr>
            <a:r>
              <a:rPr sz="1300" b="0">
                <a:solidFill>
                  <a:srgbClr val="404040"/>
                </a:solidFill>
                <a:latin typeface="Calibri"/>
              </a:rPr>
              <a:t>•     la réception fait tout pour lui</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Une disponibilité datée →</a:t>
            </a:r>
          </a:p>
          <a:p>
            <a:pPr algn="l">
              <a:spcBef>
                <a:spcPts val="0"/>
              </a:spcBef>
              <a:spcAft>
                <a:spcPts val="300"/>
              </a:spcAft>
            </a:pPr>
            <a:r>
              <a:rPr sz="1300" b="0">
                <a:solidFill>
                  <a:srgbClr val="404040"/>
                </a:solidFill>
                <a:latin typeface="Calibri"/>
              </a:rPr>
              <a:t>•     des créneaux → un rendez-vous</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Un créneau ne peut être pris</a:t>
            </a:r>
          </a:p>
          <a:p>
            <a:pPr algn="l">
              <a:spcBef>
                <a:spcPts val="0"/>
              </a:spcBef>
              <a:spcAft>
                <a:spcPts val="300"/>
              </a:spcAft>
            </a:pPr>
            <a:r>
              <a:rPr sz="1300" b="0">
                <a:solidFill>
                  <a:srgbClr val="404040"/>
                </a:solidFill>
                <a:latin typeface="Calibri"/>
              </a:rPr>
              <a:t>•     qu'une fois (garanti en base)</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Chaque écran est protégé selon</a:t>
            </a:r>
          </a:p>
          <a:p>
            <a:pPr algn="l">
              <a:spcBef>
                <a:spcPts val="0"/>
              </a:spcBef>
              <a:spcAft>
                <a:spcPts val="300"/>
              </a:spcAft>
            </a:pPr>
            <a:r>
              <a:rPr sz="1300" b="0">
                <a:solidFill>
                  <a:srgbClr val="404040"/>
                </a:solidFill>
                <a:latin typeface="Calibri"/>
              </a:rPr>
              <a:t>•     le rôle de l'utilisateur connecté</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Données de démo réalistes en place</a:t>
            </a:r>
          </a:p>
          <a:p>
            <a:pPr algn="l">
              <a:spcBef>
                <a:spcPts val="0"/>
              </a:spcBef>
              <a:spcAft>
                <a:spcPts val="300"/>
              </a:spcAft>
            </a:pPr>
            <a:r>
              <a:rPr sz="1300" b="0">
                <a:solidFill>
                  <a:srgbClr val="404040"/>
                </a:solidFill>
                <a:latin typeface="Calibri"/>
              </a:rPr>
              <a:t>•     (2 médecins, 10 patients, RDV</a:t>
            </a:r>
          </a:p>
          <a:p>
            <a:pPr algn="l">
              <a:spcBef>
                <a:spcPts val="0"/>
              </a:spcBef>
              <a:spcAft>
                <a:spcPts val="300"/>
              </a:spcAft>
            </a:pPr>
            <a:r>
              <a:rPr sz="1300" b="0">
                <a:solidFill>
                  <a:srgbClr val="404040"/>
                </a:solidFill>
                <a:latin typeface="Calibri"/>
              </a:rPr>
              <a:t>•     du jour à statuts variés)</a:t>
            </a:r>
          </a:p>
        </p:txBody>
      </p:sp>
      <p:sp>
        <p:nvSpPr>
          <p:cNvPr id="12" name="TextBox 11"/>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 (démonstration)</a:t>
            </a:r>
          </a:p>
        </p:txBody>
      </p:sp>
      <p:sp>
        <p:nvSpPr>
          <p:cNvPr id="13" name="TextBox 12"/>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2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6</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Tests et validation</a:t>
            </a:r>
          </a:p>
          <a:p>
            <a:pPr algn="l">
              <a:spcBef>
                <a:spcPts val="0"/>
              </a:spcBef>
              <a:spcAft>
                <a:spcPts val="0"/>
              </a:spcAft>
            </a:pPr>
            <a:r>
              <a:rPr sz="1400" b="0">
                <a:solidFill>
                  <a:srgbClr val="CFE3FF"/>
                </a:solidFill>
                <a:latin typeface="Calibri"/>
              </a:rPr>
              <a:t>Ce que nous avons vérifié</a:t>
            </a:r>
          </a:p>
        </p:txBody>
      </p:sp>
      <p:sp>
        <p:nvSpPr>
          <p:cNvPr id="6" name="Rectangle 5"/>
          <p:cNvSpPr/>
          <p:nvPr/>
        </p:nvSpPr>
        <p:spPr>
          <a:xfrm>
            <a:off x="411480" y="1463040"/>
            <a:ext cx="2606040"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260604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171</a:t>
            </a:r>
          </a:p>
          <a:p>
            <a:pPr algn="ctr">
              <a:spcBef>
                <a:spcPts val="0"/>
              </a:spcBef>
              <a:spcAft>
                <a:spcPts val="0"/>
              </a:spcAft>
            </a:pPr>
            <a:r>
              <a:rPr sz="1200" b="0">
                <a:solidFill>
                  <a:srgbClr val="FFFFFF"/>
                </a:solidFill>
                <a:latin typeface="Calibri"/>
              </a:rPr>
              <a:t>Tests automatisés verts</a:t>
            </a:r>
          </a:p>
        </p:txBody>
      </p:sp>
      <p:sp>
        <p:nvSpPr>
          <p:cNvPr id="8" name="Rectangle 7"/>
          <p:cNvSpPr/>
          <p:nvPr/>
        </p:nvSpPr>
        <p:spPr>
          <a:xfrm>
            <a:off x="3246120" y="1463040"/>
            <a:ext cx="260604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536192"/>
            <a:ext cx="260604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48</a:t>
            </a:r>
          </a:p>
          <a:p>
            <a:pPr algn="ctr">
              <a:spcBef>
                <a:spcPts val="0"/>
              </a:spcBef>
              <a:spcAft>
                <a:spcPts val="0"/>
              </a:spcAft>
            </a:pPr>
            <a:r>
              <a:rPr sz="1200" b="0">
                <a:solidFill>
                  <a:srgbClr val="FFFFFF"/>
                </a:solidFill>
                <a:latin typeface="Calibri"/>
              </a:rPr>
              <a:t>Tests backend (NestJS)</a:t>
            </a:r>
          </a:p>
        </p:txBody>
      </p:sp>
      <p:sp>
        <p:nvSpPr>
          <p:cNvPr id="10" name="Rectangle 9"/>
          <p:cNvSpPr/>
          <p:nvPr/>
        </p:nvSpPr>
        <p:spPr>
          <a:xfrm>
            <a:off x="6080760" y="1463040"/>
            <a:ext cx="260604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536192"/>
            <a:ext cx="260604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123</a:t>
            </a:r>
          </a:p>
          <a:p>
            <a:pPr algn="ctr">
              <a:spcBef>
                <a:spcPts val="0"/>
              </a:spcBef>
              <a:spcAft>
                <a:spcPts val="0"/>
              </a:spcAft>
            </a:pPr>
            <a:r>
              <a:rPr sz="1200" b="0">
                <a:solidFill>
                  <a:srgbClr val="FFFFFF"/>
                </a:solidFill>
                <a:latin typeface="Calibri"/>
              </a:rPr>
              <a:t>Tests frontend (Angular)</a:t>
            </a:r>
          </a:p>
        </p:txBody>
      </p:sp>
      <p:sp>
        <p:nvSpPr>
          <p:cNvPr id="12" name="Rectangle 11"/>
          <p:cNvSpPr/>
          <p:nvPr/>
        </p:nvSpPr>
        <p:spPr>
          <a:xfrm>
            <a:off x="8915400" y="1463040"/>
            <a:ext cx="260604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536192"/>
            <a:ext cx="260604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0</a:t>
            </a:r>
          </a:p>
          <a:p>
            <a:pPr algn="ctr">
              <a:spcBef>
                <a:spcPts val="0"/>
              </a:spcBef>
              <a:spcAft>
                <a:spcPts val="0"/>
              </a:spcAft>
            </a:pPr>
            <a:r>
              <a:rPr sz="1200" b="0">
                <a:solidFill>
                  <a:srgbClr val="FFFFFF"/>
                </a:solidFill>
                <a:latin typeface="Calibri"/>
              </a:rPr>
              <a:t>Test en échec</a:t>
            </a:r>
          </a:p>
        </p:txBody>
      </p:sp>
      <p:sp>
        <p:nvSpPr>
          <p:cNvPr id="14" name="Rectangle 13"/>
          <p:cNvSpPr/>
          <p:nvPr/>
        </p:nvSpPr>
        <p:spPr>
          <a:xfrm>
            <a:off x="411480" y="3063240"/>
            <a:ext cx="557784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063240"/>
            <a:ext cx="76200" cy="31089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72968"/>
            <a:ext cx="5212080" cy="2926080"/>
          </a:xfrm>
          <a:prstGeom prst="rect">
            <a:avLst/>
          </a:prstGeom>
          <a:noFill/>
        </p:spPr>
        <p:txBody>
          <a:bodyPr wrap="square">
            <a:spAutoFit/>
          </a:bodyPr>
          <a:lstStyle/>
          <a:p>
            <a:pPr algn="l">
              <a:spcBef>
                <a:spcPts val="0"/>
              </a:spcBef>
              <a:spcAft>
                <a:spcPts val="400"/>
              </a:spcAft>
            </a:pPr>
            <a:r>
              <a:rPr sz="1600" b="1">
                <a:solidFill>
                  <a:srgbClr val="2E7D32"/>
                </a:solidFill>
                <a:latin typeface="Calibri"/>
              </a:rPr>
              <a:t>Tests réalisés</a:t>
            </a:r>
          </a:p>
          <a:p>
            <a:pPr algn="l">
              <a:spcBef>
                <a:spcPts val="0"/>
              </a:spcBef>
              <a:spcAft>
                <a:spcPts val="300"/>
              </a:spcAft>
            </a:pPr>
            <a:r>
              <a:rPr sz="1300" b="0">
                <a:solidFill>
                  <a:srgbClr val="404040"/>
                </a:solidFill>
                <a:latin typeface="Calibri"/>
              </a:rPr>
              <a:t>•  Backend : services et contrôleurs (auth, disponibilités,</a:t>
            </a:r>
          </a:p>
          <a:p>
            <a:pPr algn="l">
              <a:spcBef>
                <a:spcPts val="0"/>
              </a:spcBef>
              <a:spcAft>
                <a:spcPts val="300"/>
              </a:spcAft>
            </a:pPr>
            <a:r>
              <a:rPr sz="1300" b="0">
                <a:solidFill>
                  <a:srgbClr val="404040"/>
                </a:solidFill>
                <a:latin typeface="Calibri"/>
              </a:rPr>
              <a:t>•     réservation, flux) + validation des DTO</a:t>
            </a:r>
          </a:p>
          <a:p>
            <a:pPr algn="l">
              <a:spcBef>
                <a:spcPts val="0"/>
              </a:spcBef>
              <a:spcAft>
                <a:spcPts val="300"/>
              </a:spcAft>
            </a:pPr>
            <a:r>
              <a:rPr sz="1300" b="0">
                <a:solidFill>
                  <a:srgbClr val="404040"/>
                </a:solidFill>
                <a:latin typeface="Calibri"/>
              </a:rPr>
              <a:t>•  Anti-double-réservation testé en situation de concurrence</a:t>
            </a:r>
          </a:p>
          <a:p>
            <a:pPr algn="l">
              <a:spcBef>
                <a:spcPts val="0"/>
              </a:spcBef>
              <a:spcAft>
                <a:spcPts val="300"/>
              </a:spcAft>
            </a:pPr>
            <a:r>
              <a:rPr sz="1300" b="0">
                <a:solidFill>
                  <a:srgbClr val="404040"/>
                </a:solidFill>
                <a:latin typeface="Calibri"/>
              </a:rPr>
              <a:t>•  Frontend : composants, services HTTP, guards de rôle,</a:t>
            </a:r>
          </a:p>
          <a:p>
            <a:pPr algn="l">
              <a:spcBef>
                <a:spcPts val="0"/>
              </a:spcBef>
              <a:spcAft>
                <a:spcPts val="300"/>
              </a:spcAft>
            </a:pPr>
            <a:r>
              <a:rPr sz="1300" b="0">
                <a:solidFill>
                  <a:srgbClr val="404040"/>
                </a:solidFill>
                <a:latin typeface="Calibri"/>
              </a:rPr>
              <a:t>•     intercepteurs, façade d'authentification</a:t>
            </a:r>
          </a:p>
          <a:p>
            <a:pPr algn="l">
              <a:spcBef>
                <a:spcPts val="0"/>
              </a:spcBef>
              <a:spcAft>
                <a:spcPts val="300"/>
              </a:spcAft>
            </a:pPr>
            <a:r>
              <a:rPr sz="1300" b="0">
                <a:solidFill>
                  <a:srgbClr val="404040"/>
                </a:solidFill>
                <a:latin typeface="Calibri"/>
              </a:rPr>
              <a:t>•  Vérification manuelle bout-en-bout dans le navigateur</a:t>
            </a:r>
          </a:p>
          <a:p>
            <a:pPr algn="l">
              <a:spcBef>
                <a:spcPts val="0"/>
              </a:spcBef>
              <a:spcAft>
                <a:spcPts val="300"/>
              </a:spcAft>
            </a:pPr>
            <a:r>
              <a:rPr sz="1300" b="0">
                <a:solidFill>
                  <a:srgbClr val="404040"/>
                </a:solidFill>
                <a:latin typeface="Calibri"/>
              </a:rPr>
              <a:t>•  Migrations rejouées sur une base neuve (reproductible)</a:t>
            </a:r>
          </a:p>
        </p:txBody>
      </p:sp>
      <p:sp>
        <p:nvSpPr>
          <p:cNvPr id="17" name="Rectangle 16"/>
          <p:cNvSpPr/>
          <p:nvPr/>
        </p:nvSpPr>
        <p:spPr>
          <a:xfrm>
            <a:off x="6172200" y="3063240"/>
            <a:ext cx="557784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063240"/>
            <a:ext cx="76200" cy="310896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72968"/>
            <a:ext cx="5212080" cy="292608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Bogues identifiés → corrigés</a:t>
            </a:r>
          </a:p>
          <a:p>
            <a:pPr algn="l">
              <a:spcBef>
                <a:spcPts val="0"/>
              </a:spcBef>
              <a:spcAft>
                <a:spcPts val="300"/>
              </a:spcAft>
            </a:pPr>
            <a:r>
              <a:rPr sz="1300" b="0">
                <a:solidFill>
                  <a:srgbClr val="404040"/>
                </a:solidFill>
                <a:latin typeface="Calibri"/>
              </a:rPr>
              <a:t>•  Erreur 500 à la réservation (verrou SQL mal placé sur une</a:t>
            </a:r>
          </a:p>
          <a:p>
            <a:pPr algn="l">
              <a:spcBef>
                <a:spcPts val="0"/>
              </a:spcBef>
              <a:spcAft>
                <a:spcPts val="300"/>
              </a:spcAft>
            </a:pPr>
            <a:r>
              <a:rPr sz="1300" b="0">
                <a:solidFill>
                  <a:srgbClr val="404040"/>
                </a:solidFill>
                <a:latin typeface="Calibri"/>
              </a:rPr>
              <a:t>•     jointure) → verrou ciblé sur la ligne du RDV</a:t>
            </a:r>
          </a:p>
          <a:p>
            <a:pPr algn="l">
              <a:spcBef>
                <a:spcPts val="0"/>
              </a:spcBef>
              <a:spcAft>
                <a:spcPts val="300"/>
              </a:spcAft>
            </a:pPr>
            <a:r>
              <a:rPr sz="1300" b="0">
                <a:solidFill>
                  <a:srgbClr val="404040"/>
                </a:solidFill>
                <a:latin typeface="Calibri"/>
              </a:rPr>
              <a:t>•  Sélecteur « Médecin » qui ne s'ouvrait pas (l'étiquette</a:t>
            </a:r>
          </a:p>
          <a:p>
            <a:pPr algn="l">
              <a:spcBef>
                <a:spcPts val="0"/>
              </a:spcBef>
              <a:spcAft>
                <a:spcPts val="300"/>
              </a:spcAft>
            </a:pPr>
            <a:r>
              <a:rPr sz="1300" b="0">
                <a:solidFill>
                  <a:srgbClr val="404040"/>
                </a:solidFill>
                <a:latin typeface="Calibri"/>
              </a:rPr>
              <a:t>•     captait le clic) → corrigé</a:t>
            </a:r>
          </a:p>
          <a:p>
            <a:pPr algn="l">
              <a:spcBef>
                <a:spcPts val="0"/>
              </a:spcBef>
              <a:spcAft>
                <a:spcPts val="300"/>
              </a:spcAft>
            </a:pPr>
            <a:r>
              <a:rPr sz="1300" b="0">
                <a:solidFill>
                  <a:srgbClr val="404040"/>
                </a:solidFill>
                <a:latin typeface="Calibri"/>
              </a:rPr>
              <a:t>•  Rendez-vous du jour vides (fuseau horaire) → dates relatives</a:t>
            </a:r>
          </a:p>
          <a:p>
            <a:pPr algn="l">
              <a:spcBef>
                <a:spcPts val="0"/>
              </a:spcBef>
              <a:spcAft>
                <a:spcPts val="300"/>
              </a:spcAft>
            </a:pPr>
            <a:r>
              <a:rPr sz="1300" b="0">
                <a:solidFill>
                  <a:srgbClr val="404040"/>
                </a:solidFill>
                <a:latin typeface="Calibri"/>
              </a:rPr>
              <a:t>•  En-tête affichant l'e-mail au lieu du nom → repli sur le nom</a:t>
            </a:r>
          </a:p>
          <a:p>
            <a:pPr algn="l">
              <a:spcBef>
                <a:spcPts val="0"/>
              </a:spcBef>
              <a:spcAft>
                <a:spcPts val="300"/>
              </a:spcAft>
            </a:pPr>
            <a:r>
              <a:rPr sz="1300" b="0">
                <a:solidFill>
                  <a:srgbClr val="404040"/>
                </a:solidFill>
                <a:latin typeface="Calibri"/>
              </a:rPr>
              <a:t>•  Motif d'annulation vide accepté → validation renforcée</a:t>
            </a:r>
          </a:p>
        </p:txBody>
      </p:sp>
      <p:sp>
        <p:nvSpPr>
          <p:cNvPr id="20" name="TextBox 19"/>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a:t>
            </a:r>
          </a:p>
        </p:txBody>
      </p:sp>
      <p:sp>
        <p:nvSpPr>
          <p:cNvPr id="21" name="TextBox 20"/>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7</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Difficultés rencontrées et solutions</a:t>
            </a:r>
          </a:p>
          <a:p>
            <a:pPr algn="l">
              <a:spcBef>
                <a:spcPts val="0"/>
              </a:spcBef>
              <a:spcAft>
                <a:spcPts val="0"/>
              </a:spcAft>
            </a:pPr>
            <a:r>
              <a:rPr sz="1400" b="0">
                <a:solidFill>
                  <a:srgbClr val="CFE3FF"/>
                </a:solidFill>
                <a:latin typeface="Calibri"/>
              </a:rPr>
              <a:t>Techniques et organisationnelles</a:t>
            </a:r>
          </a:p>
        </p:txBody>
      </p:sp>
      <p:sp>
        <p:nvSpPr>
          <p:cNvPr id="6" name="Rectangle 5"/>
          <p:cNvSpPr/>
          <p:nvPr/>
        </p:nvSpPr>
        <p:spPr>
          <a:xfrm>
            <a:off x="411480" y="1508760"/>
            <a:ext cx="5577840" cy="2331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33172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214884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  Organisation — dérive d'intégration (vécue)</a:t>
            </a:r>
          </a:p>
          <a:p>
            <a:pPr algn="l">
              <a:spcBef>
                <a:spcPts val="0"/>
              </a:spcBef>
              <a:spcAft>
                <a:spcPts val="300"/>
              </a:spcAft>
            </a:pPr>
            <a:r>
              <a:rPr sz="1300" b="0">
                <a:solidFill>
                  <a:srgbClr val="404040"/>
                </a:solidFill>
                <a:latin typeface="Calibri"/>
              </a:rPr>
              <a:t>•  Plusieurs branches en parallèle jamais fusionnées</a:t>
            </a:r>
          </a:p>
          <a:p>
            <a:pPr algn="l">
              <a:spcBef>
                <a:spcPts val="0"/>
              </a:spcBef>
              <a:spcAft>
                <a:spcPts val="300"/>
              </a:spcAft>
            </a:pPr>
            <a:r>
              <a:rPr sz="1300" b="0">
                <a:solidFill>
                  <a:srgbClr val="404040"/>
                </a:solidFill>
                <a:latin typeface="Calibri"/>
              </a:rPr>
              <a:t>•  → deux migrations sur le même horodatage, un module</a:t>
            </a:r>
          </a:p>
          <a:p>
            <a:pPr algn="l">
              <a:spcBef>
                <a:spcPts val="0"/>
              </a:spcBef>
              <a:spcAft>
                <a:spcPts val="300"/>
              </a:spcAft>
            </a:pPr>
            <a:r>
              <a:rPr sz="1300" b="0">
                <a:solidFill>
                  <a:srgbClr val="404040"/>
                </a:solidFill>
                <a:latin typeface="Calibri"/>
              </a:rPr>
              <a:t>•     de rendez-vous recréé en double</a:t>
            </a:r>
          </a:p>
          <a:p>
            <a:pPr algn="l">
              <a:spcBef>
                <a:spcPts val="0"/>
              </a:spcBef>
              <a:spcAft>
                <a:spcPts val="300"/>
              </a:spcAft>
            </a:pPr>
            <a:r>
              <a:rPr sz="1300" b="0">
                <a:solidFill>
                  <a:srgbClr val="404040"/>
                </a:solidFill>
                <a:latin typeface="Calibri"/>
              </a:rPr>
              <a:t>•  Solution : réintégration manuelle, puis 6 règles (socle</a:t>
            </a:r>
          </a:p>
          <a:p>
            <a:pPr algn="l">
              <a:spcBef>
                <a:spcPts val="0"/>
              </a:spcBef>
              <a:spcAft>
                <a:spcPts val="300"/>
              </a:spcAft>
            </a:pPr>
            <a:r>
              <a:rPr sz="1300" b="0">
                <a:solidFill>
                  <a:srgbClr val="404040"/>
                </a:solidFill>
                <a:latin typeface="Calibri"/>
              </a:rPr>
              <a:t>•     d'abord, PR sous 72 h, un module par ticket, gates de</a:t>
            </a:r>
          </a:p>
          <a:p>
            <a:pPr algn="l">
              <a:spcBef>
                <a:spcPts val="0"/>
              </a:spcBef>
              <a:spcAft>
                <a:spcPts val="300"/>
              </a:spcAft>
            </a:pPr>
            <a:r>
              <a:rPr sz="1300" b="0">
                <a:solidFill>
                  <a:srgbClr val="404040"/>
                </a:solidFill>
                <a:latin typeface="Calibri"/>
              </a:rPr>
              <a:t>•     fusion, point à mi-sprint, « terminé » = fusionné dans dev)</a:t>
            </a:r>
          </a:p>
        </p:txBody>
      </p:sp>
      <p:sp>
        <p:nvSpPr>
          <p:cNvPr id="9" name="Rectangle 8"/>
          <p:cNvSpPr/>
          <p:nvPr/>
        </p:nvSpPr>
        <p:spPr>
          <a:xfrm>
            <a:off x="6172200" y="1508760"/>
            <a:ext cx="5577840" cy="2331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233172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214884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  Technique — la réservation concurrente</a:t>
            </a:r>
          </a:p>
          <a:p>
            <a:pPr algn="l">
              <a:spcBef>
                <a:spcPts val="0"/>
              </a:spcBef>
              <a:spcAft>
                <a:spcPts val="300"/>
              </a:spcAft>
            </a:pPr>
            <a:r>
              <a:rPr sz="1300" b="0">
                <a:solidFill>
                  <a:srgbClr val="404040"/>
                </a:solidFill>
                <a:latin typeface="Calibri"/>
              </a:rPr>
              <a:t>•  Comment empêcher deux réceptions de réserver le même</a:t>
            </a:r>
          </a:p>
          <a:p>
            <a:pPr algn="l">
              <a:spcBef>
                <a:spcPts val="0"/>
              </a:spcBef>
              <a:spcAft>
                <a:spcPts val="300"/>
              </a:spcAft>
            </a:pPr>
            <a:r>
              <a:rPr sz="1300" b="0">
                <a:solidFill>
                  <a:srgbClr val="404040"/>
                </a:solidFill>
                <a:latin typeface="Calibri"/>
              </a:rPr>
              <a:t>•     créneau au même instant ?</a:t>
            </a:r>
          </a:p>
          <a:p>
            <a:pPr algn="l">
              <a:spcBef>
                <a:spcPts val="0"/>
              </a:spcBef>
              <a:spcAft>
                <a:spcPts val="300"/>
              </a:spcAft>
            </a:pPr>
            <a:r>
              <a:rPr sz="1300" b="0">
                <a:solidFill>
                  <a:srgbClr val="404040"/>
                </a:solidFill>
                <a:latin typeface="Calibri"/>
              </a:rPr>
              <a:t>•  Solution : index unique partiel en base + transaction</a:t>
            </a:r>
          </a:p>
          <a:p>
            <a:pPr algn="l">
              <a:spcBef>
                <a:spcPts val="0"/>
              </a:spcBef>
              <a:spcAft>
                <a:spcPts val="300"/>
              </a:spcAft>
            </a:pPr>
            <a:r>
              <a:rPr sz="1300" b="0">
                <a:solidFill>
                  <a:srgbClr val="404040"/>
                </a:solidFill>
                <a:latin typeface="Calibri"/>
              </a:rPr>
              <a:t>•     avec verrou → c'est PostgreSQL qui tranche la course,</a:t>
            </a:r>
          </a:p>
          <a:p>
            <a:pPr algn="l">
              <a:spcBef>
                <a:spcPts val="0"/>
              </a:spcBef>
              <a:spcAft>
                <a:spcPts val="300"/>
              </a:spcAft>
            </a:pPr>
            <a:r>
              <a:rPr sz="1300" b="0">
                <a:solidFill>
                  <a:srgbClr val="404040"/>
                </a:solidFill>
                <a:latin typeface="Calibri"/>
              </a:rPr>
              <a:t>•     pas le code applicatif</a:t>
            </a:r>
          </a:p>
          <a:p>
            <a:pPr algn="l">
              <a:spcBef>
                <a:spcPts val="0"/>
              </a:spcBef>
              <a:spcAft>
                <a:spcPts val="300"/>
              </a:spcAft>
            </a:pPr>
            <a:r>
              <a:rPr sz="1300" b="0">
                <a:solidFill>
                  <a:srgbClr val="404040"/>
                </a:solidFill>
                <a:latin typeface="Calibri"/>
              </a:rPr>
              <a:t>•  Vérifié par un test de concurrence</a:t>
            </a:r>
          </a:p>
        </p:txBody>
      </p:sp>
      <p:sp>
        <p:nvSpPr>
          <p:cNvPr id="12" name="Rectangle 11"/>
          <p:cNvSpPr/>
          <p:nvPr/>
        </p:nvSpPr>
        <p:spPr>
          <a:xfrm>
            <a:off x="411480" y="4069080"/>
            <a:ext cx="11338560" cy="21031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069080"/>
            <a:ext cx="76200" cy="21031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78808"/>
            <a:ext cx="10972800" cy="19202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Autres difficultés techniques levées</a:t>
            </a:r>
          </a:p>
          <a:p>
            <a:pPr algn="l">
              <a:spcBef>
                <a:spcPts val="0"/>
              </a:spcBef>
              <a:spcAft>
                <a:spcPts val="300"/>
              </a:spcAft>
            </a:pPr>
            <a:r>
              <a:rPr sz="1300" b="0">
                <a:solidFill>
                  <a:srgbClr val="404040"/>
                </a:solidFill>
                <a:latin typeface="Calibri"/>
              </a:rPr>
              <a:t>•  Verrou SQL « FOR UPDATE » posé sur une jointure externe → erreur 500 : on verrouille la seule ligne du RDV</a:t>
            </a:r>
          </a:p>
          <a:p>
            <a:pPr algn="l">
              <a:spcBef>
                <a:spcPts val="0"/>
              </a:spcBef>
              <a:spcAft>
                <a:spcPts val="300"/>
              </a:spcAft>
            </a:pPr>
            <a:r>
              <a:rPr sz="1300" b="0">
                <a:solidFill>
                  <a:srgbClr val="404040"/>
                </a:solidFill>
                <a:latin typeface="Calibri"/>
              </a:rPr>
              <a:t>•  Dépendance circulaire au démarrage d'Angular (intercepteur ↔ authentification) → initialisation différée</a:t>
            </a:r>
          </a:p>
          <a:p>
            <a:pPr algn="l">
              <a:spcBef>
                <a:spcPts val="0"/>
              </a:spcBef>
              <a:spcAft>
                <a:spcPts val="300"/>
              </a:spcAft>
            </a:pPr>
            <a:r>
              <a:rPr sz="1300" b="0">
                <a:solidFill>
                  <a:srgbClr val="404040"/>
                </a:solidFill>
                <a:latin typeface="Calibri"/>
              </a:rPr>
              <a:t>•  Identifiants de démo invalides (UUID) refusés par la validation → génération d'UUID conformes</a:t>
            </a:r>
          </a:p>
          <a:p>
            <a:pPr algn="l">
              <a:spcBef>
                <a:spcPts val="0"/>
              </a:spcBef>
              <a:spcAft>
                <a:spcPts val="300"/>
              </a:spcAft>
            </a:pPr>
            <a:r>
              <a:rPr sz="1300" b="0">
                <a:solidFill>
                  <a:srgbClr val="404040"/>
                </a:solidFill>
                <a:latin typeface="Calibri"/>
              </a:rPr>
              <a:t>•  Fuseau horaire : rendez-vous « du jour » calculés en référence à Toronto pour rester cohérents</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8</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Avancement dans Jira</a:t>
            </a:r>
          </a:p>
          <a:p>
            <a:pPr algn="l">
              <a:spcBef>
                <a:spcPts val="0"/>
              </a:spcBef>
              <a:spcAft>
                <a:spcPts val="0"/>
              </a:spcAft>
            </a:pPr>
            <a:r>
              <a:rPr sz="1400" b="0">
                <a:solidFill>
                  <a:srgbClr val="CFE3FF"/>
                </a:solidFill>
                <a:latin typeface="Calibri"/>
              </a:rPr>
              <a:t>Répartition et progression</a:t>
            </a:r>
          </a:p>
        </p:txBody>
      </p:sp>
      <p:sp>
        <p:nvSpPr>
          <p:cNvPr id="6" name="Rectangle 5"/>
          <p:cNvSpPr/>
          <p:nvPr/>
        </p:nvSpPr>
        <p:spPr>
          <a:xfrm>
            <a:off x="411480" y="1463040"/>
            <a:ext cx="3566160"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356616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18 / 21</a:t>
            </a:r>
          </a:p>
          <a:p>
            <a:pPr algn="ctr">
              <a:spcBef>
                <a:spcPts val="0"/>
              </a:spcBef>
              <a:spcAft>
                <a:spcPts val="0"/>
              </a:spcAft>
            </a:pPr>
            <a:r>
              <a:rPr sz="1200" b="0">
                <a:solidFill>
                  <a:srgbClr val="FFFFFF"/>
                </a:solidFill>
                <a:latin typeface="Calibri"/>
              </a:rPr>
              <a:t>Tickets Sprint 2 terminés</a:t>
            </a:r>
          </a:p>
        </p:txBody>
      </p:sp>
      <p:sp>
        <p:nvSpPr>
          <p:cNvPr id="8" name="Rectangle 7"/>
          <p:cNvSpPr/>
          <p:nvPr/>
        </p:nvSpPr>
        <p:spPr>
          <a:xfrm>
            <a:off x="4160520" y="1463040"/>
            <a:ext cx="356616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60520" y="1536192"/>
            <a:ext cx="356616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 86 %</a:t>
            </a:r>
          </a:p>
          <a:p>
            <a:pPr algn="ctr">
              <a:spcBef>
                <a:spcPts val="0"/>
              </a:spcBef>
              <a:spcAft>
                <a:spcPts val="0"/>
              </a:spcAft>
            </a:pPr>
            <a:r>
              <a:rPr sz="1200" b="0">
                <a:solidFill>
                  <a:srgbClr val="FFFFFF"/>
                </a:solidFill>
                <a:latin typeface="Calibri"/>
              </a:rPr>
              <a:t>Progression du sprint</a:t>
            </a:r>
          </a:p>
        </p:txBody>
      </p:sp>
      <p:sp>
        <p:nvSpPr>
          <p:cNvPr id="10" name="Rectangle 9"/>
          <p:cNvSpPr/>
          <p:nvPr/>
        </p:nvSpPr>
        <p:spPr>
          <a:xfrm>
            <a:off x="7909560" y="1463040"/>
            <a:ext cx="3840480" cy="13716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536192"/>
            <a:ext cx="3840480" cy="1280160"/>
          </a:xfrm>
          <a:prstGeom prst="rect">
            <a:avLst/>
          </a:prstGeom>
          <a:noFill/>
        </p:spPr>
        <p:txBody>
          <a:bodyPr wrap="square" anchor="ctr">
            <a:spAutoFit/>
          </a:bodyPr>
          <a:lstStyle/>
          <a:p>
            <a:pPr algn="ctr">
              <a:spcBef>
                <a:spcPts val="0"/>
              </a:spcBef>
              <a:spcAft>
                <a:spcPts val="0"/>
              </a:spcAft>
            </a:pPr>
            <a:r>
              <a:rPr sz="3800" b="1">
                <a:solidFill>
                  <a:srgbClr val="FFFFFF"/>
                </a:solidFill>
                <a:latin typeface="Calibri"/>
              </a:rPr>
              <a:t>3</a:t>
            </a:r>
          </a:p>
          <a:p>
            <a:pPr algn="ctr">
              <a:spcBef>
                <a:spcPts val="0"/>
              </a:spcBef>
              <a:spcAft>
                <a:spcPts val="0"/>
              </a:spcAft>
            </a:pPr>
            <a:r>
              <a:rPr sz="1200" b="0">
                <a:solidFill>
                  <a:srgbClr val="FFFFFF"/>
                </a:solidFill>
                <a:latin typeface="Calibri"/>
              </a:rPr>
              <a:t>Tickets transférés au Sprint 3</a:t>
            </a:r>
          </a:p>
        </p:txBody>
      </p:sp>
      <p:sp>
        <p:nvSpPr>
          <p:cNvPr id="12" name="Rectangle 11"/>
          <p:cNvSpPr/>
          <p:nvPr/>
        </p:nvSpPr>
        <p:spPr>
          <a:xfrm>
            <a:off x="411480" y="3063240"/>
            <a:ext cx="777240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063240"/>
            <a:ext cx="76200" cy="31089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72968"/>
            <a:ext cx="7406640" cy="29260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Répartition des responsabilités (tâches terminées)</a:t>
            </a:r>
          </a:p>
          <a:p>
            <a:pPr algn="l">
              <a:spcBef>
                <a:spcPts val="0"/>
              </a:spcBef>
              <a:spcAft>
                <a:spcPts val="300"/>
              </a:spcAft>
            </a:pPr>
            <a:r>
              <a:rPr sz="1300" b="0">
                <a:solidFill>
                  <a:srgbClr val="404040"/>
                </a:solidFill>
                <a:latin typeface="Calibri"/>
              </a:rPr>
              <a:t>•  Souleymane DIALLO — authentification (15,16,17), réservation + anti-double (21),</a:t>
            </a:r>
          </a:p>
          <a:p>
            <a:pPr algn="l">
              <a:spcBef>
                <a:spcPts val="0"/>
              </a:spcBef>
              <a:spcAft>
                <a:spcPts val="300"/>
              </a:spcAft>
            </a:pPr>
            <a:r>
              <a:rPr sz="1300" b="0">
                <a:solidFill>
                  <a:srgbClr val="404040"/>
                </a:solidFill>
                <a:latin typeface="Calibri"/>
              </a:rPr>
              <a:t>•          squelettes du monorepo (28), Docker Compose (29), intégration</a:t>
            </a:r>
          </a:p>
          <a:p>
            <a:pPr algn="l">
              <a:spcBef>
                <a:spcPts val="0"/>
              </a:spcBef>
              <a:spcAft>
                <a:spcPts val="300"/>
              </a:spcAft>
            </a:pPr>
            <a:r>
              <a:rPr sz="1300" b="0">
                <a:solidFill>
                  <a:srgbClr val="404040"/>
                </a:solidFill>
                <a:latin typeface="Calibri"/>
              </a:rPr>
              <a:t>•  Zakaria Lahouiri — disponibilités des médecins (20), flux clinique du jour (23)</a:t>
            </a:r>
          </a:p>
          <a:p>
            <a:pPr algn="l">
              <a:spcBef>
                <a:spcPts val="0"/>
              </a:spcBef>
              <a:spcAft>
                <a:spcPts val="300"/>
              </a:spcAft>
            </a:pPr>
            <a:r>
              <a:rPr sz="1300" b="0">
                <a:solidFill>
                  <a:srgbClr val="404040"/>
                </a:solidFill>
                <a:latin typeface="Calibri"/>
              </a:rPr>
              <a:t>•  Larbi Saib — patient léger (35), réservation par la réception (36), socle RDV (49)</a:t>
            </a:r>
          </a:p>
          <a:p>
            <a:pPr algn="l">
              <a:spcBef>
                <a:spcPts val="0"/>
              </a:spcBef>
              <a:spcAft>
                <a:spcPts val="300"/>
              </a:spcAft>
            </a:pPr>
            <a:r>
              <a:rPr sz="1300" b="0">
                <a:solidFill>
                  <a:srgbClr val="404040"/>
                </a:solidFill>
                <a:latin typeface="Calibri"/>
              </a:rPr>
              <a:t>•  Frontend d'authentification &amp; refonte UI (42–48) — terminés, effort partagé</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En cours (Sprint 3) : notifications internes (25, Zakaria)</a:t>
            </a:r>
          </a:p>
          <a:p>
            <a:pPr algn="l">
              <a:spcBef>
                <a:spcPts val="0"/>
              </a:spcBef>
              <a:spcAft>
                <a:spcPts val="300"/>
              </a:spcAft>
            </a:pPr>
            <a:r>
              <a:rPr sz="1300" b="0">
                <a:solidFill>
                  <a:srgbClr val="404040"/>
                </a:solidFill>
                <a:latin typeface="Calibri"/>
              </a:rPr>
              <a:t>•  Livré en avance sur le Sprint 3 : annulation d'un RDV avec motif (22)</a:t>
            </a:r>
          </a:p>
        </p:txBody>
      </p:sp>
      <p:sp>
        <p:nvSpPr>
          <p:cNvPr id="15" name="Rectangle 14"/>
          <p:cNvSpPr/>
          <p:nvPr/>
        </p:nvSpPr>
        <p:spPr>
          <a:xfrm>
            <a:off x="8366760" y="3063240"/>
            <a:ext cx="338328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3063240"/>
            <a:ext cx="76200" cy="310896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3172968"/>
            <a:ext cx="3017520" cy="2926080"/>
          </a:xfrm>
          <a:prstGeom prst="rect">
            <a:avLst/>
          </a:prstGeom>
          <a:noFill/>
        </p:spPr>
        <p:txBody>
          <a:bodyPr wrap="square">
            <a:spAutoFit/>
          </a:bodyPr>
          <a:lstStyle/>
          <a:p>
            <a:pPr algn="l">
              <a:spcBef>
                <a:spcPts val="0"/>
              </a:spcBef>
              <a:spcAft>
                <a:spcPts val="400"/>
              </a:spcAft>
            </a:pPr>
            <a:r>
              <a:rPr sz="1600" b="1">
                <a:solidFill>
                  <a:srgbClr val="404040"/>
                </a:solidFill>
                <a:latin typeface="Calibri"/>
              </a:rPr>
              <a:t>Transféré au Sprint 3</a:t>
            </a:r>
          </a:p>
          <a:p>
            <a:pPr algn="l">
              <a:spcBef>
                <a:spcPts val="0"/>
              </a:spcBef>
              <a:spcAft>
                <a:spcPts val="300"/>
              </a:spcAft>
            </a:pPr>
            <a:r>
              <a:rPr sz="1300" b="0">
                <a:solidFill>
                  <a:srgbClr val="404040"/>
                </a:solidFill>
                <a:latin typeface="Calibri"/>
              </a:rPr>
              <a:t>•  CRUD médecins par l'admin</a:t>
            </a:r>
          </a:p>
          <a:p>
            <a:pPr algn="l">
              <a:spcBef>
                <a:spcPts val="0"/>
              </a:spcBef>
              <a:spcAft>
                <a:spcPts val="300"/>
              </a:spcAft>
            </a:pPr>
            <a:r>
              <a:rPr sz="1300" b="0">
                <a:solidFill>
                  <a:srgbClr val="404040"/>
                </a:solidFill>
                <a:latin typeface="Calibri"/>
              </a:rPr>
              <a:t>•     (MEDIPLAN-34)</a:t>
            </a:r>
          </a:p>
          <a:p>
            <a:pPr algn="l">
              <a:spcBef>
                <a:spcPts val="0"/>
              </a:spcBef>
              <a:spcAft>
                <a:spcPts val="300"/>
              </a:spcAft>
            </a:pPr>
            <a:r>
              <a:rPr sz="1300" b="0">
                <a:solidFill>
                  <a:srgbClr val="404040"/>
                </a:solidFill>
                <a:latin typeface="Calibri"/>
              </a:rPr>
              <a:t>•  Précision doc UC-02</a:t>
            </a:r>
          </a:p>
          <a:p>
            <a:pPr algn="l">
              <a:spcBef>
                <a:spcPts val="0"/>
              </a:spcBef>
              <a:spcAft>
                <a:spcPts val="300"/>
              </a:spcAft>
            </a:pPr>
            <a:r>
              <a:rPr sz="1300" b="0">
                <a:solidFill>
                  <a:srgbClr val="404040"/>
                </a:solidFill>
                <a:latin typeface="Calibri"/>
              </a:rPr>
              <a:t>•     (MEDIPLAN-38)</a:t>
            </a:r>
          </a:p>
          <a:p>
            <a:pPr algn="l">
              <a:spcBef>
                <a:spcPts val="0"/>
              </a:spcBef>
              <a:spcAft>
                <a:spcPts val="300"/>
              </a:spcAft>
            </a:pPr>
            <a:r>
              <a:rPr sz="1300" b="0">
                <a:solidFill>
                  <a:srgbClr val="404040"/>
                </a:solidFill>
                <a:latin typeface="Calibri"/>
              </a:rPr>
              <a:t>•  Secrets / variables</a:t>
            </a:r>
          </a:p>
          <a:p>
            <a:pPr algn="l">
              <a:spcBef>
                <a:spcPts val="0"/>
              </a:spcBef>
              <a:spcAft>
                <a:spcPts val="300"/>
              </a:spcAft>
            </a:pPr>
            <a:r>
              <a:rPr sz="1300" b="0">
                <a:solidFill>
                  <a:srgbClr val="404040"/>
                </a:solidFill>
                <a:latin typeface="Calibri"/>
              </a:rPr>
              <a:t>•     d'environnement (MEDIPLAN-39)</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Non bloquants pour la</a:t>
            </a:r>
          </a:p>
          <a:p>
            <a:pPr algn="l">
              <a:spcBef>
                <a:spcPts val="0"/>
              </a:spcBef>
              <a:spcAft>
                <a:spcPts val="300"/>
              </a:spcAft>
            </a:pPr>
            <a:r>
              <a:rPr sz="1300" b="0">
                <a:solidFill>
                  <a:srgbClr val="404040"/>
                </a:solidFill>
                <a:latin typeface="Calibri"/>
              </a:rPr>
              <a:t>•     démonstration</a:t>
            </a:r>
          </a:p>
        </p:txBody>
      </p:sp>
      <p:sp>
        <p:nvSpPr>
          <p:cNvPr id="18" name="TextBox 1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9" name="TextBox 1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9</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700" b="1">
                <a:solidFill>
                  <a:srgbClr val="FFFFFF"/>
                </a:solidFill>
                <a:latin typeface="Calibri"/>
              </a:rPr>
              <a:t>Prochaines étapes — Sprint 3</a:t>
            </a:r>
          </a:p>
          <a:p>
            <a:pPr algn="l">
              <a:spcBef>
                <a:spcPts val="0"/>
              </a:spcBef>
              <a:spcAft>
                <a:spcPts val="0"/>
              </a:spcAft>
            </a:pPr>
            <a:r>
              <a:rPr sz="1400" b="0">
                <a:solidFill>
                  <a:srgbClr val="CFE3FF"/>
                </a:solidFill>
                <a:latin typeface="Calibri"/>
              </a:rPr>
              <a:t>Ce qui reste et nos priorités</a:t>
            </a:r>
          </a:p>
        </p:txBody>
      </p:sp>
      <p:sp>
        <p:nvSpPr>
          <p:cNvPr id="6" name="Rectangle 5"/>
          <p:cNvSpPr/>
          <p:nvPr/>
        </p:nvSpPr>
        <p:spPr>
          <a:xfrm>
            <a:off x="411480" y="1508760"/>
            <a:ext cx="5577840" cy="2834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76200" cy="28346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18488"/>
            <a:ext cx="5212080" cy="26517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Priorités du Sprint 3 (cycle de vie du RDV)</a:t>
            </a:r>
          </a:p>
          <a:p>
            <a:pPr algn="l">
              <a:spcBef>
                <a:spcPts val="0"/>
              </a:spcBef>
              <a:spcAft>
                <a:spcPts val="300"/>
              </a:spcAft>
            </a:pPr>
            <a:r>
              <a:rPr sz="1300" b="0">
                <a:solidFill>
                  <a:srgbClr val="404040"/>
                </a:solidFill>
                <a:latin typeface="Calibri"/>
              </a:rPr>
              <a:t>•  Annuler un RDV avec motif — déjà livré, à valider (22)</a:t>
            </a:r>
          </a:p>
          <a:p>
            <a:pPr algn="l">
              <a:spcBef>
                <a:spcPts val="0"/>
              </a:spcBef>
              <a:spcAft>
                <a:spcPts val="300"/>
              </a:spcAft>
            </a:pPr>
            <a:r>
              <a:rPr sz="1300" b="0">
                <a:solidFill>
                  <a:srgbClr val="404040"/>
                </a:solidFill>
                <a:latin typeface="Calibri"/>
              </a:rPr>
              <a:t>•  Notifications internes sur les changements (25) — en cours</a:t>
            </a:r>
          </a:p>
          <a:p>
            <a:pPr algn="l">
              <a:spcBef>
                <a:spcPts val="0"/>
              </a:spcBef>
              <a:spcAft>
                <a:spcPts val="300"/>
              </a:spcAft>
            </a:pPr>
            <a:r>
              <a:rPr sz="1300" b="0">
                <a:solidFill>
                  <a:srgbClr val="404040"/>
                </a:solidFill>
                <a:latin typeface="Calibri"/>
              </a:rPr>
              <a:t>•  Statistiques complètes du tableau de bord (26)</a:t>
            </a:r>
          </a:p>
          <a:p>
            <a:pPr algn="l">
              <a:spcBef>
                <a:spcPts val="0"/>
              </a:spcBef>
              <a:spcAft>
                <a:spcPts val="300"/>
              </a:spcAft>
            </a:pPr>
            <a:r>
              <a:rPr sz="1300" b="0">
                <a:solidFill>
                  <a:srgbClr val="404040"/>
                </a:solidFill>
                <a:latin typeface="Calibri"/>
              </a:rPr>
              <a:t>•  Sécurité RDV : garde-fou patient léger + accès</a:t>
            </a:r>
          </a:p>
          <a:p>
            <a:pPr algn="l">
              <a:spcBef>
                <a:spcPts val="0"/>
              </a:spcBef>
              <a:spcAft>
                <a:spcPts val="300"/>
              </a:spcAft>
            </a:pPr>
            <a:r>
              <a:rPr sz="1300" b="0">
                <a:solidFill>
                  <a:srgbClr val="404040"/>
                </a:solidFill>
                <a:latin typeface="Calibri"/>
              </a:rPr>
              <a:t>•     en lecture cloisonné (50)</a:t>
            </a:r>
          </a:p>
          <a:p>
            <a:pPr algn="l">
              <a:spcBef>
                <a:spcPts val="0"/>
              </a:spcBef>
              <a:spcAft>
                <a:spcPts val="300"/>
              </a:spcAft>
            </a:pPr>
            <a:r>
              <a:rPr sz="1300" b="0">
                <a:solidFill>
                  <a:srgbClr val="404040"/>
                </a:solidFill>
                <a:latin typeface="Calibri"/>
              </a:rPr>
              <a:t>•  Décaler en bloc les rendez-vous d'un médecin (24)</a:t>
            </a:r>
          </a:p>
        </p:txBody>
      </p:sp>
      <p:sp>
        <p:nvSpPr>
          <p:cNvPr id="9" name="Rectangle 8"/>
          <p:cNvSpPr/>
          <p:nvPr/>
        </p:nvSpPr>
        <p:spPr>
          <a:xfrm>
            <a:off x="6172200" y="1508760"/>
            <a:ext cx="5577840" cy="28346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6200" cy="283464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18488"/>
            <a:ext cx="5212080" cy="2651760"/>
          </a:xfrm>
          <a:prstGeom prst="rect">
            <a:avLst/>
          </a:prstGeom>
          <a:noFill/>
        </p:spPr>
        <p:txBody>
          <a:bodyPr wrap="square">
            <a:spAutoFit/>
          </a:bodyPr>
          <a:lstStyle/>
          <a:p>
            <a:pPr algn="l">
              <a:spcBef>
                <a:spcPts val="0"/>
              </a:spcBef>
              <a:spcAft>
                <a:spcPts val="400"/>
              </a:spcAft>
            </a:pPr>
            <a:r>
              <a:rPr sz="1600" b="1">
                <a:solidFill>
                  <a:srgbClr val="404040"/>
                </a:solidFill>
                <a:latin typeface="Calibri"/>
              </a:rPr>
              <a:t>Reporté depuis le Sprint 2</a:t>
            </a:r>
          </a:p>
          <a:p>
            <a:pPr algn="l">
              <a:spcBef>
                <a:spcPts val="0"/>
              </a:spcBef>
              <a:spcAft>
                <a:spcPts val="300"/>
              </a:spcAft>
            </a:pPr>
            <a:r>
              <a:rPr sz="1300" b="0">
                <a:solidFill>
                  <a:srgbClr val="404040"/>
                </a:solidFill>
                <a:latin typeface="Calibri"/>
              </a:rPr>
              <a:t>•  Gestion des médecins par l'admin (34)</a:t>
            </a:r>
          </a:p>
          <a:p>
            <a:pPr algn="l">
              <a:spcBef>
                <a:spcPts val="0"/>
              </a:spcBef>
              <a:spcAft>
                <a:spcPts val="300"/>
              </a:spcAft>
            </a:pPr>
            <a:r>
              <a:rPr sz="1300" b="0">
                <a:solidFill>
                  <a:srgbClr val="404040"/>
                </a:solidFill>
                <a:latin typeface="Calibri"/>
              </a:rPr>
              <a:t>•  Précision documentaire UC-02 (38)</a:t>
            </a:r>
          </a:p>
          <a:p>
            <a:pPr algn="l">
              <a:spcBef>
                <a:spcPts val="0"/>
              </a:spcBef>
              <a:spcAft>
                <a:spcPts val="300"/>
              </a:spcAft>
            </a:pPr>
            <a:r>
              <a:rPr sz="1300" b="0">
                <a:solidFill>
                  <a:srgbClr val="404040"/>
                </a:solidFill>
                <a:latin typeface="Calibri"/>
              </a:rPr>
              <a:t>•  Variables d'environnement &amp; secrets (39)</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Puis, en finalisation :</a:t>
            </a:r>
          </a:p>
          <a:p>
            <a:pPr algn="l">
              <a:spcBef>
                <a:spcPts val="0"/>
              </a:spcBef>
              <a:spcAft>
                <a:spcPts val="300"/>
              </a:spcAft>
            </a:pPr>
            <a:r>
              <a:rPr sz="1300" b="0">
                <a:solidFill>
                  <a:srgbClr val="404040"/>
                </a:solidFill>
                <a:latin typeface="Calibri"/>
              </a:rPr>
              <a:t>•     export CSV, intégration continue (CI),</a:t>
            </a:r>
          </a:p>
          <a:p>
            <a:pPr algn="l">
              <a:spcBef>
                <a:spcPts val="0"/>
              </a:spcBef>
              <a:spcAft>
                <a:spcPts val="300"/>
              </a:spcAft>
            </a:pPr>
            <a:r>
              <a:rPr sz="1300" b="0">
                <a:solidFill>
                  <a:srgbClr val="404040"/>
                </a:solidFill>
                <a:latin typeface="Calibri"/>
              </a:rPr>
              <a:t>•     déploiement, documentation des tests</a:t>
            </a:r>
          </a:p>
        </p:txBody>
      </p:sp>
      <p:sp>
        <p:nvSpPr>
          <p:cNvPr id="12" name="Rectangle 11"/>
          <p:cNvSpPr/>
          <p:nvPr/>
        </p:nvSpPr>
        <p:spPr>
          <a:xfrm>
            <a:off x="411480" y="4526280"/>
            <a:ext cx="11338560" cy="16459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526280"/>
            <a:ext cx="76200" cy="16459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36008"/>
            <a:ext cx="10972800" cy="14630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En un mot</a:t>
            </a:r>
          </a:p>
          <a:p>
            <a:pPr algn="l">
              <a:spcBef>
                <a:spcPts val="0"/>
              </a:spcBef>
              <a:spcAft>
                <a:spcPts val="300"/>
              </a:spcAft>
            </a:pPr>
            <a:r>
              <a:rPr sz="1300" b="0">
                <a:solidFill>
                  <a:srgbClr val="404040"/>
                </a:solidFill>
                <a:latin typeface="Calibri"/>
              </a:rPr>
              <a:t>•  Le Sprint 2 livre une tranche complète : se connecter → définir des disponibilités → réserver → suivre la journée.</a:t>
            </a:r>
          </a:p>
          <a:p>
            <a:pPr algn="l">
              <a:spcBef>
                <a:spcPts val="0"/>
              </a:spcBef>
              <a:spcAft>
                <a:spcPts val="300"/>
              </a:spcAft>
            </a:pPr>
            <a:r>
              <a:rPr sz="1300" b="0">
                <a:solidFill>
                  <a:srgbClr val="404040"/>
                </a:solidFill>
                <a:latin typeface="Calibri"/>
              </a:rPr>
              <a:t>•  Le Sprint 3 ajoute le cycle de vie (annulation, notifications, statistiques) et durcit la sécurité des rendez-vous.</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320040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280160"/>
          </a:xfrm>
          <a:prstGeom prst="rect">
            <a:avLst/>
          </a:prstGeom>
          <a:noFill/>
        </p:spPr>
        <p:txBody>
          <a:bodyPr wrap="square">
            <a:spAutoFit/>
          </a:bodyPr>
          <a:lstStyle/>
          <a:p>
            <a:pPr algn="ctr">
              <a:spcBef>
                <a:spcPts val="0"/>
              </a:spcBef>
              <a:spcAft>
                <a:spcPts val="0"/>
              </a:spcAft>
            </a:pPr>
            <a:r>
              <a:rPr sz="4000" b="1">
                <a:solidFill>
                  <a:srgbClr val="FFFFFF"/>
                </a:solidFill>
                <a:latin typeface="Calibri"/>
              </a:rPr>
              <a:t>Merci de votre attention</a:t>
            </a:r>
          </a:p>
        </p:txBody>
      </p:sp>
      <p:sp>
        <p:nvSpPr>
          <p:cNvPr id="4" name="TextBox 3"/>
          <p:cNvSpPr txBox="1"/>
          <p:nvPr/>
        </p:nvSpPr>
        <p:spPr>
          <a:xfrm>
            <a:off x="914400" y="3474720"/>
            <a:ext cx="10332720" cy="1463040"/>
          </a:xfrm>
          <a:prstGeom prst="rect">
            <a:avLst/>
          </a:prstGeom>
          <a:noFill/>
        </p:spPr>
        <p:txBody>
          <a:bodyPr wrap="square">
            <a:spAutoFit/>
          </a:bodyPr>
          <a:lstStyle/>
          <a:p>
            <a:pPr algn="ctr">
              <a:spcBef>
                <a:spcPts val="0"/>
              </a:spcBef>
              <a:spcAft>
                <a:spcPts val="0"/>
              </a:spcAft>
            </a:pPr>
            <a:r>
              <a:rPr sz="2800" b="1">
                <a:solidFill>
                  <a:srgbClr val="CFE3FF"/>
                </a:solidFill>
                <a:latin typeface="Calibri"/>
              </a:rPr>
              <a:t>Questions ?</a:t>
            </a:r>
          </a:p>
          <a:p>
            <a:pPr algn="ctr">
              <a:spcBef>
                <a:spcPts val="0"/>
              </a:spcBef>
              <a:spcAft>
                <a:spcPts val="1400"/>
              </a:spcAft>
            </a:pPr>
            <a:r>
              <a:rPr sz="1600" b="0">
                <a:solidFill>
                  <a:srgbClr val="9FC8F5"/>
                </a:solidFill>
                <a:latin typeface="Calibri"/>
              </a:rPr>
              <a:t>Équipe MediPlan — Souleymane DIALLO  ·  Zakaria Lahouiri  ·  Larbi Saib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