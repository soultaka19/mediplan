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26373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Bonjour. Nous venons vous présenter ce que nous avons réalisé au Sprint 2 de MediPlan, notre plateforme de gestion des rendez-vous médicaux. Nous allons rappeler brièvement le projet, l'objectif du sprint, comment la solution est construite, vous démontrer ce qui fonctionne, présenter nos tests, les difficultés rencontrées et ce qui passe au Sprint 3. Chacun de nous présentera sa partie. Environ dix minutes.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D'abord un rappel. Le problème : dans une clinique, la prise de rendez-vous se fait au téléphone, à la main — agendas papier, doubles réservations, oublis — et la réception n'a pas de vue claire de sa journée. Notre solution est une application web où la réception gère les rendez-vous à la place des patients, qui appellent. On saisit les disponibilités d'un médecin, le système génère les créneaux réservables, et la réception réserve. L'utilisateur principal est donc la réception ; le médecin consulte sa journée ; le patient est « léger », créé au comptoir sans compte. Le tout en Angular, NestJS, PostgreSQL et Docker.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L'objectif du Sprint 2 : qu'une réception puisse se connecter de façon sécurisée, définir les disponibilités des médecins et réserver un rendez-vous pour un patient, sans jamais créer de double réservation. Les fonctionnalités visées : l'authentification complète avec le contrôle d'accès par rôle, le patient léger, les disponibilités, la génération des créneaux, la réservation par la réception, le flux du jour, et une interface soignée. Nous avons choisi ce périmètre parce que c'est la tranche la plus utile : de la connexion jusqu'à un vrai rendez-vous dans l'agenda, en couvrant le cœur métier et la sécurité.</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Voici comment la solution est construite. Trois parties dans un seul dépôt (monorepo) : un frontend Angular, un backend NestJS, et une base PostgreSQL. Elles communiquent ainsi : le navigateur envoie une requête au backend avec un jeton d'authentification ; NestJS vérifie le jeton, le rôle de l'utilisateur et les données reçues, puis applique la règle métier ; TypeORM écrit en base dans une transaction, et c'est un index unique en base qui garantit qu'un créneau n'est réservé qu'une seule fois ; enfin la réponse revient au frontend qui rafraîchit l'écran. Docker permet de tout lancer d'une commande.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détail, couche par couche. La base : PostgreSQL, un schéma issu de notre modèle de conception, avec des migrations versionnées. La pièce maîtresse est un index unique partiel sur le créneau : c'est la base de données elle-même qui empêche deux réservations sur le même créneau. Le patient léger est un utilisateur sans mot de passe, donc non connectable. Le backend, en NestJS, expose une API REST organisée en modules ; il gère l'authentification JWT, le contrôle d'accès par rôle via des guards, valide toutes les entrées, et utilise des transactions pour la réservation. Le frontend, en Angular, utilise des composants autonomes et un état réactif ; toute l'interface passe par un design system unique, avec un mode sombre complet, et masque les écrans selon le rôle de l'utilisateur.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Passons à la démonstration — je pilote l'application. Je me connecte comme la réception : l'en-tête affiche le nom Alice Tremblay, pas l'e-mail, car le profil vient du serveur. Je crée une disponibilité datée avec une durée, et le système génère tout seul les créneaux réservables. Ensuite je réserve : je choisis le médecin, un créneau libre, je saisis le patient et un motif, et le rendez-vous entre dans l'agenda. Dans le flux du jour, je déroule le cycle de consultation : arrivé, en consultation, terminé. Je montre aussi l'annulation avec motif, qui libère le créneau — une fonctionnalité que nous avons déjà livrée. Enfin, le contrôle d'accès se voit à l'écran : l'entrée « Utilisateurs » disparaît pour un médecin. Et le mode sombre bascule d'un clic. Consigne pratique : naviguer par le menu, éviter de multiplier les rechargements.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Côté tests, nous avons 171 tests automatisés qui passent : 48 sur le backend, 123 sur le frontend, zéro en échec. Sur le backend, nous testons les services et les contrôleurs — authentification, disponibilités, réservation, flux — et la validation des données. Le point important : l'anti-double-réservation est testé en situation de concurrence, deux réservations simultanées sur le même créneau. Sur le frontend, nous testons les composants, les services, les guards de rôle et les intercepteurs. Nous complétons par des vérifications manuelles dans le navigateur. Nous avons aussi trouvé et corrigé de vrais bogues : une erreur 500 à la réservation due à un verrou SQL mal placé ; un sélecteur de médecin qui ne s'ouvrait pas parce que l'étiquette captait le clic ; des rendez-vous du jour vides à cause du fuseau horaire ; l'en-tête qui affichait l'e-mail au lieu du nom ; et un motif d'annulation vide accepté. Tous corrigés.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Nos difficultés, en toute transparence. Sur l'organisation d'abord : au départ, plusieurs branches ont vécu en parallèle sans être fusionnées, ce qui a produit des migrations en double et un module recréé deux fois. Nous avons dû tout réintégrer à la main, et surtout nous en avons tiré six règles de travail que nous appliquons depuis : le code qui touche la base passe en premier, aucune branche ne vit plus de trois jours sans être proposée à la fusion, un seul module par tâche, et on ne fusionne que si les tests passent. Sur la technique, la vraie question était la réservation concurrente : empêcher deux personnes de prendre le même créneau au même instant. Notre solution : c'est la base de données qui tric — un index unique et une transaction avec verrou. On l'a vérifié par un test de concurrence. Nous avons aussi levé plusieurs bogues plus pointus, comme un verrou SQL mal placé et une dépendance circulaire au démarrage.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Dans Jira, le Sprint 2 est terminé à 86 pour cent : 18 tickets sur 21. La répartition : j'ai porté l'authentification, la réservation avec l'anti-double-réservation, la mise en place du monorepo et Docker, et l'intégration. Zakaria a fait les disponibilités des médecins et le flux du jour. Larbi a modélisé le patient léger, la réservation par la réception et le socle technique des rendez-vous. Le frontend d'authentification et la refonte de l'interface ont été un effort partagé. Trois tickets passent au Sprint 3 : la gestion des médecins par l'admin, une précision de documentation, et les variables d'environnement — aucun n'est bloquant. Une notification interne est déjà en cours, et nous avons même livré l'annulation en avance ; nous mettrons Jira à jour en conséquence.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la suite, le Sprint 3 porte sur le cycle de vie complet du rendez-vous. L'annulation avec motif est déjà livrée, il nous reste à la valider officiellement. Les notifications internes sont en cours. Viennent ensuite les statistiques réelles du tableau de bord, un renforcement de la sécurité des rendez-vous, et le décalage en bloc. Nous reprenons aussi les trois tickets reportés du Sprint 2. En résumé : le Sprint 2 livre une tranche complète, de la connexion au suivi de la journée ; le Sprint 3 ajoute le cycle de vie et durcit la sécurité.</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résumé, le Sprint 2 est réalisé et intégré : authentification sécurisée, disponibilités, réservation par la réception sans double-réservation, flux du jour, le tout couvert par 171 tests. Nous sommes disponibles pour vos questions.</a:t>
            </a:r>
          </a:p>
          <a:p>
            <a:endParaRPr/>
          </a:p>
          <a:p>
            <a:r>
              <a:t>Questions probables :</a:t>
            </a:r>
          </a:p>
          <a:p>
            <a:r>
              <a:t>— « Pourquoi le patient ne réserve pas lui-même ? » → Choix métier : l'utilisateur réel est la réception ; le patient appelle. Le libre-service pourra venir plus tard.</a:t>
            </a:r>
          </a:p>
          <a:p>
            <a:r>
              <a:t>— « Comment empêchez-vous les doubles réservations ? » → Un index unique en base et une transaction avec verrou ; testé en concurrence.</a:t>
            </a:r>
          </a:p>
          <a:p>
            <a:r>
              <a:t>— « Les données sont-elles protégées ? » → RBAC à 4 rôles, cloisonnement par clinique, mots de passe hachés (bcrypt), verrouillage de compte.</a:t>
            </a:r>
          </a:p>
          <a:p>
            <a:r>
              <a:t>— « Qu'est-ce qui n'était pas fini ? » → Trois tickets non bloquants transférés au Sprint 3 (gestion des médecins, doc, secrets).</a:t>
            </a:r>
          </a:p>
          <a:p>
            <a:r>
              <a:t>— Chaque membre peut détailler sa contribution : voir la diapositive Jira.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54D8C"/>
        </a:solidFill>
        <a:effectLst/>
      </p:bgPr>
    </p:bg>
    <p:spTree>
      <p:nvGrpSpPr>
        <p:cNvPr id="1" name=""/>
        <p:cNvGrpSpPr/>
        <p:nvPr/>
      </p:nvGrpSpPr>
      <p:grpSpPr>
        <a:xfrm>
          <a:off x="0" y="0"/>
          <a:ext cx="0" cy="0"/>
          <a:chOff x="0" y="0"/>
          <a:chExt cx="0" cy="0"/>
        </a:xfrm>
      </p:grpSpPr>
      <p:sp>
        <p:nvSpPr>
          <p:cNvPr id="2" name="Rectangle 1"/>
          <p:cNvSpPr/>
          <p:nvPr/>
        </p:nvSpPr>
        <p:spPr>
          <a:xfrm>
            <a:off x="0" y="278892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188720"/>
            <a:ext cx="10332720" cy="1280160"/>
          </a:xfrm>
          <a:prstGeom prst="rect">
            <a:avLst/>
          </a:prstGeom>
          <a:noFill/>
        </p:spPr>
        <p:txBody>
          <a:bodyPr wrap="square">
            <a:spAutoFit/>
          </a:bodyPr>
          <a:lstStyle/>
          <a:p>
            <a:pPr algn="ctr">
              <a:spcBef>
                <a:spcPts val="0"/>
              </a:spcBef>
              <a:spcAft>
                <a:spcPts val="0"/>
              </a:spcAft>
            </a:pPr>
            <a:r>
              <a:rPr sz="5800" b="1">
                <a:solidFill>
                  <a:srgbClr val="FFFFFF"/>
                </a:solidFill>
                <a:latin typeface="Calibri"/>
              </a:rPr>
              <a:t>MediPlan</a:t>
            </a:r>
          </a:p>
        </p:txBody>
      </p:sp>
      <p:sp>
        <p:nvSpPr>
          <p:cNvPr id="4" name="TextBox 3"/>
          <p:cNvSpPr txBox="1"/>
          <p:nvPr/>
        </p:nvSpPr>
        <p:spPr>
          <a:xfrm>
            <a:off x="914400" y="2011680"/>
            <a:ext cx="10332720" cy="640080"/>
          </a:xfrm>
          <a:prstGeom prst="rect">
            <a:avLst/>
          </a:prstGeom>
          <a:noFill/>
        </p:spPr>
        <p:txBody>
          <a:bodyPr wrap="square">
            <a:spAutoFit/>
          </a:bodyPr>
          <a:lstStyle/>
          <a:p>
            <a:pPr algn="ctr">
              <a:spcBef>
                <a:spcPts val="0"/>
              </a:spcBef>
              <a:spcAft>
                <a:spcPts val="0"/>
              </a:spcAft>
            </a:pPr>
            <a:r>
              <a:rPr sz="2200" b="0">
                <a:solidFill>
                  <a:srgbClr val="CFE3FF"/>
                </a:solidFill>
                <a:latin typeface="Calibri"/>
              </a:rPr>
              <a:t>Plateforme web de gestion des rendez-vous médicaux</a:t>
            </a:r>
          </a:p>
        </p:txBody>
      </p:sp>
      <p:sp>
        <p:nvSpPr>
          <p:cNvPr id="5" name="TextBox 4"/>
          <p:cNvSpPr txBox="1"/>
          <p:nvPr/>
        </p:nvSpPr>
        <p:spPr>
          <a:xfrm>
            <a:off x="914400" y="2971800"/>
            <a:ext cx="10332720" cy="902811"/>
          </a:xfrm>
          <a:prstGeom prst="rect">
            <a:avLst/>
          </a:prstGeom>
          <a:noFill/>
        </p:spPr>
        <p:txBody>
          <a:bodyPr wrap="square">
            <a:spAutoFit/>
          </a:bodyPr>
          <a:lstStyle/>
          <a:p>
            <a:pPr algn="ctr">
              <a:spcBef>
                <a:spcPts val="0"/>
              </a:spcBef>
              <a:spcAft>
                <a:spcPts val="800"/>
              </a:spcAft>
            </a:pPr>
            <a:r>
              <a:rPr sz="2800" b="1" dirty="0" err="1">
                <a:solidFill>
                  <a:srgbClr val="FFFFFF"/>
                </a:solidFill>
                <a:latin typeface="Calibri"/>
              </a:rPr>
              <a:t>Présentation</a:t>
            </a:r>
            <a:r>
              <a:rPr sz="2800" b="1" dirty="0">
                <a:solidFill>
                  <a:srgbClr val="FFFFFF"/>
                </a:solidFill>
                <a:latin typeface="Calibri"/>
              </a:rPr>
              <a:t> du Sprint 2</a:t>
            </a:r>
          </a:p>
          <a:p>
            <a:pPr algn="ctr">
              <a:spcBef>
                <a:spcPts val="0"/>
              </a:spcBef>
              <a:spcAft>
                <a:spcPts val="0"/>
              </a:spcAft>
            </a:pPr>
            <a:r>
              <a:rPr sz="1800" b="0" dirty="0">
                <a:solidFill>
                  <a:srgbClr val="9FC8F5"/>
                </a:solidFill>
                <a:latin typeface="Calibri"/>
              </a:rPr>
              <a:t>Revue de r</a:t>
            </a:r>
            <a:r>
              <a:rPr lang="fr-FR" sz="1800" b="0" dirty="0" err="1">
                <a:solidFill>
                  <a:srgbClr val="9FC8F5"/>
                </a:solidFill>
                <a:latin typeface="Calibri"/>
              </a:rPr>
              <a:t>ealiz</a:t>
            </a:r>
            <a:r>
              <a:rPr sz="1800" b="0" dirty="0" err="1">
                <a:solidFill>
                  <a:srgbClr val="9FC8F5"/>
                </a:solidFill>
                <a:latin typeface="Calibri"/>
              </a:rPr>
              <a:t>ation</a:t>
            </a:r>
            <a:r>
              <a:rPr lang="en-US" dirty="0">
                <a:solidFill>
                  <a:srgbClr val="9FC8F5"/>
                </a:solidFill>
                <a:latin typeface="Calibri"/>
              </a:rPr>
              <a:t>, </a:t>
            </a:r>
            <a:r>
              <a:rPr sz="1800" b="0" dirty="0" err="1">
                <a:solidFill>
                  <a:srgbClr val="9FC8F5"/>
                </a:solidFill>
                <a:latin typeface="Calibri"/>
              </a:rPr>
              <a:t>ce</a:t>
            </a:r>
            <a:r>
              <a:rPr sz="1800" b="0" dirty="0">
                <a:solidFill>
                  <a:srgbClr val="9FC8F5"/>
                </a:solidFill>
                <a:latin typeface="Calibri"/>
              </a:rPr>
              <a:t> qui a </a:t>
            </a:r>
            <a:r>
              <a:rPr sz="1800" b="0" dirty="0" err="1">
                <a:solidFill>
                  <a:srgbClr val="9FC8F5"/>
                </a:solidFill>
                <a:latin typeface="Calibri"/>
              </a:rPr>
              <a:t>été</a:t>
            </a:r>
            <a:r>
              <a:rPr sz="1800" b="0" dirty="0">
                <a:solidFill>
                  <a:srgbClr val="9FC8F5"/>
                </a:solidFill>
                <a:latin typeface="Calibri"/>
              </a:rPr>
              <a:t> </a:t>
            </a:r>
            <a:r>
              <a:rPr sz="1800" b="0" dirty="0" err="1">
                <a:solidFill>
                  <a:srgbClr val="9FC8F5"/>
                </a:solidFill>
                <a:latin typeface="Calibri"/>
              </a:rPr>
              <a:t>développé</a:t>
            </a:r>
            <a:r>
              <a:rPr sz="1800" b="0" dirty="0">
                <a:solidFill>
                  <a:srgbClr val="9FC8F5"/>
                </a:solidFill>
                <a:latin typeface="Calibri"/>
              </a:rPr>
              <a:t>, </a:t>
            </a:r>
            <a:r>
              <a:rPr sz="1800" b="0" dirty="0" err="1">
                <a:solidFill>
                  <a:srgbClr val="9FC8F5"/>
                </a:solidFill>
                <a:latin typeface="Calibri"/>
              </a:rPr>
              <a:t>testé</a:t>
            </a:r>
            <a:r>
              <a:rPr sz="1800" b="0" dirty="0">
                <a:solidFill>
                  <a:srgbClr val="9FC8F5"/>
                </a:solidFill>
                <a:latin typeface="Calibri"/>
              </a:rPr>
              <a:t> et </a:t>
            </a:r>
            <a:r>
              <a:rPr sz="1800" b="0" dirty="0" err="1">
                <a:solidFill>
                  <a:srgbClr val="9FC8F5"/>
                </a:solidFill>
                <a:latin typeface="Calibri"/>
              </a:rPr>
              <a:t>intégré</a:t>
            </a:r>
            <a:endParaRPr sz="1800" b="0" dirty="0">
              <a:solidFill>
                <a:srgbClr val="9FC8F5"/>
              </a:solidFill>
              <a:latin typeface="Calibri"/>
            </a:endParaRPr>
          </a:p>
        </p:txBody>
      </p:sp>
      <p:sp>
        <p:nvSpPr>
          <p:cNvPr id="6" name="TextBox 5"/>
          <p:cNvSpPr txBox="1"/>
          <p:nvPr/>
        </p:nvSpPr>
        <p:spPr>
          <a:xfrm>
            <a:off x="914400" y="4846320"/>
            <a:ext cx="10332720" cy="636072"/>
          </a:xfrm>
          <a:prstGeom prst="rect">
            <a:avLst/>
          </a:prstGeom>
          <a:noFill/>
        </p:spPr>
        <p:txBody>
          <a:bodyPr wrap="square">
            <a:spAutoFit/>
          </a:bodyPr>
          <a:lstStyle/>
          <a:p>
            <a:pPr algn="ctr">
              <a:spcBef>
                <a:spcPts val="0"/>
              </a:spcBef>
              <a:spcAft>
                <a:spcPts val="400"/>
              </a:spcAft>
            </a:pPr>
            <a:r>
              <a:rPr sz="1800" b="0" dirty="0">
                <a:solidFill>
                  <a:srgbClr val="FFFFFF"/>
                </a:solidFill>
                <a:latin typeface="Calibri"/>
              </a:rPr>
              <a:t>Équipe : Souleymane DIALLO  ·  Zakaria </a:t>
            </a:r>
            <a:r>
              <a:rPr sz="1800" b="0" dirty="0" err="1">
                <a:solidFill>
                  <a:srgbClr val="FFFFFF"/>
                </a:solidFill>
                <a:latin typeface="Calibri"/>
              </a:rPr>
              <a:t>Lahouiri</a:t>
            </a:r>
            <a:r>
              <a:rPr sz="1800" b="0" dirty="0">
                <a:solidFill>
                  <a:srgbClr val="FFFFFF"/>
                </a:solidFill>
                <a:latin typeface="Calibri"/>
              </a:rPr>
              <a:t>  ·  Larbi Saib</a:t>
            </a:r>
          </a:p>
          <a:p>
            <a:pPr algn="ctr">
              <a:spcBef>
                <a:spcPts val="0"/>
              </a:spcBef>
              <a:spcAft>
                <a:spcPts val="200"/>
              </a:spcAft>
            </a:pPr>
            <a:r>
              <a:rPr sz="1400" b="0" dirty="0" err="1">
                <a:solidFill>
                  <a:srgbClr val="9FC8F5"/>
                </a:solidFill>
                <a:latin typeface="Calibri"/>
              </a:rPr>
              <a:t>Projet</a:t>
            </a:r>
            <a:r>
              <a:rPr sz="1400" b="0" dirty="0">
                <a:solidFill>
                  <a:srgbClr val="9FC8F5"/>
                </a:solidFill>
                <a:latin typeface="Calibri"/>
              </a:rPr>
              <a:t> </a:t>
            </a:r>
            <a:r>
              <a:rPr sz="1400" b="0" dirty="0" err="1">
                <a:solidFill>
                  <a:srgbClr val="9FC8F5"/>
                </a:solidFill>
                <a:latin typeface="Calibri"/>
              </a:rPr>
              <a:t>intégrateur</a:t>
            </a:r>
            <a:r>
              <a:rPr lang="en-US" sz="1400" dirty="0">
                <a:solidFill>
                  <a:srgbClr val="9FC8F5"/>
                </a:solidFill>
                <a:latin typeface="Calibri"/>
              </a:rPr>
              <a:t> : </a:t>
            </a:r>
            <a:r>
              <a:rPr sz="1400" b="0" dirty="0" err="1">
                <a:solidFill>
                  <a:srgbClr val="9FC8F5"/>
                </a:solidFill>
                <a:latin typeface="Calibri"/>
              </a:rPr>
              <a:t>Programmation</a:t>
            </a:r>
            <a:r>
              <a:rPr sz="1400" b="0" dirty="0">
                <a:solidFill>
                  <a:srgbClr val="9FC8F5"/>
                </a:solidFill>
                <a:latin typeface="Calibri"/>
              </a:rPr>
              <a:t> </a:t>
            </a:r>
            <a:r>
              <a:rPr sz="1400" b="0" dirty="0" err="1">
                <a:solidFill>
                  <a:srgbClr val="9FC8F5"/>
                </a:solidFill>
                <a:latin typeface="Calibri"/>
              </a:rPr>
              <a:t>informatique</a:t>
            </a:r>
            <a:r>
              <a:rPr sz="1400" b="0" dirty="0">
                <a:solidFill>
                  <a:srgbClr val="9FC8F5"/>
                </a:solidFill>
                <a:latin typeface="Calibri"/>
              </a:rPr>
              <a:t>  ·  Collège La Cité  ·  Printemps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1</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Rappel du projet</a:t>
            </a:r>
          </a:p>
          <a:p>
            <a:pPr algn="l">
              <a:spcBef>
                <a:spcPts val="0"/>
              </a:spcBef>
              <a:spcAft>
                <a:spcPts val="0"/>
              </a:spcAft>
            </a:pPr>
            <a:r>
              <a:rPr sz="1400" b="0">
                <a:solidFill>
                  <a:srgbClr val="CFE3FF"/>
                </a:solidFill>
                <a:latin typeface="Calibri"/>
              </a:rPr>
              <a:t>MediPlan — gérer les rendez-vous d'une clinique</a:t>
            </a:r>
          </a:p>
        </p:txBody>
      </p:sp>
      <p:sp>
        <p:nvSpPr>
          <p:cNvPr id="6" name="Rectangle 5"/>
          <p:cNvSpPr/>
          <p:nvPr/>
        </p:nvSpPr>
        <p:spPr>
          <a:xfrm>
            <a:off x="411480" y="1508760"/>
            <a:ext cx="5577840" cy="2286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508760"/>
            <a:ext cx="76200" cy="228600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18488"/>
            <a:ext cx="5212080" cy="210312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Problématique</a:t>
            </a:r>
          </a:p>
          <a:p>
            <a:pPr algn="l">
              <a:spcBef>
                <a:spcPts val="0"/>
              </a:spcBef>
              <a:spcAft>
                <a:spcPts val="300"/>
              </a:spcAft>
            </a:pPr>
            <a:r>
              <a:rPr sz="1300" b="0">
                <a:solidFill>
                  <a:srgbClr val="404040"/>
                </a:solidFill>
                <a:latin typeface="Calibri"/>
              </a:rPr>
              <a:t>•  Dans une clinique, la prise de rendez-vous par téléphone est</a:t>
            </a:r>
          </a:p>
          <a:p>
            <a:pPr algn="l">
              <a:spcBef>
                <a:spcPts val="0"/>
              </a:spcBef>
              <a:spcAft>
                <a:spcPts val="300"/>
              </a:spcAft>
            </a:pPr>
            <a:r>
              <a:rPr sz="1300" b="0">
                <a:solidFill>
                  <a:srgbClr val="404040"/>
                </a:solidFill>
                <a:latin typeface="Calibri"/>
              </a:rPr>
              <a:t>•     manuelle : agendas papier, doubles réservations, oublis</a:t>
            </a:r>
          </a:p>
          <a:p>
            <a:pPr algn="l">
              <a:spcBef>
                <a:spcPts val="0"/>
              </a:spcBef>
              <a:spcAft>
                <a:spcPts val="300"/>
              </a:spcAft>
            </a:pPr>
            <a:r>
              <a:rPr sz="1300" b="0">
                <a:solidFill>
                  <a:srgbClr val="404040"/>
                </a:solidFill>
                <a:latin typeface="Calibri"/>
              </a:rPr>
              <a:t>•  Pas de vue claire de l'activité du jour pour la réception</a:t>
            </a:r>
          </a:p>
          <a:p>
            <a:pPr algn="l">
              <a:spcBef>
                <a:spcPts val="0"/>
              </a:spcBef>
              <a:spcAft>
                <a:spcPts val="300"/>
              </a:spcAft>
            </a:pPr>
            <a:r>
              <a:rPr sz="1300" b="0">
                <a:solidFill>
                  <a:srgbClr val="404040"/>
                </a:solidFill>
                <a:latin typeface="Calibri"/>
              </a:rPr>
              <a:t>•  Données de patients sensibles à protéger et à cloisonner</a:t>
            </a:r>
          </a:p>
        </p:txBody>
      </p:sp>
      <p:sp>
        <p:nvSpPr>
          <p:cNvPr id="9" name="Rectangle 8"/>
          <p:cNvSpPr/>
          <p:nvPr/>
        </p:nvSpPr>
        <p:spPr>
          <a:xfrm>
            <a:off x="6172200" y="1508760"/>
            <a:ext cx="5577840" cy="2286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508760"/>
            <a:ext cx="76200" cy="22860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0" y="1618488"/>
            <a:ext cx="5212080" cy="2103120"/>
          </a:xfrm>
          <a:prstGeom prst="rect">
            <a:avLst/>
          </a:prstGeom>
          <a:noFill/>
        </p:spPr>
        <p:txBody>
          <a:bodyPr wrap="square">
            <a:spAutoFit/>
          </a:bodyPr>
          <a:lstStyle/>
          <a:p>
            <a:pPr algn="l">
              <a:spcBef>
                <a:spcPts val="0"/>
              </a:spcBef>
              <a:spcAft>
                <a:spcPts val="400"/>
              </a:spcAft>
            </a:pPr>
            <a:r>
              <a:rPr sz="1600" b="1" dirty="0">
                <a:solidFill>
                  <a:srgbClr val="00897B"/>
                </a:solidFill>
                <a:latin typeface="Calibri"/>
              </a:rPr>
              <a:t>Solution </a:t>
            </a:r>
            <a:r>
              <a:rPr sz="1600" b="1" dirty="0" err="1">
                <a:solidFill>
                  <a:srgbClr val="00897B"/>
                </a:solidFill>
                <a:latin typeface="Calibri"/>
              </a:rPr>
              <a:t>proposée</a:t>
            </a:r>
            <a:endParaRPr sz="1600" b="1" dirty="0">
              <a:solidFill>
                <a:srgbClr val="00897B"/>
              </a:solidFill>
              <a:latin typeface="Calibri"/>
            </a:endParaRPr>
          </a:p>
          <a:p>
            <a:pPr algn="l">
              <a:spcBef>
                <a:spcPts val="0"/>
              </a:spcBef>
              <a:spcAft>
                <a:spcPts val="300"/>
              </a:spcAft>
            </a:pPr>
            <a:r>
              <a:rPr sz="1300" b="0" dirty="0">
                <a:solidFill>
                  <a:srgbClr val="404040"/>
                </a:solidFill>
                <a:latin typeface="Calibri"/>
              </a:rPr>
              <a:t>•  Application web : la </a:t>
            </a:r>
            <a:r>
              <a:rPr sz="1300" b="0" dirty="0" err="1">
                <a:solidFill>
                  <a:srgbClr val="404040"/>
                </a:solidFill>
                <a:latin typeface="Calibri"/>
              </a:rPr>
              <a:t>réception</a:t>
            </a:r>
            <a:r>
              <a:rPr sz="1300" b="0" dirty="0">
                <a:solidFill>
                  <a:srgbClr val="404040"/>
                </a:solidFill>
                <a:latin typeface="Calibri"/>
              </a:rPr>
              <a:t> </a:t>
            </a:r>
            <a:r>
              <a:rPr sz="1300" b="0" dirty="0" err="1">
                <a:solidFill>
                  <a:srgbClr val="404040"/>
                </a:solidFill>
                <a:latin typeface="Calibri"/>
              </a:rPr>
              <a:t>gère</a:t>
            </a:r>
            <a:r>
              <a:rPr sz="1300" b="0" dirty="0">
                <a:solidFill>
                  <a:srgbClr val="404040"/>
                </a:solidFill>
                <a:latin typeface="Calibri"/>
              </a:rPr>
              <a:t> les </a:t>
            </a:r>
            <a:r>
              <a:rPr sz="1300" b="0" dirty="0" err="1">
                <a:solidFill>
                  <a:srgbClr val="404040"/>
                </a:solidFill>
                <a:latin typeface="Calibri"/>
              </a:rPr>
              <a:t>rendez</a:t>
            </a:r>
            <a:r>
              <a:rPr sz="1300" b="0" dirty="0">
                <a:solidFill>
                  <a:srgbClr val="404040"/>
                </a:solidFill>
                <a:latin typeface="Calibri"/>
              </a:rPr>
              <a:t>-vous à la place</a:t>
            </a:r>
          </a:p>
          <a:p>
            <a:pPr algn="l">
              <a:spcBef>
                <a:spcPts val="0"/>
              </a:spcBef>
              <a:spcAft>
                <a:spcPts val="300"/>
              </a:spcAft>
            </a:pPr>
            <a:r>
              <a:rPr sz="1300" b="0" dirty="0">
                <a:solidFill>
                  <a:srgbClr val="404040"/>
                </a:solidFill>
                <a:latin typeface="Calibri"/>
              </a:rPr>
              <a:t>•     des patients (qui </a:t>
            </a:r>
            <a:r>
              <a:rPr sz="1300" b="0" dirty="0" err="1">
                <a:solidFill>
                  <a:srgbClr val="404040"/>
                </a:solidFill>
                <a:latin typeface="Calibri"/>
              </a:rPr>
              <a:t>appellent</a:t>
            </a:r>
            <a:r>
              <a:rPr sz="1300" b="0" dirty="0">
                <a:solidFill>
                  <a:srgbClr val="404040"/>
                </a:solidFill>
                <a:latin typeface="Calibri"/>
              </a:rPr>
              <a:t> au </a:t>
            </a:r>
            <a:r>
              <a:rPr sz="1300" b="0" dirty="0" err="1">
                <a:solidFill>
                  <a:srgbClr val="404040"/>
                </a:solidFill>
                <a:latin typeface="Calibri"/>
              </a:rPr>
              <a:t>téléphone</a:t>
            </a:r>
            <a:r>
              <a:rPr sz="1300" b="0" dirty="0">
                <a:solidFill>
                  <a:srgbClr val="404040"/>
                </a:solidFill>
                <a:latin typeface="Calibri"/>
              </a:rPr>
              <a:t>)</a:t>
            </a:r>
          </a:p>
          <a:p>
            <a:pPr algn="l">
              <a:spcBef>
                <a:spcPts val="0"/>
              </a:spcBef>
              <a:spcAft>
                <a:spcPts val="300"/>
              </a:spcAft>
            </a:pPr>
            <a:r>
              <a:rPr sz="1300" b="0" dirty="0">
                <a:solidFill>
                  <a:srgbClr val="404040"/>
                </a:solidFill>
                <a:latin typeface="Calibri"/>
              </a:rPr>
              <a:t>•  </a:t>
            </a:r>
            <a:r>
              <a:rPr sz="1300" b="0" dirty="0" err="1">
                <a:solidFill>
                  <a:srgbClr val="404040"/>
                </a:solidFill>
                <a:latin typeface="Calibri"/>
              </a:rPr>
              <a:t>Disponibilités</a:t>
            </a:r>
            <a:r>
              <a:rPr sz="1300" b="0" dirty="0">
                <a:solidFill>
                  <a:srgbClr val="404040"/>
                </a:solidFill>
                <a:latin typeface="Calibri"/>
              </a:rPr>
              <a:t> des </a:t>
            </a:r>
            <a:r>
              <a:rPr sz="1300" b="0" dirty="0" err="1">
                <a:solidFill>
                  <a:srgbClr val="404040"/>
                </a:solidFill>
                <a:latin typeface="Calibri"/>
              </a:rPr>
              <a:t>médecins</a:t>
            </a:r>
            <a:r>
              <a:rPr sz="1300" b="0" dirty="0">
                <a:solidFill>
                  <a:srgbClr val="404040"/>
                </a:solidFill>
                <a:latin typeface="Calibri"/>
              </a:rPr>
              <a:t> → </a:t>
            </a:r>
            <a:r>
              <a:rPr sz="1300" b="0" dirty="0" err="1">
                <a:solidFill>
                  <a:srgbClr val="404040"/>
                </a:solidFill>
                <a:latin typeface="Calibri"/>
              </a:rPr>
              <a:t>créneaux</a:t>
            </a:r>
            <a:r>
              <a:rPr sz="1300" b="0" dirty="0">
                <a:solidFill>
                  <a:srgbClr val="404040"/>
                </a:solidFill>
                <a:latin typeface="Calibri"/>
              </a:rPr>
              <a:t> </a:t>
            </a:r>
            <a:r>
              <a:rPr sz="1300" b="0" dirty="0" err="1">
                <a:solidFill>
                  <a:srgbClr val="404040"/>
                </a:solidFill>
                <a:latin typeface="Calibri"/>
              </a:rPr>
              <a:t>réservables</a:t>
            </a:r>
            <a:r>
              <a:rPr sz="1300" b="0" dirty="0">
                <a:solidFill>
                  <a:srgbClr val="404040"/>
                </a:solidFill>
                <a:latin typeface="Calibri"/>
              </a:rPr>
              <a:t> </a:t>
            </a:r>
            <a:r>
              <a:rPr sz="1300" b="0" dirty="0" err="1">
                <a:solidFill>
                  <a:srgbClr val="404040"/>
                </a:solidFill>
                <a:latin typeface="Calibri"/>
              </a:rPr>
              <a:t>générés</a:t>
            </a:r>
            <a:endParaRPr sz="1300" b="0" dirty="0">
              <a:solidFill>
                <a:srgbClr val="404040"/>
              </a:solidFill>
              <a:latin typeface="Calibri"/>
            </a:endParaRPr>
          </a:p>
          <a:p>
            <a:pPr algn="l">
              <a:spcBef>
                <a:spcPts val="0"/>
              </a:spcBef>
              <a:spcAft>
                <a:spcPts val="300"/>
              </a:spcAft>
            </a:pPr>
            <a:r>
              <a:rPr sz="1300" b="0" dirty="0">
                <a:solidFill>
                  <a:srgbClr val="404040"/>
                </a:solidFill>
                <a:latin typeface="Calibri"/>
              </a:rPr>
              <a:t>•  Flux du jour </a:t>
            </a:r>
            <a:r>
              <a:rPr sz="1300" b="0" dirty="0" err="1">
                <a:solidFill>
                  <a:srgbClr val="404040"/>
                </a:solidFill>
                <a:latin typeface="Calibri"/>
              </a:rPr>
              <a:t>en</a:t>
            </a:r>
            <a:r>
              <a:rPr sz="1300" b="0" dirty="0">
                <a:solidFill>
                  <a:srgbClr val="404040"/>
                </a:solidFill>
                <a:latin typeface="Calibri"/>
              </a:rPr>
              <a:t> temps </a:t>
            </a:r>
            <a:r>
              <a:rPr sz="1300" b="0" dirty="0" err="1">
                <a:solidFill>
                  <a:srgbClr val="404040"/>
                </a:solidFill>
                <a:latin typeface="Calibri"/>
              </a:rPr>
              <a:t>réel</a:t>
            </a:r>
            <a:r>
              <a:rPr sz="1300" b="0" dirty="0">
                <a:solidFill>
                  <a:srgbClr val="404040"/>
                </a:solidFill>
                <a:latin typeface="Calibri"/>
              </a:rPr>
              <a:t> + </a:t>
            </a:r>
            <a:r>
              <a:rPr sz="1300" b="0" dirty="0" err="1">
                <a:solidFill>
                  <a:srgbClr val="404040"/>
                </a:solidFill>
                <a:latin typeface="Calibri"/>
              </a:rPr>
              <a:t>contrôle</a:t>
            </a:r>
            <a:r>
              <a:rPr sz="1300" b="0" dirty="0">
                <a:solidFill>
                  <a:srgbClr val="404040"/>
                </a:solidFill>
                <a:latin typeface="Calibri"/>
              </a:rPr>
              <a:t> </a:t>
            </a:r>
            <a:r>
              <a:rPr sz="1300" b="0" dirty="0" err="1">
                <a:solidFill>
                  <a:srgbClr val="404040"/>
                </a:solidFill>
                <a:latin typeface="Calibri"/>
              </a:rPr>
              <a:t>d'accès</a:t>
            </a:r>
            <a:r>
              <a:rPr sz="1300" b="0" dirty="0">
                <a:solidFill>
                  <a:srgbClr val="404040"/>
                </a:solidFill>
                <a:latin typeface="Calibri"/>
              </a:rPr>
              <a:t> par </a:t>
            </a:r>
            <a:r>
              <a:rPr sz="1300" b="0" dirty="0" err="1">
                <a:solidFill>
                  <a:srgbClr val="404040"/>
                </a:solidFill>
                <a:latin typeface="Calibri"/>
              </a:rPr>
              <a:t>rôle</a:t>
            </a:r>
            <a:r>
              <a:rPr sz="1300" b="0" dirty="0">
                <a:solidFill>
                  <a:srgbClr val="404040"/>
                </a:solidFill>
                <a:latin typeface="Calibri"/>
              </a:rPr>
              <a:t> (RBAC)</a:t>
            </a:r>
          </a:p>
        </p:txBody>
      </p:sp>
      <p:sp>
        <p:nvSpPr>
          <p:cNvPr id="12" name="Rectangle 11"/>
          <p:cNvSpPr/>
          <p:nvPr/>
        </p:nvSpPr>
        <p:spPr>
          <a:xfrm>
            <a:off x="411480" y="4023360"/>
            <a:ext cx="11338560" cy="21488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1480" y="4023360"/>
            <a:ext cx="76200" cy="21488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133088"/>
            <a:ext cx="10972800" cy="19659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Utilisateurs / clients visés</a:t>
            </a:r>
          </a:p>
          <a:p>
            <a:pPr algn="l">
              <a:spcBef>
                <a:spcPts val="0"/>
              </a:spcBef>
              <a:spcAft>
                <a:spcPts val="300"/>
              </a:spcAft>
            </a:pPr>
            <a:r>
              <a:rPr sz="1300" b="0">
                <a:solidFill>
                  <a:srgbClr val="404040"/>
                </a:solidFill>
                <a:latin typeface="Calibri"/>
              </a:rPr>
              <a:t>•  Réception / administrateur de clinique — utilisateur principal : crée et suit les rendez-vous</a:t>
            </a:r>
          </a:p>
          <a:p>
            <a:pPr algn="l">
              <a:spcBef>
                <a:spcPts val="0"/>
              </a:spcBef>
              <a:spcAft>
                <a:spcPts val="300"/>
              </a:spcAft>
            </a:pPr>
            <a:r>
              <a:rPr sz="1300" b="0">
                <a:solidFill>
                  <a:srgbClr val="404040"/>
                </a:solidFill>
                <a:latin typeface="Calibri"/>
              </a:rPr>
              <a:t>•  Médecin — consulte ses disponibilités et le flux de sa journée</a:t>
            </a:r>
          </a:p>
          <a:p>
            <a:pPr algn="l">
              <a:spcBef>
                <a:spcPts val="0"/>
              </a:spcBef>
              <a:spcAft>
                <a:spcPts val="300"/>
              </a:spcAft>
            </a:pPr>
            <a:r>
              <a:rPr sz="1300" b="0">
                <a:solidFill>
                  <a:srgbClr val="404040"/>
                </a:solidFill>
                <a:latin typeface="Calibri"/>
              </a:rPr>
              <a:t>•  Patient « léger » — créé au comptoir, sans compte ni mot de passe (il téléphone, il ne s'inscrit pas)</a:t>
            </a:r>
          </a:p>
          <a:p>
            <a:pPr algn="l">
              <a:spcBef>
                <a:spcPts val="0"/>
              </a:spcBef>
              <a:spcAft>
                <a:spcPts val="300"/>
              </a:spcAft>
            </a:pPr>
            <a:r>
              <a:rPr sz="1300" b="0">
                <a:solidFill>
                  <a:srgbClr val="404040"/>
                </a:solidFill>
                <a:latin typeface="Calibri"/>
              </a:rPr>
              <a:t>•  Super-administrateur — supervise l'ensemble des cliniques</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Stack : Angular (frontend) · NestJS (backend) · PostgreSQL (base) · Docker (environnement)</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30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2</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Objectif du Sprint 2</a:t>
            </a:r>
          </a:p>
          <a:p>
            <a:pPr algn="l">
              <a:spcBef>
                <a:spcPts val="0"/>
              </a:spcBef>
              <a:spcAft>
                <a:spcPts val="0"/>
              </a:spcAft>
            </a:pPr>
            <a:r>
              <a:rPr sz="1400" b="0">
                <a:solidFill>
                  <a:srgbClr val="CFE3FF"/>
                </a:solidFill>
                <a:latin typeface="Calibri"/>
              </a:rPr>
              <a:t>Ce que l'équipe voulait accomplir</a:t>
            </a:r>
          </a:p>
        </p:txBody>
      </p:sp>
      <p:sp>
        <p:nvSpPr>
          <p:cNvPr id="6" name="Rectangle 5"/>
          <p:cNvSpPr/>
          <p:nvPr/>
        </p:nvSpPr>
        <p:spPr>
          <a:xfrm>
            <a:off x="411480" y="1463040"/>
            <a:ext cx="11338560" cy="96012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554480"/>
            <a:ext cx="10789920" cy="822960"/>
          </a:xfrm>
          <a:prstGeom prst="rect">
            <a:avLst/>
          </a:prstGeom>
          <a:noFill/>
        </p:spPr>
        <p:txBody>
          <a:bodyPr wrap="square" anchor="ctr">
            <a:spAutoFit/>
          </a:bodyPr>
          <a:lstStyle/>
          <a:p>
            <a:pPr algn="l">
              <a:spcBef>
                <a:spcPts val="0"/>
              </a:spcBef>
              <a:spcAft>
                <a:spcPts val="200"/>
              </a:spcAft>
            </a:pPr>
            <a:r>
              <a:rPr sz="1200" b="1" dirty="0">
                <a:solidFill>
                  <a:srgbClr val="CFE3FF"/>
                </a:solidFill>
                <a:latin typeface="Calibri"/>
              </a:rPr>
              <a:t>Objectif</a:t>
            </a:r>
          </a:p>
          <a:p>
            <a:pPr algn="l">
              <a:spcBef>
                <a:spcPts val="0"/>
              </a:spcBef>
              <a:spcAft>
                <a:spcPts val="0"/>
              </a:spcAft>
            </a:pPr>
            <a:r>
              <a:rPr sz="1600" b="1" dirty="0">
                <a:solidFill>
                  <a:srgbClr val="FFFFFF"/>
                </a:solidFill>
                <a:latin typeface="Calibri"/>
              </a:rPr>
              <a:t>Une </a:t>
            </a:r>
            <a:r>
              <a:rPr sz="1600" b="1" dirty="0" err="1">
                <a:solidFill>
                  <a:srgbClr val="FFFFFF"/>
                </a:solidFill>
                <a:latin typeface="Calibri"/>
              </a:rPr>
              <a:t>réception</a:t>
            </a:r>
            <a:r>
              <a:rPr sz="1600" b="1" dirty="0">
                <a:solidFill>
                  <a:srgbClr val="FFFFFF"/>
                </a:solidFill>
                <a:latin typeface="Calibri"/>
              </a:rPr>
              <a:t> se </a:t>
            </a:r>
            <a:r>
              <a:rPr sz="1600" b="1" dirty="0" err="1">
                <a:solidFill>
                  <a:srgbClr val="FFFFFF"/>
                </a:solidFill>
                <a:latin typeface="Calibri"/>
              </a:rPr>
              <a:t>connecte</a:t>
            </a:r>
            <a:r>
              <a:rPr sz="1600" b="1" dirty="0">
                <a:solidFill>
                  <a:srgbClr val="FFFFFF"/>
                </a:solidFill>
                <a:latin typeface="Calibri"/>
              </a:rPr>
              <a:t> de façon </a:t>
            </a:r>
            <a:r>
              <a:rPr sz="1600" b="1" dirty="0" err="1">
                <a:solidFill>
                  <a:srgbClr val="FFFFFF"/>
                </a:solidFill>
                <a:latin typeface="Calibri"/>
              </a:rPr>
              <a:t>sécurisée</a:t>
            </a:r>
            <a:r>
              <a:rPr sz="1600" b="1" dirty="0">
                <a:solidFill>
                  <a:srgbClr val="FFFFFF"/>
                </a:solidFill>
                <a:latin typeface="Calibri"/>
              </a:rPr>
              <a:t>, </a:t>
            </a:r>
            <a:r>
              <a:rPr sz="1600" b="1" dirty="0" err="1">
                <a:solidFill>
                  <a:srgbClr val="FFFFFF"/>
                </a:solidFill>
                <a:latin typeface="Calibri"/>
              </a:rPr>
              <a:t>définit</a:t>
            </a:r>
            <a:r>
              <a:rPr sz="1600" b="1" dirty="0">
                <a:solidFill>
                  <a:srgbClr val="FFFFFF"/>
                </a:solidFill>
                <a:latin typeface="Calibri"/>
              </a:rPr>
              <a:t> les </a:t>
            </a:r>
            <a:r>
              <a:rPr sz="1600" b="1" dirty="0" err="1">
                <a:solidFill>
                  <a:srgbClr val="FFFFFF"/>
                </a:solidFill>
                <a:latin typeface="Calibri"/>
              </a:rPr>
              <a:t>disponibilités</a:t>
            </a:r>
            <a:r>
              <a:rPr sz="1600" b="1" dirty="0">
                <a:solidFill>
                  <a:srgbClr val="FFFFFF"/>
                </a:solidFill>
                <a:latin typeface="Calibri"/>
              </a:rPr>
              <a:t> des </a:t>
            </a:r>
            <a:r>
              <a:rPr sz="1600" b="1" dirty="0" err="1">
                <a:solidFill>
                  <a:srgbClr val="FFFFFF"/>
                </a:solidFill>
                <a:latin typeface="Calibri"/>
              </a:rPr>
              <a:t>médecins</a:t>
            </a:r>
            <a:r>
              <a:rPr sz="1600" b="1" dirty="0">
                <a:solidFill>
                  <a:srgbClr val="FFFFFF"/>
                </a:solidFill>
                <a:latin typeface="Calibri"/>
              </a:rPr>
              <a:t> et </a:t>
            </a:r>
            <a:r>
              <a:rPr sz="1600" b="1" dirty="0" err="1">
                <a:solidFill>
                  <a:srgbClr val="FFFFFF"/>
                </a:solidFill>
                <a:latin typeface="Calibri"/>
              </a:rPr>
              <a:t>réserve</a:t>
            </a:r>
            <a:r>
              <a:rPr sz="1600" b="1" dirty="0">
                <a:solidFill>
                  <a:srgbClr val="FFFFFF"/>
                </a:solidFill>
                <a:latin typeface="Calibri"/>
              </a:rPr>
              <a:t> un </a:t>
            </a:r>
            <a:r>
              <a:rPr sz="1600" b="1" dirty="0" err="1">
                <a:solidFill>
                  <a:srgbClr val="FFFFFF"/>
                </a:solidFill>
                <a:latin typeface="Calibri"/>
              </a:rPr>
              <a:t>rendez</a:t>
            </a:r>
            <a:r>
              <a:rPr sz="1600" b="1" dirty="0">
                <a:solidFill>
                  <a:srgbClr val="FFFFFF"/>
                </a:solidFill>
                <a:latin typeface="Calibri"/>
              </a:rPr>
              <a:t>-vous pour un patient — sans jamais </a:t>
            </a:r>
            <a:r>
              <a:rPr sz="1600" b="1" dirty="0" err="1">
                <a:solidFill>
                  <a:srgbClr val="FFFFFF"/>
                </a:solidFill>
                <a:latin typeface="Calibri"/>
              </a:rPr>
              <a:t>créer</a:t>
            </a:r>
            <a:r>
              <a:rPr sz="1600" b="1" dirty="0">
                <a:solidFill>
                  <a:srgbClr val="FFFFFF"/>
                </a:solidFill>
                <a:latin typeface="Calibri"/>
              </a:rPr>
              <a:t> de double </a:t>
            </a:r>
            <a:r>
              <a:rPr sz="1600" b="1" dirty="0" err="1">
                <a:solidFill>
                  <a:srgbClr val="FFFFFF"/>
                </a:solidFill>
                <a:latin typeface="Calibri"/>
              </a:rPr>
              <a:t>réservation</a:t>
            </a:r>
            <a:r>
              <a:rPr sz="1600" b="1" dirty="0">
                <a:solidFill>
                  <a:srgbClr val="FFFFFF"/>
                </a:solidFill>
                <a:latin typeface="Calibri"/>
              </a:rPr>
              <a:t>.</a:t>
            </a:r>
          </a:p>
        </p:txBody>
      </p:sp>
      <p:sp>
        <p:nvSpPr>
          <p:cNvPr id="8" name="Rectangle 7"/>
          <p:cNvSpPr/>
          <p:nvPr/>
        </p:nvSpPr>
        <p:spPr>
          <a:xfrm>
            <a:off x="411480" y="2651760"/>
            <a:ext cx="5577840" cy="35204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11480" y="2651760"/>
            <a:ext cx="76200" cy="35204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2761488"/>
            <a:ext cx="5212080" cy="3337560"/>
          </a:xfrm>
          <a:prstGeom prst="rect">
            <a:avLst/>
          </a:prstGeom>
          <a:noFill/>
        </p:spPr>
        <p:txBody>
          <a:bodyPr wrap="square">
            <a:spAutoFit/>
          </a:bodyPr>
          <a:lstStyle/>
          <a:p>
            <a:pPr algn="l">
              <a:spcBef>
                <a:spcPts val="0"/>
              </a:spcBef>
              <a:spcAft>
                <a:spcPts val="400"/>
              </a:spcAft>
            </a:pPr>
            <a:r>
              <a:rPr sz="1600" b="1" dirty="0" err="1">
                <a:solidFill>
                  <a:srgbClr val="154D8C"/>
                </a:solidFill>
                <a:latin typeface="Calibri"/>
              </a:rPr>
              <a:t>Fonctionnalités</a:t>
            </a:r>
            <a:r>
              <a:rPr sz="1600" b="1" dirty="0">
                <a:solidFill>
                  <a:srgbClr val="154D8C"/>
                </a:solidFill>
                <a:latin typeface="Calibri"/>
              </a:rPr>
              <a:t> </a:t>
            </a:r>
            <a:r>
              <a:rPr sz="1600" b="1" dirty="0" err="1">
                <a:solidFill>
                  <a:srgbClr val="154D8C"/>
                </a:solidFill>
                <a:latin typeface="Calibri"/>
              </a:rPr>
              <a:t>visées</a:t>
            </a:r>
            <a:endParaRPr sz="1600" b="1" dirty="0">
              <a:solidFill>
                <a:srgbClr val="154D8C"/>
              </a:solidFill>
              <a:latin typeface="Calibri"/>
            </a:endParaRPr>
          </a:p>
          <a:p>
            <a:pPr algn="l">
              <a:spcBef>
                <a:spcPts val="0"/>
              </a:spcBef>
              <a:spcAft>
                <a:spcPts val="300"/>
              </a:spcAft>
            </a:pPr>
            <a:r>
              <a:rPr sz="1300" b="0" dirty="0">
                <a:solidFill>
                  <a:srgbClr val="404040"/>
                </a:solidFill>
                <a:latin typeface="Calibri"/>
              </a:rPr>
              <a:t>•  </a:t>
            </a:r>
            <a:r>
              <a:rPr sz="1300" b="0" dirty="0" err="1">
                <a:solidFill>
                  <a:srgbClr val="404040"/>
                </a:solidFill>
                <a:latin typeface="Calibri"/>
              </a:rPr>
              <a:t>Authentification</a:t>
            </a:r>
            <a:r>
              <a:rPr sz="1300" b="0" dirty="0">
                <a:solidFill>
                  <a:srgbClr val="404040"/>
                </a:solidFill>
                <a:latin typeface="Calibri"/>
              </a:rPr>
              <a:t> </a:t>
            </a:r>
            <a:r>
              <a:rPr sz="1300" b="0" dirty="0" err="1">
                <a:solidFill>
                  <a:srgbClr val="404040"/>
                </a:solidFill>
                <a:latin typeface="Calibri"/>
              </a:rPr>
              <a:t>complète</a:t>
            </a:r>
            <a:r>
              <a:rPr sz="1300" b="0" dirty="0">
                <a:solidFill>
                  <a:srgbClr val="404040"/>
                </a:solidFill>
                <a:latin typeface="Calibri"/>
              </a:rPr>
              <a:t> + </a:t>
            </a:r>
            <a:r>
              <a:rPr sz="1300" b="0" dirty="0" err="1">
                <a:solidFill>
                  <a:srgbClr val="404040"/>
                </a:solidFill>
                <a:latin typeface="Calibri"/>
              </a:rPr>
              <a:t>contrôle</a:t>
            </a:r>
            <a:r>
              <a:rPr sz="1300" b="0" dirty="0">
                <a:solidFill>
                  <a:srgbClr val="404040"/>
                </a:solidFill>
                <a:latin typeface="Calibri"/>
              </a:rPr>
              <a:t> </a:t>
            </a:r>
            <a:r>
              <a:rPr sz="1300" b="0" dirty="0" err="1">
                <a:solidFill>
                  <a:srgbClr val="404040"/>
                </a:solidFill>
                <a:latin typeface="Calibri"/>
              </a:rPr>
              <a:t>d'accès</a:t>
            </a:r>
            <a:r>
              <a:rPr sz="1300" b="0" dirty="0">
                <a:solidFill>
                  <a:srgbClr val="404040"/>
                </a:solidFill>
                <a:latin typeface="Calibri"/>
              </a:rPr>
              <a:t> (RBAC 4 </a:t>
            </a:r>
            <a:r>
              <a:rPr sz="1300" b="0" dirty="0" err="1">
                <a:solidFill>
                  <a:srgbClr val="404040"/>
                </a:solidFill>
                <a:latin typeface="Calibri"/>
              </a:rPr>
              <a:t>rôles</a:t>
            </a:r>
            <a:r>
              <a:rPr sz="1300" b="0" dirty="0">
                <a:solidFill>
                  <a:srgbClr val="404040"/>
                </a:solidFill>
                <a:latin typeface="Calibri"/>
              </a:rPr>
              <a:t>)</a:t>
            </a:r>
          </a:p>
          <a:p>
            <a:pPr algn="l">
              <a:spcBef>
                <a:spcPts val="0"/>
              </a:spcBef>
              <a:spcAft>
                <a:spcPts val="300"/>
              </a:spcAft>
            </a:pPr>
            <a:r>
              <a:rPr sz="1300" b="0" dirty="0">
                <a:solidFill>
                  <a:srgbClr val="404040"/>
                </a:solidFill>
                <a:latin typeface="Calibri"/>
              </a:rPr>
              <a:t>•  </a:t>
            </a:r>
            <a:r>
              <a:rPr sz="1300" b="0" dirty="0" err="1">
                <a:solidFill>
                  <a:srgbClr val="404040"/>
                </a:solidFill>
                <a:latin typeface="Calibri"/>
              </a:rPr>
              <a:t>Modéliser</a:t>
            </a:r>
            <a:r>
              <a:rPr sz="1300" b="0" dirty="0">
                <a:solidFill>
                  <a:srgbClr val="404040"/>
                </a:solidFill>
                <a:latin typeface="Calibri"/>
              </a:rPr>
              <a:t> le « patient </a:t>
            </a:r>
            <a:r>
              <a:rPr sz="1300" b="0" dirty="0" err="1">
                <a:solidFill>
                  <a:srgbClr val="404040"/>
                </a:solidFill>
                <a:latin typeface="Calibri"/>
              </a:rPr>
              <a:t>léger</a:t>
            </a:r>
            <a:r>
              <a:rPr sz="1300" b="0" dirty="0">
                <a:solidFill>
                  <a:srgbClr val="404040"/>
                </a:solidFill>
                <a:latin typeface="Calibri"/>
              </a:rPr>
              <a:t> » </a:t>
            </a:r>
            <a:r>
              <a:rPr sz="1300" b="0" dirty="0" err="1">
                <a:solidFill>
                  <a:srgbClr val="404040"/>
                </a:solidFill>
                <a:latin typeface="Calibri"/>
              </a:rPr>
              <a:t>géré</a:t>
            </a:r>
            <a:r>
              <a:rPr sz="1300" b="0" dirty="0">
                <a:solidFill>
                  <a:srgbClr val="404040"/>
                </a:solidFill>
                <a:latin typeface="Calibri"/>
              </a:rPr>
              <a:t> par la </a:t>
            </a:r>
            <a:r>
              <a:rPr sz="1300" b="0" dirty="0" err="1">
                <a:solidFill>
                  <a:srgbClr val="404040"/>
                </a:solidFill>
                <a:latin typeface="Calibri"/>
              </a:rPr>
              <a:t>réception</a:t>
            </a:r>
            <a:endParaRPr sz="1300" b="0" dirty="0">
              <a:solidFill>
                <a:srgbClr val="404040"/>
              </a:solidFill>
              <a:latin typeface="Calibri"/>
            </a:endParaRPr>
          </a:p>
          <a:p>
            <a:pPr algn="l">
              <a:spcBef>
                <a:spcPts val="0"/>
              </a:spcBef>
              <a:spcAft>
                <a:spcPts val="300"/>
              </a:spcAft>
            </a:pPr>
            <a:r>
              <a:rPr sz="1300" b="0" dirty="0">
                <a:solidFill>
                  <a:srgbClr val="404040"/>
                </a:solidFill>
                <a:latin typeface="Calibri"/>
              </a:rPr>
              <a:t>•  </a:t>
            </a:r>
            <a:r>
              <a:rPr sz="1300" b="0" dirty="0" err="1">
                <a:solidFill>
                  <a:srgbClr val="404040"/>
                </a:solidFill>
                <a:latin typeface="Calibri"/>
              </a:rPr>
              <a:t>Définir</a:t>
            </a:r>
            <a:r>
              <a:rPr sz="1300" b="0" dirty="0">
                <a:solidFill>
                  <a:srgbClr val="404040"/>
                </a:solidFill>
                <a:latin typeface="Calibri"/>
              </a:rPr>
              <a:t> les </a:t>
            </a:r>
            <a:r>
              <a:rPr sz="1300" b="0" dirty="0" err="1">
                <a:solidFill>
                  <a:srgbClr val="404040"/>
                </a:solidFill>
                <a:latin typeface="Calibri"/>
              </a:rPr>
              <a:t>disponibilités</a:t>
            </a:r>
            <a:r>
              <a:rPr sz="1300" b="0" dirty="0">
                <a:solidFill>
                  <a:srgbClr val="404040"/>
                </a:solidFill>
                <a:latin typeface="Calibri"/>
              </a:rPr>
              <a:t> des </a:t>
            </a:r>
            <a:r>
              <a:rPr sz="1300" b="0" dirty="0" err="1">
                <a:solidFill>
                  <a:srgbClr val="404040"/>
                </a:solidFill>
                <a:latin typeface="Calibri"/>
              </a:rPr>
              <a:t>médecins</a:t>
            </a:r>
            <a:endParaRPr sz="1300" b="0" dirty="0">
              <a:solidFill>
                <a:srgbClr val="404040"/>
              </a:solidFill>
              <a:latin typeface="Calibri"/>
            </a:endParaRPr>
          </a:p>
          <a:p>
            <a:pPr algn="l">
              <a:spcBef>
                <a:spcPts val="0"/>
              </a:spcBef>
              <a:spcAft>
                <a:spcPts val="300"/>
              </a:spcAft>
            </a:pPr>
            <a:r>
              <a:rPr sz="1300" b="0" dirty="0">
                <a:solidFill>
                  <a:srgbClr val="404040"/>
                </a:solidFill>
                <a:latin typeface="Calibri"/>
              </a:rPr>
              <a:t>•  </a:t>
            </a:r>
            <a:r>
              <a:rPr sz="1300" b="0" dirty="0" err="1">
                <a:solidFill>
                  <a:srgbClr val="404040"/>
                </a:solidFill>
                <a:latin typeface="Calibri"/>
              </a:rPr>
              <a:t>Générer</a:t>
            </a:r>
            <a:r>
              <a:rPr sz="1300" b="0" dirty="0">
                <a:solidFill>
                  <a:srgbClr val="404040"/>
                </a:solidFill>
                <a:latin typeface="Calibri"/>
              </a:rPr>
              <a:t> </a:t>
            </a:r>
            <a:r>
              <a:rPr sz="1300" b="0" dirty="0" err="1">
                <a:solidFill>
                  <a:srgbClr val="404040"/>
                </a:solidFill>
                <a:latin typeface="Calibri"/>
              </a:rPr>
              <a:t>automatiquement</a:t>
            </a:r>
            <a:r>
              <a:rPr sz="1300" b="0" dirty="0">
                <a:solidFill>
                  <a:srgbClr val="404040"/>
                </a:solidFill>
                <a:latin typeface="Calibri"/>
              </a:rPr>
              <a:t> les </a:t>
            </a:r>
            <a:r>
              <a:rPr sz="1300" b="0" dirty="0" err="1">
                <a:solidFill>
                  <a:srgbClr val="404040"/>
                </a:solidFill>
                <a:latin typeface="Calibri"/>
              </a:rPr>
              <a:t>créneaux</a:t>
            </a:r>
            <a:r>
              <a:rPr sz="1300" b="0" dirty="0">
                <a:solidFill>
                  <a:srgbClr val="404040"/>
                </a:solidFill>
                <a:latin typeface="Calibri"/>
              </a:rPr>
              <a:t> </a:t>
            </a:r>
            <a:r>
              <a:rPr sz="1300" b="0" dirty="0" err="1">
                <a:solidFill>
                  <a:srgbClr val="404040"/>
                </a:solidFill>
                <a:latin typeface="Calibri"/>
              </a:rPr>
              <a:t>réservables</a:t>
            </a:r>
            <a:endParaRPr sz="1300" b="0" dirty="0">
              <a:solidFill>
                <a:srgbClr val="404040"/>
              </a:solidFill>
              <a:latin typeface="Calibri"/>
            </a:endParaRPr>
          </a:p>
          <a:p>
            <a:pPr algn="l">
              <a:spcBef>
                <a:spcPts val="0"/>
              </a:spcBef>
              <a:spcAft>
                <a:spcPts val="300"/>
              </a:spcAft>
            </a:pPr>
            <a:r>
              <a:rPr sz="1300" b="0" dirty="0">
                <a:solidFill>
                  <a:srgbClr val="404040"/>
                </a:solidFill>
                <a:latin typeface="Calibri"/>
              </a:rPr>
              <a:t>•  </a:t>
            </a:r>
            <a:r>
              <a:rPr sz="1300" b="0" dirty="0" err="1">
                <a:solidFill>
                  <a:srgbClr val="404040"/>
                </a:solidFill>
                <a:latin typeface="Calibri"/>
              </a:rPr>
              <a:t>Réserver</a:t>
            </a:r>
            <a:r>
              <a:rPr sz="1300" b="0" dirty="0">
                <a:solidFill>
                  <a:srgbClr val="404040"/>
                </a:solidFill>
                <a:latin typeface="Calibri"/>
              </a:rPr>
              <a:t> un </a:t>
            </a:r>
            <a:r>
              <a:rPr sz="1300" b="0" dirty="0" err="1">
                <a:solidFill>
                  <a:srgbClr val="404040"/>
                </a:solidFill>
                <a:latin typeface="Calibri"/>
              </a:rPr>
              <a:t>rendez</a:t>
            </a:r>
            <a:r>
              <a:rPr sz="1300" b="0" dirty="0">
                <a:solidFill>
                  <a:srgbClr val="404040"/>
                </a:solidFill>
                <a:latin typeface="Calibri"/>
              </a:rPr>
              <a:t>-vous (</a:t>
            </a:r>
            <a:r>
              <a:rPr sz="1300" b="0" dirty="0" err="1">
                <a:solidFill>
                  <a:srgbClr val="404040"/>
                </a:solidFill>
                <a:latin typeface="Calibri"/>
              </a:rPr>
              <a:t>réception</a:t>
            </a:r>
            <a:r>
              <a:rPr sz="1300" b="0" dirty="0">
                <a:solidFill>
                  <a:srgbClr val="404040"/>
                </a:solidFill>
                <a:latin typeface="Calibri"/>
              </a:rPr>
              <a:t>) sans double-</a:t>
            </a:r>
            <a:r>
              <a:rPr sz="1300" b="0" dirty="0" err="1">
                <a:solidFill>
                  <a:srgbClr val="404040"/>
                </a:solidFill>
                <a:latin typeface="Calibri"/>
              </a:rPr>
              <a:t>réservation</a:t>
            </a:r>
            <a:endParaRPr sz="1300" b="0" dirty="0">
              <a:solidFill>
                <a:srgbClr val="404040"/>
              </a:solidFill>
              <a:latin typeface="Calibri"/>
            </a:endParaRPr>
          </a:p>
          <a:p>
            <a:pPr algn="l">
              <a:spcBef>
                <a:spcPts val="0"/>
              </a:spcBef>
              <a:spcAft>
                <a:spcPts val="300"/>
              </a:spcAft>
            </a:pPr>
            <a:r>
              <a:rPr sz="1300" b="0" dirty="0">
                <a:solidFill>
                  <a:srgbClr val="404040"/>
                </a:solidFill>
                <a:latin typeface="Calibri"/>
              </a:rPr>
              <a:t>•  </a:t>
            </a:r>
            <a:r>
              <a:rPr sz="1300" b="0" dirty="0" err="1">
                <a:solidFill>
                  <a:srgbClr val="404040"/>
                </a:solidFill>
                <a:latin typeface="Calibri"/>
              </a:rPr>
              <a:t>Suivre</a:t>
            </a:r>
            <a:r>
              <a:rPr sz="1300" b="0" dirty="0">
                <a:solidFill>
                  <a:srgbClr val="404040"/>
                </a:solidFill>
                <a:latin typeface="Calibri"/>
              </a:rPr>
              <a:t> le flux </a:t>
            </a:r>
            <a:r>
              <a:rPr sz="1300" b="0" dirty="0" err="1">
                <a:solidFill>
                  <a:srgbClr val="404040"/>
                </a:solidFill>
                <a:latin typeface="Calibri"/>
              </a:rPr>
              <a:t>clinique</a:t>
            </a:r>
            <a:r>
              <a:rPr sz="1300" b="0" dirty="0">
                <a:solidFill>
                  <a:srgbClr val="404040"/>
                </a:solidFill>
                <a:latin typeface="Calibri"/>
              </a:rPr>
              <a:t> du jour (</a:t>
            </a:r>
            <a:r>
              <a:rPr sz="1300" b="0" dirty="0" err="1">
                <a:solidFill>
                  <a:srgbClr val="404040"/>
                </a:solidFill>
                <a:latin typeface="Calibri"/>
              </a:rPr>
              <a:t>statuts</a:t>
            </a:r>
            <a:r>
              <a:rPr sz="1300" b="0" dirty="0">
                <a:solidFill>
                  <a:srgbClr val="404040"/>
                </a:solidFill>
                <a:latin typeface="Calibri"/>
              </a:rPr>
              <a:t> de consultation)</a:t>
            </a:r>
          </a:p>
          <a:p>
            <a:pPr algn="l">
              <a:spcBef>
                <a:spcPts val="0"/>
              </a:spcBef>
              <a:spcAft>
                <a:spcPts val="300"/>
              </a:spcAft>
            </a:pPr>
            <a:r>
              <a:rPr sz="1300" b="0" dirty="0">
                <a:solidFill>
                  <a:srgbClr val="404040"/>
                </a:solidFill>
                <a:latin typeface="Calibri"/>
              </a:rPr>
              <a:t>•  Interface soignée + mode </a:t>
            </a:r>
            <a:r>
              <a:rPr sz="1300" b="0" dirty="0" err="1">
                <a:solidFill>
                  <a:srgbClr val="404040"/>
                </a:solidFill>
                <a:latin typeface="Calibri"/>
              </a:rPr>
              <a:t>sombre</a:t>
            </a:r>
            <a:r>
              <a:rPr sz="1300" b="0" dirty="0">
                <a:solidFill>
                  <a:srgbClr val="404040"/>
                </a:solidFill>
                <a:latin typeface="Calibri"/>
              </a:rPr>
              <a:t> (design system)</a:t>
            </a:r>
          </a:p>
        </p:txBody>
      </p:sp>
      <p:sp>
        <p:nvSpPr>
          <p:cNvPr id="11" name="Rectangle 10"/>
          <p:cNvSpPr/>
          <p:nvPr/>
        </p:nvSpPr>
        <p:spPr>
          <a:xfrm>
            <a:off x="6172200" y="2651760"/>
            <a:ext cx="5577840" cy="35204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2651760"/>
            <a:ext cx="76200" cy="352044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761488"/>
            <a:ext cx="5212080" cy="333756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Pourquoi ce périmètre</a:t>
            </a:r>
          </a:p>
          <a:p>
            <a:pPr algn="l">
              <a:spcBef>
                <a:spcPts val="0"/>
              </a:spcBef>
              <a:spcAft>
                <a:spcPts val="300"/>
              </a:spcAft>
            </a:pPr>
            <a:r>
              <a:rPr sz="1300" b="0">
                <a:solidFill>
                  <a:srgbClr val="404040"/>
                </a:solidFill>
                <a:latin typeface="Calibri"/>
              </a:rPr>
              <a:t>•  C'est la tranche verticale la plus utile : de la connexion</a:t>
            </a:r>
          </a:p>
          <a:p>
            <a:pPr algn="l">
              <a:spcBef>
                <a:spcPts val="0"/>
              </a:spcBef>
              <a:spcAft>
                <a:spcPts val="300"/>
              </a:spcAft>
            </a:pPr>
            <a:r>
              <a:rPr sz="1300" b="0">
                <a:solidFill>
                  <a:srgbClr val="404040"/>
                </a:solidFill>
                <a:latin typeface="Calibri"/>
              </a:rPr>
              <a:t>•     jusqu'à un rendez-vous réel dans l'agenda</a:t>
            </a:r>
          </a:p>
          <a:p>
            <a:pPr algn="l">
              <a:spcBef>
                <a:spcPts val="0"/>
              </a:spcBef>
              <a:spcAft>
                <a:spcPts val="300"/>
              </a:spcAft>
            </a:pPr>
            <a:r>
              <a:rPr sz="1300" b="0">
                <a:solidFill>
                  <a:srgbClr val="404040"/>
                </a:solidFill>
                <a:latin typeface="Calibri"/>
              </a:rPr>
              <a:t>•  Elle couvre le cœur métier (anti-double-réservation) et la</a:t>
            </a:r>
          </a:p>
          <a:p>
            <a:pPr algn="l">
              <a:spcBef>
                <a:spcPts val="0"/>
              </a:spcBef>
              <a:spcAft>
                <a:spcPts val="300"/>
              </a:spcAft>
            </a:pPr>
            <a:r>
              <a:rPr sz="1300" b="0">
                <a:solidFill>
                  <a:srgbClr val="404040"/>
                </a:solidFill>
                <a:latin typeface="Calibri"/>
              </a:rPr>
              <a:t>•     sécurité (données de santé, RBAC)</a:t>
            </a:r>
          </a:p>
          <a:p>
            <a:pPr algn="l">
              <a:spcBef>
                <a:spcPts val="0"/>
              </a:spcBef>
              <a:spcAft>
                <a:spcPts val="300"/>
              </a:spcAft>
            </a:pPr>
            <a:r>
              <a:rPr sz="1300" b="0">
                <a:solidFill>
                  <a:srgbClr val="404040"/>
                </a:solidFill>
                <a:latin typeface="Calibri"/>
              </a:rPr>
              <a:t>•  Chaque fonctionnalité est démontrable de bout en bout</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Note : notre découpage interne comptait plusieurs sprints ;</a:t>
            </a:r>
          </a:p>
          <a:p>
            <a:pPr algn="l">
              <a:spcBef>
                <a:spcPts val="0"/>
              </a:spcBef>
              <a:spcAft>
                <a:spcPts val="300"/>
              </a:spcAft>
            </a:pPr>
            <a:r>
              <a:rPr sz="1300" b="0">
                <a:solidFill>
                  <a:srgbClr val="404040"/>
                </a:solidFill>
                <a:latin typeface="Calibri"/>
              </a:rPr>
              <a:t>•     ils ont été alignés sur le calendrier du cours.</a:t>
            </a:r>
          </a:p>
        </p:txBody>
      </p:sp>
      <p:sp>
        <p:nvSpPr>
          <p:cNvPr id="14" name="TextBox 13"/>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a:t>
            </a:r>
          </a:p>
        </p:txBody>
      </p:sp>
      <p:sp>
        <p:nvSpPr>
          <p:cNvPr id="15" name="TextBox 14"/>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3</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Développement — architecture générale</a:t>
            </a:r>
          </a:p>
          <a:p>
            <a:pPr algn="l">
              <a:spcBef>
                <a:spcPts val="0"/>
              </a:spcBef>
              <a:spcAft>
                <a:spcPts val="0"/>
              </a:spcAft>
            </a:pPr>
            <a:r>
              <a:rPr sz="1400" b="0">
                <a:solidFill>
                  <a:srgbClr val="CFE3FF"/>
                </a:solidFill>
                <a:latin typeface="Calibri"/>
              </a:rPr>
              <a:t>Comment les parties fonctionnent ensemble</a:t>
            </a:r>
          </a:p>
        </p:txBody>
      </p:sp>
      <p:sp>
        <p:nvSpPr>
          <p:cNvPr id="6" name="Rectangle 5"/>
          <p:cNvSpPr/>
          <p:nvPr/>
        </p:nvSpPr>
        <p:spPr>
          <a:xfrm>
            <a:off x="502920" y="1691640"/>
            <a:ext cx="3200400" cy="22860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28800"/>
            <a:ext cx="2880360" cy="2057400"/>
          </a:xfrm>
          <a:prstGeom prst="rect">
            <a:avLst/>
          </a:prstGeom>
          <a:noFill/>
        </p:spPr>
        <p:txBody>
          <a:bodyPr wrap="square">
            <a:spAutoFit/>
          </a:bodyPr>
          <a:lstStyle/>
          <a:p>
            <a:pPr algn="ctr">
              <a:spcBef>
                <a:spcPts val="0"/>
              </a:spcBef>
              <a:spcAft>
                <a:spcPts val="400"/>
              </a:spcAft>
            </a:pPr>
            <a:r>
              <a:rPr sz="1700" b="1">
                <a:solidFill>
                  <a:srgbClr val="FFFFFF"/>
                </a:solidFill>
                <a:latin typeface="Calibri"/>
              </a:rPr>
              <a:t>Frontend — Angular</a:t>
            </a:r>
          </a:p>
          <a:p>
            <a:pPr algn="ctr">
              <a:spcBef>
                <a:spcPts val="0"/>
              </a:spcBef>
              <a:spcAft>
                <a:spcPts val="300"/>
              </a:spcAft>
            </a:pPr>
            <a:r>
              <a:rPr sz="1200" b="0">
                <a:solidFill>
                  <a:srgbClr val="FFFFFF"/>
                </a:solidFill>
                <a:latin typeface="Calibri"/>
              </a:rPr>
              <a:t>Écrans réception &amp; médecin</a:t>
            </a:r>
          </a:p>
          <a:p>
            <a:pPr algn="ctr">
              <a:spcBef>
                <a:spcPts val="0"/>
              </a:spcBef>
              <a:spcAft>
                <a:spcPts val="300"/>
              </a:spcAft>
            </a:pPr>
            <a:r>
              <a:rPr sz="1200" b="0">
                <a:solidFill>
                  <a:srgbClr val="FFFFFF"/>
                </a:solidFill>
                <a:latin typeface="Calibri"/>
              </a:rPr>
              <a:t>Signals · Material 3</a:t>
            </a:r>
          </a:p>
          <a:p>
            <a:pPr algn="ctr">
              <a:spcBef>
                <a:spcPts val="0"/>
              </a:spcBef>
              <a:spcAft>
                <a:spcPts val="300"/>
              </a:spcAft>
            </a:pPr>
            <a:r>
              <a:rPr sz="1200" b="0">
                <a:solidFill>
                  <a:srgbClr val="FFFFFF"/>
                </a:solidFill>
                <a:latin typeface="Calibri"/>
              </a:rPr>
              <a:t>Design system (tokens)</a:t>
            </a:r>
          </a:p>
        </p:txBody>
      </p:sp>
      <p:sp>
        <p:nvSpPr>
          <p:cNvPr id="8" name="Rectangle 7"/>
          <p:cNvSpPr/>
          <p:nvPr/>
        </p:nvSpPr>
        <p:spPr>
          <a:xfrm>
            <a:off x="4480560" y="1691640"/>
            <a:ext cx="3200400" cy="22860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828800"/>
            <a:ext cx="2880360" cy="2057400"/>
          </a:xfrm>
          <a:prstGeom prst="rect">
            <a:avLst/>
          </a:prstGeom>
          <a:noFill/>
        </p:spPr>
        <p:txBody>
          <a:bodyPr wrap="square">
            <a:spAutoFit/>
          </a:bodyPr>
          <a:lstStyle/>
          <a:p>
            <a:pPr algn="ctr">
              <a:spcBef>
                <a:spcPts val="0"/>
              </a:spcBef>
              <a:spcAft>
                <a:spcPts val="400"/>
              </a:spcAft>
            </a:pPr>
            <a:r>
              <a:rPr sz="1700" b="1">
                <a:solidFill>
                  <a:srgbClr val="FFFFFF"/>
                </a:solidFill>
                <a:latin typeface="Calibri"/>
              </a:rPr>
              <a:t>Backend — NestJS</a:t>
            </a:r>
          </a:p>
          <a:p>
            <a:pPr algn="ctr">
              <a:spcBef>
                <a:spcPts val="0"/>
              </a:spcBef>
              <a:spcAft>
                <a:spcPts val="300"/>
              </a:spcAft>
            </a:pPr>
            <a:r>
              <a:rPr sz="1200" b="0">
                <a:solidFill>
                  <a:srgbClr val="FFFFFF"/>
                </a:solidFill>
                <a:latin typeface="Calibri"/>
              </a:rPr>
              <a:t>API REST /api/v1</a:t>
            </a:r>
          </a:p>
          <a:p>
            <a:pPr algn="ctr">
              <a:spcBef>
                <a:spcPts val="0"/>
              </a:spcBef>
              <a:spcAft>
                <a:spcPts val="300"/>
              </a:spcAft>
            </a:pPr>
            <a:r>
              <a:rPr sz="1200" b="0">
                <a:solidFill>
                  <a:srgbClr val="FFFFFF"/>
                </a:solidFill>
                <a:latin typeface="Calibri"/>
              </a:rPr>
              <a:t>JWT + guards RBAC</a:t>
            </a:r>
          </a:p>
          <a:p>
            <a:pPr algn="ctr">
              <a:spcBef>
                <a:spcPts val="0"/>
              </a:spcBef>
              <a:spcAft>
                <a:spcPts val="300"/>
              </a:spcAft>
            </a:pPr>
            <a:r>
              <a:rPr sz="1200" b="0">
                <a:solidFill>
                  <a:srgbClr val="FFFFFF"/>
                </a:solidFill>
                <a:latin typeface="Calibri"/>
              </a:rPr>
              <a:t>Validation par DTO</a:t>
            </a:r>
          </a:p>
        </p:txBody>
      </p:sp>
      <p:sp>
        <p:nvSpPr>
          <p:cNvPr id="10" name="Rectangle 9"/>
          <p:cNvSpPr/>
          <p:nvPr/>
        </p:nvSpPr>
        <p:spPr>
          <a:xfrm>
            <a:off x="8458200" y="1691640"/>
            <a:ext cx="3200400" cy="2286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641080" y="1828800"/>
            <a:ext cx="2880360" cy="2057400"/>
          </a:xfrm>
          <a:prstGeom prst="rect">
            <a:avLst/>
          </a:prstGeom>
          <a:noFill/>
        </p:spPr>
        <p:txBody>
          <a:bodyPr wrap="square">
            <a:spAutoFit/>
          </a:bodyPr>
          <a:lstStyle/>
          <a:p>
            <a:pPr algn="ctr">
              <a:spcBef>
                <a:spcPts val="0"/>
              </a:spcBef>
              <a:spcAft>
                <a:spcPts val="400"/>
              </a:spcAft>
            </a:pPr>
            <a:r>
              <a:rPr sz="1700" b="1">
                <a:solidFill>
                  <a:srgbClr val="FFFFFF"/>
                </a:solidFill>
                <a:latin typeface="Calibri"/>
              </a:rPr>
              <a:t>Base — PostgreSQL</a:t>
            </a:r>
          </a:p>
          <a:p>
            <a:pPr algn="ctr">
              <a:spcBef>
                <a:spcPts val="0"/>
              </a:spcBef>
              <a:spcAft>
                <a:spcPts val="300"/>
              </a:spcAft>
            </a:pPr>
            <a:r>
              <a:rPr sz="1200" b="0">
                <a:solidFill>
                  <a:srgbClr val="FFFFFF"/>
                </a:solidFill>
                <a:latin typeface="Calibri"/>
              </a:rPr>
              <a:t>TypeORM + migrations</a:t>
            </a:r>
          </a:p>
          <a:p>
            <a:pPr algn="ctr">
              <a:spcBef>
                <a:spcPts val="0"/>
              </a:spcBef>
              <a:spcAft>
                <a:spcPts val="300"/>
              </a:spcAft>
            </a:pPr>
            <a:r>
              <a:rPr sz="1200" b="0">
                <a:solidFill>
                  <a:srgbClr val="FFFFFF"/>
                </a:solidFill>
                <a:latin typeface="Calibri"/>
              </a:rPr>
              <a:t>Index anti-double</a:t>
            </a:r>
          </a:p>
          <a:p>
            <a:pPr algn="ctr">
              <a:spcBef>
                <a:spcPts val="0"/>
              </a:spcBef>
              <a:spcAft>
                <a:spcPts val="300"/>
              </a:spcAft>
            </a:pPr>
            <a:r>
              <a:rPr sz="1200" b="0">
                <a:solidFill>
                  <a:srgbClr val="FFFFFF"/>
                </a:solidFill>
                <a:latin typeface="Calibri"/>
              </a:rPr>
              <a:t>Données cloisonnées</a:t>
            </a:r>
          </a:p>
        </p:txBody>
      </p:sp>
      <p:sp>
        <p:nvSpPr>
          <p:cNvPr id="12" name="Right Arrow 11"/>
          <p:cNvSpPr/>
          <p:nvPr/>
        </p:nvSpPr>
        <p:spPr>
          <a:xfrm>
            <a:off x="3977639" y="2651760"/>
            <a:ext cx="457200" cy="411480"/>
          </a:xfrm>
          <a:prstGeom prst="rightArrow">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ight Arrow 12"/>
          <p:cNvSpPr/>
          <p:nvPr/>
        </p:nvSpPr>
        <p:spPr>
          <a:xfrm>
            <a:off x="7955279" y="2651760"/>
            <a:ext cx="457200" cy="411480"/>
          </a:xfrm>
          <a:prstGeom prst="rightArrow">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1480" y="4297680"/>
            <a:ext cx="11338560" cy="1874519"/>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11480" y="4297680"/>
            <a:ext cx="76200" cy="1874519"/>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4407408"/>
            <a:ext cx="10972800" cy="1691639"/>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Le lien entre les parties (un flux de réservation)</a:t>
            </a:r>
          </a:p>
          <a:p>
            <a:pPr algn="l">
              <a:spcBef>
                <a:spcPts val="0"/>
              </a:spcBef>
              <a:spcAft>
                <a:spcPts val="300"/>
              </a:spcAft>
            </a:pPr>
            <a:r>
              <a:rPr sz="1300" b="0">
                <a:solidFill>
                  <a:srgbClr val="404040"/>
                </a:solidFill>
                <a:latin typeface="Calibri"/>
              </a:rPr>
              <a:t>•  1.  Le navigateur envoie une requête HTTPS au backend, avec le jeton JWT dans l'en-tête (proxy /api → NestJS)</a:t>
            </a:r>
          </a:p>
          <a:p>
            <a:pPr algn="l">
              <a:spcBef>
                <a:spcPts val="0"/>
              </a:spcBef>
              <a:spcAft>
                <a:spcPts val="300"/>
              </a:spcAft>
            </a:pPr>
            <a:r>
              <a:rPr sz="1300" b="0">
                <a:solidFill>
                  <a:srgbClr val="404040"/>
                </a:solidFill>
                <a:latin typeface="Calibri"/>
              </a:rPr>
              <a:t>•  2.  NestJS valide le jeton, vérifie le rôle (guard RBAC) et les données reçues (DTO), puis applique la règle métier</a:t>
            </a:r>
          </a:p>
          <a:p>
            <a:pPr algn="l">
              <a:spcBef>
                <a:spcPts val="0"/>
              </a:spcBef>
              <a:spcAft>
                <a:spcPts val="300"/>
              </a:spcAft>
            </a:pPr>
            <a:r>
              <a:rPr sz="1300" b="0">
                <a:solidFill>
                  <a:srgbClr val="404040"/>
                </a:solidFill>
                <a:latin typeface="Calibri"/>
              </a:rPr>
              <a:t>•  3.  TypeORM écrit en base dans une transaction ; l'index unique partiel garantit qu'un créneau n'est pris qu'une fois</a:t>
            </a:r>
          </a:p>
          <a:p>
            <a:pPr algn="l">
              <a:spcBef>
                <a:spcPts val="0"/>
              </a:spcBef>
              <a:spcAft>
                <a:spcPts val="300"/>
              </a:spcAft>
            </a:pPr>
            <a:r>
              <a:rPr sz="1300" b="0">
                <a:solidFill>
                  <a:srgbClr val="404040"/>
                </a:solidFill>
                <a:latin typeface="Calibri"/>
              </a:rPr>
              <a:t>•  4.  La réponse remonte au frontend, qui met à jour l'affichage via les signals — monorepo unique (frontend + backend)</a:t>
            </a:r>
          </a:p>
        </p:txBody>
      </p:sp>
      <p:sp>
        <p:nvSpPr>
          <p:cNvPr id="17" name="TextBox 16"/>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a:t>
            </a:r>
          </a:p>
        </p:txBody>
      </p:sp>
      <p:sp>
        <p:nvSpPr>
          <p:cNvPr id="18" name="TextBox 17"/>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30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4</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Développement — base, backend, frontend</a:t>
            </a:r>
          </a:p>
          <a:p>
            <a:pPr algn="l">
              <a:spcBef>
                <a:spcPts val="0"/>
              </a:spcBef>
              <a:spcAft>
                <a:spcPts val="0"/>
              </a:spcAft>
            </a:pPr>
            <a:r>
              <a:rPr sz="1400" b="0">
                <a:solidFill>
                  <a:srgbClr val="CFE3FF"/>
                </a:solidFill>
                <a:latin typeface="Calibri"/>
              </a:rPr>
              <a:t>Les choix techniques, couche par couche</a:t>
            </a:r>
          </a:p>
        </p:txBody>
      </p:sp>
      <p:sp>
        <p:nvSpPr>
          <p:cNvPr id="6" name="Rectangle 5"/>
          <p:cNvSpPr/>
          <p:nvPr/>
        </p:nvSpPr>
        <p:spPr>
          <a:xfrm>
            <a:off x="411480" y="1508760"/>
            <a:ext cx="3703320" cy="4572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508760"/>
            <a:ext cx="76200" cy="4572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18488"/>
            <a:ext cx="3337560" cy="438912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Base de données</a:t>
            </a:r>
          </a:p>
          <a:p>
            <a:pPr algn="l">
              <a:spcBef>
                <a:spcPts val="0"/>
              </a:spcBef>
              <a:spcAft>
                <a:spcPts val="300"/>
              </a:spcAft>
            </a:pPr>
            <a:r>
              <a:rPr sz="1300" b="0">
                <a:solidFill>
                  <a:srgbClr val="404040"/>
                </a:solidFill>
                <a:latin typeface="Calibri"/>
              </a:rPr>
              <a:t>•  PostgreSQL, schéma issu de l'ERD</a:t>
            </a:r>
          </a:p>
          <a:p>
            <a:pPr algn="l">
              <a:spcBef>
                <a:spcPts val="0"/>
              </a:spcBef>
              <a:spcAft>
                <a:spcPts val="300"/>
              </a:spcAft>
            </a:pPr>
            <a:r>
              <a:rPr sz="1300" b="0">
                <a:solidFill>
                  <a:srgbClr val="404040"/>
                </a:solidFill>
                <a:latin typeface="Calibri"/>
              </a:rPr>
              <a:t>•  Migrations TypeORM versionnées</a:t>
            </a:r>
          </a:p>
          <a:p>
            <a:pPr algn="l">
              <a:spcBef>
                <a:spcPts val="0"/>
              </a:spcBef>
              <a:spcAft>
                <a:spcPts val="300"/>
              </a:spcAft>
            </a:pPr>
            <a:r>
              <a:rPr sz="1300" b="0">
                <a:solidFill>
                  <a:srgbClr val="404040"/>
                </a:solidFill>
                <a:latin typeface="Calibri"/>
              </a:rPr>
              <a:t>•  Entités : Clinique, Utilisateur,</a:t>
            </a:r>
          </a:p>
          <a:p>
            <a:pPr algn="l">
              <a:spcBef>
                <a:spcPts val="0"/>
              </a:spcBef>
              <a:spcAft>
                <a:spcPts val="300"/>
              </a:spcAft>
            </a:pPr>
            <a:r>
              <a:rPr sz="1300" b="0">
                <a:solidFill>
                  <a:srgbClr val="404040"/>
                </a:solidFill>
                <a:latin typeface="Calibri"/>
              </a:rPr>
              <a:t>•     Disponibilité, Créneau, RDV</a:t>
            </a:r>
          </a:p>
          <a:p>
            <a:pPr algn="l">
              <a:spcBef>
                <a:spcPts val="0"/>
              </a:spcBef>
              <a:spcAft>
                <a:spcPts val="300"/>
              </a:spcAft>
            </a:pPr>
            <a:r>
              <a:rPr sz="1300" b="0">
                <a:solidFill>
                  <a:srgbClr val="404040"/>
                </a:solidFill>
                <a:latin typeface="Calibri"/>
              </a:rPr>
              <a:t>•  Patient léger : rôle patient,</a:t>
            </a:r>
          </a:p>
          <a:p>
            <a:pPr algn="l">
              <a:spcBef>
                <a:spcPts val="0"/>
              </a:spcBef>
              <a:spcAft>
                <a:spcPts val="300"/>
              </a:spcAft>
            </a:pPr>
            <a:r>
              <a:rPr sz="1300" b="0">
                <a:solidFill>
                  <a:srgbClr val="404040"/>
                </a:solidFill>
                <a:latin typeface="Calibri"/>
              </a:rPr>
              <a:t>•     mot de passe NULL</a:t>
            </a:r>
          </a:p>
          <a:p>
            <a:pPr algn="l">
              <a:spcBef>
                <a:spcPts val="0"/>
              </a:spcBef>
              <a:spcAft>
                <a:spcPts val="300"/>
              </a:spcAft>
            </a:pPr>
            <a:r>
              <a:rPr sz="1300" b="0">
                <a:solidFill>
                  <a:srgbClr val="404040"/>
                </a:solidFill>
                <a:latin typeface="Calibri"/>
              </a:rPr>
              <a:t>•  Cœur métier :</a:t>
            </a:r>
          </a:p>
          <a:p>
            <a:pPr algn="l">
              <a:spcBef>
                <a:spcPts val="0"/>
              </a:spcBef>
              <a:spcAft>
                <a:spcPts val="300"/>
              </a:spcAft>
            </a:pPr>
            <a:r>
              <a:rPr sz="1300" b="0">
                <a:solidFill>
                  <a:srgbClr val="404040"/>
                </a:solidFill>
                <a:latin typeface="Calibri"/>
              </a:rPr>
              <a:t>•     index unique partiel sur le</a:t>
            </a:r>
          </a:p>
          <a:p>
            <a:pPr algn="l">
              <a:spcBef>
                <a:spcPts val="0"/>
              </a:spcBef>
              <a:spcAft>
                <a:spcPts val="300"/>
              </a:spcAft>
            </a:pPr>
            <a:r>
              <a:rPr sz="1300" b="0">
                <a:solidFill>
                  <a:srgbClr val="404040"/>
                </a:solidFill>
                <a:latin typeface="Calibri"/>
              </a:rPr>
              <a:t>•     créneau (hors annulés) →</a:t>
            </a:r>
          </a:p>
          <a:p>
            <a:pPr algn="l">
              <a:spcBef>
                <a:spcPts val="0"/>
              </a:spcBef>
              <a:spcAft>
                <a:spcPts val="300"/>
              </a:spcAft>
            </a:pPr>
            <a:r>
              <a:rPr sz="1300" b="0">
                <a:solidFill>
                  <a:srgbClr val="404040"/>
                </a:solidFill>
                <a:latin typeface="Calibri"/>
              </a:rPr>
              <a:t>•     pas de double réservation</a:t>
            </a:r>
          </a:p>
          <a:p>
            <a:pPr algn="l">
              <a:spcBef>
                <a:spcPts val="0"/>
              </a:spcBef>
              <a:spcAft>
                <a:spcPts val="300"/>
              </a:spcAft>
            </a:pPr>
            <a:r>
              <a:rPr sz="1300" b="0">
                <a:solidFill>
                  <a:srgbClr val="404040"/>
                </a:solidFill>
                <a:latin typeface="Calibri"/>
              </a:rPr>
              <a:t>•  Cloisonnement par clinic_id</a:t>
            </a:r>
          </a:p>
        </p:txBody>
      </p:sp>
      <p:sp>
        <p:nvSpPr>
          <p:cNvPr id="9" name="Rectangle 8"/>
          <p:cNvSpPr/>
          <p:nvPr/>
        </p:nvSpPr>
        <p:spPr>
          <a:xfrm>
            <a:off x="4297680" y="1508760"/>
            <a:ext cx="3703320" cy="4572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97680" y="1508760"/>
            <a:ext cx="76200" cy="45720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618488"/>
            <a:ext cx="3337560" cy="438912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Backend — NestJS</a:t>
            </a:r>
          </a:p>
          <a:p>
            <a:pPr algn="l">
              <a:spcBef>
                <a:spcPts val="0"/>
              </a:spcBef>
              <a:spcAft>
                <a:spcPts val="300"/>
              </a:spcAft>
            </a:pPr>
            <a:r>
              <a:rPr sz="1300" b="0">
                <a:solidFill>
                  <a:srgbClr val="404040"/>
                </a:solidFill>
                <a:latin typeface="Calibri"/>
              </a:rPr>
              <a:t>•  API REST sous /api/v1</a:t>
            </a:r>
          </a:p>
          <a:p>
            <a:pPr algn="l">
              <a:spcBef>
                <a:spcPts val="0"/>
              </a:spcBef>
              <a:spcAft>
                <a:spcPts val="300"/>
              </a:spcAft>
            </a:pPr>
            <a:r>
              <a:rPr sz="1300" b="0">
                <a:solidFill>
                  <a:srgbClr val="404040"/>
                </a:solidFill>
                <a:latin typeface="Calibri"/>
              </a:rPr>
              <a:t>•  Modules : auth, user, clinic,</a:t>
            </a:r>
          </a:p>
          <a:p>
            <a:pPr algn="l">
              <a:spcBef>
                <a:spcPts val="0"/>
              </a:spcBef>
              <a:spcAft>
                <a:spcPts val="300"/>
              </a:spcAft>
            </a:pPr>
            <a:r>
              <a:rPr sz="1300" b="0">
                <a:solidFill>
                  <a:srgbClr val="404040"/>
                </a:solidFill>
                <a:latin typeface="Calibri"/>
              </a:rPr>
              <a:t>•     availability, appointment</a:t>
            </a:r>
          </a:p>
          <a:p>
            <a:pPr algn="l">
              <a:spcBef>
                <a:spcPts val="0"/>
              </a:spcBef>
              <a:spcAft>
                <a:spcPts val="300"/>
              </a:spcAft>
            </a:pPr>
            <a:r>
              <a:rPr sz="1300" b="0">
                <a:solidFill>
                  <a:srgbClr val="404040"/>
                </a:solidFill>
                <a:latin typeface="Calibri"/>
              </a:rPr>
              <a:t>•  JWT (HS256, 60 min), bcrypt</a:t>
            </a:r>
          </a:p>
          <a:p>
            <a:pPr algn="l">
              <a:spcBef>
                <a:spcPts val="0"/>
              </a:spcBef>
              <a:spcAft>
                <a:spcPts val="300"/>
              </a:spcAft>
            </a:pPr>
            <a:r>
              <a:rPr sz="1300" b="0">
                <a:solidFill>
                  <a:srgbClr val="404040"/>
                </a:solidFill>
                <a:latin typeface="Calibri"/>
              </a:rPr>
              <a:t>•  Guards + @Roles → RBAC</a:t>
            </a:r>
          </a:p>
          <a:p>
            <a:pPr algn="l">
              <a:spcBef>
                <a:spcPts val="0"/>
              </a:spcBef>
              <a:spcAft>
                <a:spcPts val="300"/>
              </a:spcAft>
            </a:pPr>
            <a:r>
              <a:rPr sz="1300" b="0">
                <a:solidFill>
                  <a:srgbClr val="404040"/>
                </a:solidFill>
                <a:latin typeface="Calibri"/>
              </a:rPr>
              <a:t>•  Validation des entrées par DTO</a:t>
            </a:r>
          </a:p>
          <a:p>
            <a:pPr algn="l">
              <a:spcBef>
                <a:spcPts val="0"/>
              </a:spcBef>
              <a:spcAft>
                <a:spcPts val="300"/>
              </a:spcAft>
            </a:pPr>
            <a:r>
              <a:rPr sz="1300" b="0">
                <a:solidFill>
                  <a:srgbClr val="404040"/>
                </a:solidFill>
                <a:latin typeface="Calibri"/>
              </a:rPr>
              <a:t>•     (class-validator)</a:t>
            </a:r>
          </a:p>
          <a:p>
            <a:pPr algn="l">
              <a:spcBef>
                <a:spcPts val="0"/>
              </a:spcBef>
              <a:spcAft>
                <a:spcPts val="300"/>
              </a:spcAft>
            </a:pPr>
            <a:r>
              <a:rPr sz="1300" b="0">
                <a:solidFill>
                  <a:srgbClr val="404040"/>
                </a:solidFill>
                <a:latin typeface="Calibri"/>
              </a:rPr>
              <a:t>•  Verrouillage de compte (5/15 min)</a:t>
            </a:r>
          </a:p>
          <a:p>
            <a:pPr algn="l">
              <a:spcBef>
                <a:spcPts val="0"/>
              </a:spcBef>
              <a:spcAft>
                <a:spcPts val="300"/>
              </a:spcAft>
            </a:pPr>
            <a:r>
              <a:rPr sz="1300" b="0">
                <a:solidFill>
                  <a:srgbClr val="404040"/>
                </a:solidFill>
                <a:latin typeface="Calibri"/>
              </a:rPr>
              <a:t>•  Transactions + verrous pour la</a:t>
            </a:r>
          </a:p>
          <a:p>
            <a:pPr algn="l">
              <a:spcBef>
                <a:spcPts val="0"/>
              </a:spcBef>
              <a:spcAft>
                <a:spcPts val="300"/>
              </a:spcAft>
            </a:pPr>
            <a:r>
              <a:rPr sz="1300" b="0">
                <a:solidFill>
                  <a:srgbClr val="404040"/>
                </a:solidFill>
                <a:latin typeface="Calibri"/>
              </a:rPr>
              <a:t>•     réservation concurrente</a:t>
            </a:r>
          </a:p>
        </p:txBody>
      </p:sp>
      <p:sp>
        <p:nvSpPr>
          <p:cNvPr id="12" name="Rectangle 11"/>
          <p:cNvSpPr/>
          <p:nvPr/>
        </p:nvSpPr>
        <p:spPr>
          <a:xfrm>
            <a:off x="8183879" y="1508760"/>
            <a:ext cx="3566160" cy="4572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183879" y="1508760"/>
            <a:ext cx="76200" cy="45720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9" y="1618488"/>
            <a:ext cx="3200400" cy="438912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Frontend — Angular</a:t>
            </a:r>
          </a:p>
          <a:p>
            <a:pPr algn="l">
              <a:spcBef>
                <a:spcPts val="0"/>
              </a:spcBef>
              <a:spcAft>
                <a:spcPts val="300"/>
              </a:spcAft>
            </a:pPr>
            <a:r>
              <a:rPr sz="1300" b="0">
                <a:solidFill>
                  <a:srgbClr val="404040"/>
                </a:solidFill>
                <a:latin typeface="Calibri"/>
              </a:rPr>
              <a:t>•  Composants standalone</a:t>
            </a:r>
          </a:p>
          <a:p>
            <a:pPr algn="l">
              <a:spcBef>
                <a:spcPts val="0"/>
              </a:spcBef>
              <a:spcAft>
                <a:spcPts val="300"/>
              </a:spcAft>
            </a:pPr>
            <a:r>
              <a:rPr sz="1300" b="0">
                <a:solidFill>
                  <a:srgbClr val="404040"/>
                </a:solidFill>
                <a:latin typeface="Calibri"/>
              </a:rPr>
              <a:t>•  État réactif par signals</a:t>
            </a:r>
          </a:p>
          <a:p>
            <a:pPr algn="l">
              <a:spcBef>
                <a:spcPts val="0"/>
              </a:spcBef>
              <a:spcAft>
                <a:spcPts val="300"/>
              </a:spcAft>
            </a:pPr>
            <a:r>
              <a:rPr sz="1300" b="0">
                <a:solidFill>
                  <a:srgbClr val="404040"/>
                </a:solidFill>
                <a:latin typeface="Calibri"/>
              </a:rPr>
              <a:t>•  Angular Material 3</a:t>
            </a:r>
          </a:p>
          <a:p>
            <a:pPr algn="l">
              <a:spcBef>
                <a:spcPts val="0"/>
              </a:spcBef>
              <a:spcAft>
                <a:spcPts val="300"/>
              </a:spcAft>
            </a:pPr>
            <a:r>
              <a:rPr sz="1300" b="0">
                <a:solidFill>
                  <a:srgbClr val="404040"/>
                </a:solidFill>
                <a:latin typeface="Calibri"/>
              </a:rPr>
              <a:t>•  Design system : une seule</a:t>
            </a:r>
          </a:p>
          <a:p>
            <a:pPr algn="l">
              <a:spcBef>
                <a:spcPts val="0"/>
              </a:spcBef>
              <a:spcAft>
                <a:spcPts val="300"/>
              </a:spcAft>
            </a:pPr>
            <a:r>
              <a:rPr sz="1300" b="0">
                <a:solidFill>
                  <a:srgbClr val="404040"/>
                </a:solidFill>
                <a:latin typeface="Calibri"/>
              </a:rPr>
              <a:t>•     source de tokens (couleurs,</a:t>
            </a:r>
          </a:p>
          <a:p>
            <a:pPr algn="l">
              <a:spcBef>
                <a:spcPts val="0"/>
              </a:spcBef>
              <a:spcAft>
                <a:spcPts val="300"/>
              </a:spcAft>
            </a:pPr>
            <a:r>
              <a:rPr sz="1300" b="0">
                <a:solidFill>
                  <a:srgbClr val="404040"/>
                </a:solidFill>
                <a:latin typeface="Calibri"/>
              </a:rPr>
              <a:t>•     typographie) → cohérence</a:t>
            </a:r>
          </a:p>
          <a:p>
            <a:pPr algn="l">
              <a:spcBef>
                <a:spcPts val="0"/>
              </a:spcBef>
              <a:spcAft>
                <a:spcPts val="300"/>
              </a:spcAft>
            </a:pPr>
            <a:r>
              <a:rPr sz="1300" b="0">
                <a:solidFill>
                  <a:srgbClr val="404040"/>
                </a:solidFill>
                <a:latin typeface="Calibri"/>
              </a:rPr>
              <a:t>•  Intercepteur : jeton ajouté</a:t>
            </a:r>
          </a:p>
          <a:p>
            <a:pPr algn="l">
              <a:spcBef>
                <a:spcPts val="0"/>
              </a:spcBef>
              <a:spcAft>
                <a:spcPts val="300"/>
              </a:spcAft>
            </a:pPr>
            <a:r>
              <a:rPr sz="1300" b="0">
                <a:solidFill>
                  <a:srgbClr val="404040"/>
                </a:solidFill>
                <a:latin typeface="Calibri"/>
              </a:rPr>
              <a:t>•     automatiquement, gestion 401</a:t>
            </a:r>
          </a:p>
          <a:p>
            <a:pPr algn="l">
              <a:spcBef>
                <a:spcPts val="0"/>
              </a:spcBef>
              <a:spcAft>
                <a:spcPts val="300"/>
              </a:spcAft>
            </a:pPr>
            <a:r>
              <a:rPr sz="1300" b="0">
                <a:solidFill>
                  <a:srgbClr val="404040"/>
                </a:solidFill>
                <a:latin typeface="Calibri"/>
              </a:rPr>
              <a:t>•  Masquage des vues selon le rôle</a:t>
            </a:r>
          </a:p>
          <a:p>
            <a:pPr algn="l">
              <a:spcBef>
                <a:spcPts val="0"/>
              </a:spcBef>
              <a:spcAft>
                <a:spcPts val="300"/>
              </a:spcAft>
            </a:pPr>
            <a:r>
              <a:rPr sz="1300" b="0">
                <a:solidFill>
                  <a:srgbClr val="404040"/>
                </a:solidFill>
                <a:latin typeface="Calibri"/>
              </a:rPr>
              <a:t>•  Mode clair / sombre complet</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30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5</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Démonstration — ce qui fonctionne</a:t>
            </a:r>
          </a:p>
          <a:p>
            <a:pPr algn="l">
              <a:spcBef>
                <a:spcPts val="0"/>
              </a:spcBef>
              <a:spcAft>
                <a:spcPts val="0"/>
              </a:spcAft>
            </a:pPr>
            <a:r>
              <a:rPr sz="1400" b="0">
                <a:solidFill>
                  <a:srgbClr val="CFE3FF"/>
                </a:solidFill>
                <a:latin typeface="Calibri"/>
              </a:rPr>
              <a:t>Parcours réel de la réception</a:t>
            </a:r>
          </a:p>
        </p:txBody>
      </p:sp>
      <p:sp>
        <p:nvSpPr>
          <p:cNvPr id="6" name="Rectangle 5"/>
          <p:cNvSpPr/>
          <p:nvPr/>
        </p:nvSpPr>
        <p:spPr>
          <a:xfrm>
            <a:off x="411480" y="1508760"/>
            <a:ext cx="6766560" cy="46177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508760"/>
            <a:ext cx="76200" cy="461772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18488"/>
            <a:ext cx="6400800" cy="443484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Le scénario que nous démontrons en direct</a:t>
            </a:r>
          </a:p>
          <a:p>
            <a:pPr algn="l">
              <a:spcBef>
                <a:spcPts val="0"/>
              </a:spcBef>
              <a:spcAft>
                <a:spcPts val="300"/>
              </a:spcAft>
            </a:pPr>
            <a:r>
              <a:rPr sz="1300" b="0">
                <a:solidFill>
                  <a:srgbClr val="404040"/>
                </a:solidFill>
                <a:latin typeface="Calibri"/>
              </a:rPr>
              <a:t>•  1.  Connexion réception → l'en-tête affiche « Alice Tremblay »</a:t>
            </a:r>
          </a:p>
          <a:p>
            <a:pPr algn="l">
              <a:spcBef>
                <a:spcPts val="0"/>
              </a:spcBef>
              <a:spcAft>
                <a:spcPts val="300"/>
              </a:spcAft>
            </a:pPr>
            <a:r>
              <a:rPr sz="1300" b="0">
                <a:solidFill>
                  <a:srgbClr val="404040"/>
                </a:solidFill>
                <a:latin typeface="Calibri"/>
              </a:rPr>
              <a:t>•       (le profil vient du serveur, pas du jeton)</a:t>
            </a:r>
          </a:p>
          <a:p>
            <a:pPr algn="l">
              <a:spcBef>
                <a:spcPts val="0"/>
              </a:spcBef>
              <a:spcAft>
                <a:spcPts val="300"/>
              </a:spcAft>
            </a:pPr>
            <a:r>
              <a:rPr sz="1300" b="0">
                <a:solidFill>
                  <a:srgbClr val="404040"/>
                </a:solidFill>
                <a:latin typeface="Calibri"/>
              </a:rPr>
              <a:t>•  2.  Disponibilités → saisir une plage datée + une durée</a:t>
            </a:r>
          </a:p>
          <a:p>
            <a:pPr algn="l">
              <a:spcBef>
                <a:spcPts val="0"/>
              </a:spcBef>
              <a:spcAft>
                <a:spcPts val="300"/>
              </a:spcAft>
            </a:pPr>
            <a:r>
              <a:rPr sz="1300" b="0">
                <a:solidFill>
                  <a:srgbClr val="404040"/>
                </a:solidFill>
                <a:latin typeface="Calibri"/>
              </a:rPr>
              <a:t>•       → le système génère seul les créneaux réservables</a:t>
            </a:r>
          </a:p>
          <a:p>
            <a:pPr algn="l">
              <a:spcBef>
                <a:spcPts val="0"/>
              </a:spcBef>
              <a:spcAft>
                <a:spcPts val="300"/>
              </a:spcAft>
            </a:pPr>
            <a:r>
              <a:rPr sz="1300" b="0">
                <a:solidFill>
                  <a:srgbClr val="404040"/>
                </a:solidFill>
                <a:latin typeface="Calibri"/>
              </a:rPr>
              <a:t>•  3.  Réserver → choisir médecin, créneau libre, patient, motif</a:t>
            </a:r>
          </a:p>
          <a:p>
            <a:pPr algn="l">
              <a:spcBef>
                <a:spcPts val="0"/>
              </a:spcBef>
              <a:spcAft>
                <a:spcPts val="300"/>
              </a:spcAft>
            </a:pPr>
            <a:r>
              <a:rPr sz="1300" b="0">
                <a:solidFill>
                  <a:srgbClr val="404040"/>
                </a:solidFill>
                <a:latin typeface="Calibri"/>
              </a:rPr>
              <a:t>•       → le rendez-vous entre dans l'agenda</a:t>
            </a:r>
          </a:p>
          <a:p>
            <a:pPr algn="l">
              <a:spcBef>
                <a:spcPts val="0"/>
              </a:spcBef>
              <a:spcAft>
                <a:spcPts val="300"/>
              </a:spcAft>
            </a:pPr>
            <a:r>
              <a:rPr sz="1300" b="0">
                <a:solidFill>
                  <a:srgbClr val="404040"/>
                </a:solidFill>
                <a:latin typeface="Calibri"/>
              </a:rPr>
              <a:t>•  4.  Flux du jour → dérouler le cycle : Arrivé → En consultation</a:t>
            </a:r>
          </a:p>
          <a:p>
            <a:pPr algn="l">
              <a:spcBef>
                <a:spcPts val="0"/>
              </a:spcBef>
              <a:spcAft>
                <a:spcPts val="300"/>
              </a:spcAft>
            </a:pPr>
            <a:r>
              <a:rPr sz="1300" b="0">
                <a:solidFill>
                  <a:srgbClr val="404040"/>
                </a:solidFill>
                <a:latin typeface="Calibri"/>
              </a:rPr>
              <a:t>•       → Terminé (ou Absent)</a:t>
            </a:r>
          </a:p>
          <a:p>
            <a:pPr algn="l">
              <a:spcBef>
                <a:spcPts val="0"/>
              </a:spcBef>
              <a:spcAft>
                <a:spcPts val="300"/>
              </a:spcAft>
            </a:pPr>
            <a:r>
              <a:rPr sz="1300" b="0">
                <a:solidFill>
                  <a:srgbClr val="404040"/>
                </a:solidFill>
                <a:latin typeface="Calibri"/>
              </a:rPr>
              <a:t>•  5.  Annuler un rendez-vous avec motif → le créneau se libère</a:t>
            </a:r>
          </a:p>
          <a:p>
            <a:pPr algn="l">
              <a:spcBef>
                <a:spcPts val="0"/>
              </a:spcBef>
              <a:spcAft>
                <a:spcPts val="300"/>
              </a:spcAft>
            </a:pPr>
            <a:r>
              <a:rPr sz="1300" b="0">
                <a:solidFill>
                  <a:srgbClr val="404040"/>
                </a:solidFill>
                <a:latin typeface="Calibri"/>
              </a:rPr>
              <a:t>•       et redevient réservable  (fonctionnalité déjà livrée)</a:t>
            </a:r>
          </a:p>
          <a:p>
            <a:pPr algn="l">
              <a:spcBef>
                <a:spcPts val="0"/>
              </a:spcBef>
              <a:spcAft>
                <a:spcPts val="300"/>
              </a:spcAft>
            </a:pPr>
            <a:r>
              <a:rPr sz="1300" b="0">
                <a:solidFill>
                  <a:srgbClr val="404040"/>
                </a:solidFill>
                <a:latin typeface="Calibri"/>
              </a:rPr>
              <a:t>•  6.  RBAC visible : « Utilisateurs » disparaît pour un médecin</a:t>
            </a:r>
          </a:p>
          <a:p>
            <a:pPr algn="l">
              <a:spcBef>
                <a:spcPts val="0"/>
              </a:spcBef>
              <a:spcAft>
                <a:spcPts val="300"/>
              </a:spcAft>
            </a:pPr>
            <a:r>
              <a:rPr sz="1300" b="0">
                <a:solidFill>
                  <a:srgbClr val="404040"/>
                </a:solidFill>
                <a:latin typeface="Calibri"/>
              </a:rPr>
              <a:t>•  7.  Mode sombre en un clic</a:t>
            </a:r>
          </a:p>
        </p:txBody>
      </p:sp>
      <p:sp>
        <p:nvSpPr>
          <p:cNvPr id="9" name="Rectangle 8"/>
          <p:cNvSpPr/>
          <p:nvPr/>
        </p:nvSpPr>
        <p:spPr>
          <a:xfrm>
            <a:off x="7360920" y="1508760"/>
            <a:ext cx="4389120" cy="46177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360920" y="1508760"/>
            <a:ext cx="76200" cy="461772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589520" y="1618488"/>
            <a:ext cx="4023360" cy="443484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Logique de fonctionnement</a:t>
            </a:r>
          </a:p>
          <a:p>
            <a:pPr algn="l">
              <a:spcBef>
                <a:spcPts val="0"/>
              </a:spcBef>
              <a:spcAft>
                <a:spcPts val="300"/>
              </a:spcAft>
            </a:pPr>
            <a:r>
              <a:rPr sz="1300" b="0">
                <a:solidFill>
                  <a:srgbClr val="404040"/>
                </a:solidFill>
                <a:latin typeface="Calibri"/>
              </a:rPr>
              <a:t>•  Le patient n'agit pas en ligne :</a:t>
            </a:r>
          </a:p>
          <a:p>
            <a:pPr algn="l">
              <a:spcBef>
                <a:spcPts val="0"/>
              </a:spcBef>
              <a:spcAft>
                <a:spcPts val="300"/>
              </a:spcAft>
            </a:pPr>
            <a:r>
              <a:rPr sz="1300" b="0">
                <a:solidFill>
                  <a:srgbClr val="404040"/>
                </a:solidFill>
                <a:latin typeface="Calibri"/>
              </a:rPr>
              <a:t>•     la réception fait tout pour lui</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Une disponibilité datée →</a:t>
            </a:r>
          </a:p>
          <a:p>
            <a:pPr algn="l">
              <a:spcBef>
                <a:spcPts val="0"/>
              </a:spcBef>
              <a:spcAft>
                <a:spcPts val="300"/>
              </a:spcAft>
            </a:pPr>
            <a:r>
              <a:rPr sz="1300" b="0">
                <a:solidFill>
                  <a:srgbClr val="404040"/>
                </a:solidFill>
                <a:latin typeface="Calibri"/>
              </a:rPr>
              <a:t>•     des créneaux → un rendez-vous</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Un créneau ne peut être pris</a:t>
            </a:r>
          </a:p>
          <a:p>
            <a:pPr algn="l">
              <a:spcBef>
                <a:spcPts val="0"/>
              </a:spcBef>
              <a:spcAft>
                <a:spcPts val="300"/>
              </a:spcAft>
            </a:pPr>
            <a:r>
              <a:rPr sz="1300" b="0">
                <a:solidFill>
                  <a:srgbClr val="404040"/>
                </a:solidFill>
                <a:latin typeface="Calibri"/>
              </a:rPr>
              <a:t>•     qu'une fois (garanti en base)</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Chaque écran est protégé selon</a:t>
            </a:r>
          </a:p>
          <a:p>
            <a:pPr algn="l">
              <a:spcBef>
                <a:spcPts val="0"/>
              </a:spcBef>
              <a:spcAft>
                <a:spcPts val="300"/>
              </a:spcAft>
            </a:pPr>
            <a:r>
              <a:rPr sz="1300" b="0">
                <a:solidFill>
                  <a:srgbClr val="404040"/>
                </a:solidFill>
                <a:latin typeface="Calibri"/>
              </a:rPr>
              <a:t>•     le rôle de l'utilisateur connecté</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Données de démo réalistes en place</a:t>
            </a:r>
          </a:p>
          <a:p>
            <a:pPr algn="l">
              <a:spcBef>
                <a:spcPts val="0"/>
              </a:spcBef>
              <a:spcAft>
                <a:spcPts val="300"/>
              </a:spcAft>
            </a:pPr>
            <a:r>
              <a:rPr sz="1300" b="0">
                <a:solidFill>
                  <a:srgbClr val="404040"/>
                </a:solidFill>
                <a:latin typeface="Calibri"/>
              </a:rPr>
              <a:t>•     (2 médecins, 10 patients, RDV</a:t>
            </a:r>
          </a:p>
          <a:p>
            <a:pPr algn="l">
              <a:spcBef>
                <a:spcPts val="0"/>
              </a:spcBef>
              <a:spcAft>
                <a:spcPts val="300"/>
              </a:spcAft>
            </a:pPr>
            <a:r>
              <a:rPr sz="1300" b="0">
                <a:solidFill>
                  <a:srgbClr val="404040"/>
                </a:solidFill>
                <a:latin typeface="Calibri"/>
              </a:rPr>
              <a:t>•     du jour à statuts variés)</a:t>
            </a:r>
          </a:p>
        </p:txBody>
      </p:sp>
      <p:sp>
        <p:nvSpPr>
          <p:cNvPr id="12" name="TextBox 11"/>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(démonstration)</a:t>
            </a:r>
          </a:p>
        </p:txBody>
      </p:sp>
      <p:sp>
        <p:nvSpPr>
          <p:cNvPr id="13" name="TextBox 12"/>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2 min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6</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Tests et validation</a:t>
            </a:r>
          </a:p>
          <a:p>
            <a:pPr algn="l">
              <a:spcBef>
                <a:spcPts val="0"/>
              </a:spcBef>
              <a:spcAft>
                <a:spcPts val="0"/>
              </a:spcAft>
            </a:pPr>
            <a:r>
              <a:rPr sz="1400" b="0">
                <a:solidFill>
                  <a:srgbClr val="CFE3FF"/>
                </a:solidFill>
                <a:latin typeface="Calibri"/>
              </a:rPr>
              <a:t>Ce que nous avons vérifié</a:t>
            </a:r>
          </a:p>
        </p:txBody>
      </p:sp>
      <p:sp>
        <p:nvSpPr>
          <p:cNvPr id="6" name="Rectangle 5"/>
          <p:cNvSpPr/>
          <p:nvPr/>
        </p:nvSpPr>
        <p:spPr>
          <a:xfrm>
            <a:off x="411480" y="1463040"/>
            <a:ext cx="2606040"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536192"/>
            <a:ext cx="2606040" cy="1280160"/>
          </a:xfrm>
          <a:prstGeom prst="rect">
            <a:avLst/>
          </a:prstGeom>
          <a:noFill/>
        </p:spPr>
        <p:txBody>
          <a:bodyPr wrap="square" anchor="ctr">
            <a:spAutoFit/>
          </a:bodyPr>
          <a:lstStyle/>
          <a:p>
            <a:pPr algn="ctr">
              <a:spcBef>
                <a:spcPts val="0"/>
              </a:spcBef>
              <a:spcAft>
                <a:spcPts val="0"/>
              </a:spcAft>
            </a:pPr>
            <a:r>
              <a:rPr sz="3800" b="1">
                <a:solidFill>
                  <a:srgbClr val="FFFFFF"/>
                </a:solidFill>
                <a:latin typeface="Calibri"/>
              </a:rPr>
              <a:t>171</a:t>
            </a:r>
          </a:p>
          <a:p>
            <a:pPr algn="ctr">
              <a:spcBef>
                <a:spcPts val="0"/>
              </a:spcBef>
              <a:spcAft>
                <a:spcPts val="0"/>
              </a:spcAft>
            </a:pPr>
            <a:r>
              <a:rPr sz="1200" b="0">
                <a:solidFill>
                  <a:srgbClr val="FFFFFF"/>
                </a:solidFill>
                <a:latin typeface="Calibri"/>
              </a:rPr>
              <a:t>Tests automatisés verts</a:t>
            </a:r>
          </a:p>
        </p:txBody>
      </p:sp>
      <p:sp>
        <p:nvSpPr>
          <p:cNvPr id="8" name="Rectangle 7"/>
          <p:cNvSpPr/>
          <p:nvPr/>
        </p:nvSpPr>
        <p:spPr>
          <a:xfrm>
            <a:off x="3246120" y="1463040"/>
            <a:ext cx="260604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46120" y="1536192"/>
            <a:ext cx="2606040" cy="1280160"/>
          </a:xfrm>
          <a:prstGeom prst="rect">
            <a:avLst/>
          </a:prstGeom>
          <a:noFill/>
        </p:spPr>
        <p:txBody>
          <a:bodyPr wrap="square" anchor="ctr">
            <a:spAutoFit/>
          </a:bodyPr>
          <a:lstStyle/>
          <a:p>
            <a:pPr algn="ctr">
              <a:spcBef>
                <a:spcPts val="0"/>
              </a:spcBef>
              <a:spcAft>
                <a:spcPts val="0"/>
              </a:spcAft>
            </a:pPr>
            <a:r>
              <a:rPr sz="3800" b="1">
                <a:solidFill>
                  <a:srgbClr val="FFFFFF"/>
                </a:solidFill>
                <a:latin typeface="Calibri"/>
              </a:rPr>
              <a:t>48</a:t>
            </a:r>
          </a:p>
          <a:p>
            <a:pPr algn="ctr">
              <a:spcBef>
                <a:spcPts val="0"/>
              </a:spcBef>
              <a:spcAft>
                <a:spcPts val="0"/>
              </a:spcAft>
            </a:pPr>
            <a:r>
              <a:rPr sz="1200" b="0">
                <a:solidFill>
                  <a:srgbClr val="FFFFFF"/>
                </a:solidFill>
                <a:latin typeface="Calibri"/>
              </a:rPr>
              <a:t>Tests backend (NestJS)</a:t>
            </a:r>
          </a:p>
        </p:txBody>
      </p:sp>
      <p:sp>
        <p:nvSpPr>
          <p:cNvPr id="10" name="Rectangle 9"/>
          <p:cNvSpPr/>
          <p:nvPr/>
        </p:nvSpPr>
        <p:spPr>
          <a:xfrm>
            <a:off x="6080760" y="1463040"/>
            <a:ext cx="260604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80760" y="1536192"/>
            <a:ext cx="2606040" cy="1280160"/>
          </a:xfrm>
          <a:prstGeom prst="rect">
            <a:avLst/>
          </a:prstGeom>
          <a:noFill/>
        </p:spPr>
        <p:txBody>
          <a:bodyPr wrap="square" anchor="ctr">
            <a:spAutoFit/>
          </a:bodyPr>
          <a:lstStyle/>
          <a:p>
            <a:pPr algn="ctr">
              <a:spcBef>
                <a:spcPts val="0"/>
              </a:spcBef>
              <a:spcAft>
                <a:spcPts val="0"/>
              </a:spcAft>
            </a:pPr>
            <a:r>
              <a:rPr sz="3800" b="1">
                <a:solidFill>
                  <a:srgbClr val="FFFFFF"/>
                </a:solidFill>
                <a:latin typeface="Calibri"/>
              </a:rPr>
              <a:t>123</a:t>
            </a:r>
          </a:p>
          <a:p>
            <a:pPr algn="ctr">
              <a:spcBef>
                <a:spcPts val="0"/>
              </a:spcBef>
              <a:spcAft>
                <a:spcPts val="0"/>
              </a:spcAft>
            </a:pPr>
            <a:r>
              <a:rPr sz="1200" b="0">
                <a:solidFill>
                  <a:srgbClr val="FFFFFF"/>
                </a:solidFill>
                <a:latin typeface="Calibri"/>
              </a:rPr>
              <a:t>Tests frontend (Angular)</a:t>
            </a:r>
          </a:p>
        </p:txBody>
      </p:sp>
      <p:sp>
        <p:nvSpPr>
          <p:cNvPr id="12" name="Rectangle 11"/>
          <p:cNvSpPr/>
          <p:nvPr/>
        </p:nvSpPr>
        <p:spPr>
          <a:xfrm>
            <a:off x="8915400" y="1463040"/>
            <a:ext cx="2606040" cy="13716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915400" y="1536192"/>
            <a:ext cx="2606040" cy="1280160"/>
          </a:xfrm>
          <a:prstGeom prst="rect">
            <a:avLst/>
          </a:prstGeom>
          <a:noFill/>
        </p:spPr>
        <p:txBody>
          <a:bodyPr wrap="square" anchor="ctr">
            <a:spAutoFit/>
          </a:bodyPr>
          <a:lstStyle/>
          <a:p>
            <a:pPr algn="ctr">
              <a:spcBef>
                <a:spcPts val="0"/>
              </a:spcBef>
              <a:spcAft>
                <a:spcPts val="0"/>
              </a:spcAft>
            </a:pPr>
            <a:r>
              <a:rPr sz="3800" b="1">
                <a:solidFill>
                  <a:srgbClr val="FFFFFF"/>
                </a:solidFill>
                <a:latin typeface="Calibri"/>
              </a:rPr>
              <a:t>0</a:t>
            </a:r>
          </a:p>
          <a:p>
            <a:pPr algn="ctr">
              <a:spcBef>
                <a:spcPts val="0"/>
              </a:spcBef>
              <a:spcAft>
                <a:spcPts val="0"/>
              </a:spcAft>
            </a:pPr>
            <a:r>
              <a:rPr sz="1200" b="0">
                <a:solidFill>
                  <a:srgbClr val="FFFFFF"/>
                </a:solidFill>
                <a:latin typeface="Calibri"/>
              </a:rPr>
              <a:t>Test en échec</a:t>
            </a:r>
          </a:p>
        </p:txBody>
      </p:sp>
      <p:sp>
        <p:nvSpPr>
          <p:cNvPr id="14" name="Rectangle 13"/>
          <p:cNvSpPr/>
          <p:nvPr/>
        </p:nvSpPr>
        <p:spPr>
          <a:xfrm>
            <a:off x="411480" y="3063240"/>
            <a:ext cx="5577840" cy="31089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11480" y="3063240"/>
            <a:ext cx="76200" cy="31089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172968"/>
            <a:ext cx="5212080" cy="2926080"/>
          </a:xfrm>
          <a:prstGeom prst="rect">
            <a:avLst/>
          </a:prstGeom>
          <a:noFill/>
        </p:spPr>
        <p:txBody>
          <a:bodyPr wrap="square">
            <a:spAutoFit/>
          </a:bodyPr>
          <a:lstStyle/>
          <a:p>
            <a:pPr algn="l">
              <a:spcBef>
                <a:spcPts val="0"/>
              </a:spcBef>
              <a:spcAft>
                <a:spcPts val="400"/>
              </a:spcAft>
            </a:pPr>
            <a:r>
              <a:rPr sz="1600" b="1">
                <a:solidFill>
                  <a:srgbClr val="2E7D32"/>
                </a:solidFill>
                <a:latin typeface="Calibri"/>
              </a:rPr>
              <a:t>Tests réalisés</a:t>
            </a:r>
          </a:p>
          <a:p>
            <a:pPr algn="l">
              <a:spcBef>
                <a:spcPts val="0"/>
              </a:spcBef>
              <a:spcAft>
                <a:spcPts val="300"/>
              </a:spcAft>
            </a:pPr>
            <a:r>
              <a:rPr sz="1300" b="0">
                <a:solidFill>
                  <a:srgbClr val="404040"/>
                </a:solidFill>
                <a:latin typeface="Calibri"/>
              </a:rPr>
              <a:t>•  Backend : services et contrôleurs (auth, disponibilités,</a:t>
            </a:r>
          </a:p>
          <a:p>
            <a:pPr algn="l">
              <a:spcBef>
                <a:spcPts val="0"/>
              </a:spcBef>
              <a:spcAft>
                <a:spcPts val="300"/>
              </a:spcAft>
            </a:pPr>
            <a:r>
              <a:rPr sz="1300" b="0">
                <a:solidFill>
                  <a:srgbClr val="404040"/>
                </a:solidFill>
                <a:latin typeface="Calibri"/>
              </a:rPr>
              <a:t>•     réservation, flux) + validation des DTO</a:t>
            </a:r>
          </a:p>
          <a:p>
            <a:pPr algn="l">
              <a:spcBef>
                <a:spcPts val="0"/>
              </a:spcBef>
              <a:spcAft>
                <a:spcPts val="300"/>
              </a:spcAft>
            </a:pPr>
            <a:r>
              <a:rPr sz="1300" b="0">
                <a:solidFill>
                  <a:srgbClr val="404040"/>
                </a:solidFill>
                <a:latin typeface="Calibri"/>
              </a:rPr>
              <a:t>•  Anti-double-réservation testé en situation de concurrence</a:t>
            </a:r>
          </a:p>
          <a:p>
            <a:pPr algn="l">
              <a:spcBef>
                <a:spcPts val="0"/>
              </a:spcBef>
              <a:spcAft>
                <a:spcPts val="300"/>
              </a:spcAft>
            </a:pPr>
            <a:r>
              <a:rPr sz="1300" b="0">
                <a:solidFill>
                  <a:srgbClr val="404040"/>
                </a:solidFill>
                <a:latin typeface="Calibri"/>
              </a:rPr>
              <a:t>•  Frontend : composants, services HTTP, guards de rôle,</a:t>
            </a:r>
          </a:p>
          <a:p>
            <a:pPr algn="l">
              <a:spcBef>
                <a:spcPts val="0"/>
              </a:spcBef>
              <a:spcAft>
                <a:spcPts val="300"/>
              </a:spcAft>
            </a:pPr>
            <a:r>
              <a:rPr sz="1300" b="0">
                <a:solidFill>
                  <a:srgbClr val="404040"/>
                </a:solidFill>
                <a:latin typeface="Calibri"/>
              </a:rPr>
              <a:t>•     intercepteurs, façade d'authentification</a:t>
            </a:r>
          </a:p>
          <a:p>
            <a:pPr algn="l">
              <a:spcBef>
                <a:spcPts val="0"/>
              </a:spcBef>
              <a:spcAft>
                <a:spcPts val="300"/>
              </a:spcAft>
            </a:pPr>
            <a:r>
              <a:rPr sz="1300" b="0">
                <a:solidFill>
                  <a:srgbClr val="404040"/>
                </a:solidFill>
                <a:latin typeface="Calibri"/>
              </a:rPr>
              <a:t>•  Vérification manuelle bout-en-bout dans le navigateur</a:t>
            </a:r>
          </a:p>
          <a:p>
            <a:pPr algn="l">
              <a:spcBef>
                <a:spcPts val="0"/>
              </a:spcBef>
              <a:spcAft>
                <a:spcPts val="300"/>
              </a:spcAft>
            </a:pPr>
            <a:r>
              <a:rPr sz="1300" b="0">
                <a:solidFill>
                  <a:srgbClr val="404040"/>
                </a:solidFill>
                <a:latin typeface="Calibri"/>
              </a:rPr>
              <a:t>•  Migrations rejouées sur une base neuve (reproductible)</a:t>
            </a:r>
          </a:p>
        </p:txBody>
      </p:sp>
      <p:sp>
        <p:nvSpPr>
          <p:cNvPr id="17" name="Rectangle 16"/>
          <p:cNvSpPr/>
          <p:nvPr/>
        </p:nvSpPr>
        <p:spPr>
          <a:xfrm>
            <a:off x="6172200" y="3063240"/>
            <a:ext cx="5577840" cy="31089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3063240"/>
            <a:ext cx="76200" cy="31089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0" y="3172968"/>
            <a:ext cx="5212080" cy="29260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Bogues identifiés → corrigés</a:t>
            </a:r>
          </a:p>
          <a:p>
            <a:pPr algn="l">
              <a:spcBef>
                <a:spcPts val="0"/>
              </a:spcBef>
              <a:spcAft>
                <a:spcPts val="300"/>
              </a:spcAft>
            </a:pPr>
            <a:r>
              <a:rPr sz="1300" b="0">
                <a:solidFill>
                  <a:srgbClr val="404040"/>
                </a:solidFill>
                <a:latin typeface="Calibri"/>
              </a:rPr>
              <a:t>•  Erreur 500 à la réservation (verrou SQL mal placé sur une</a:t>
            </a:r>
          </a:p>
          <a:p>
            <a:pPr algn="l">
              <a:spcBef>
                <a:spcPts val="0"/>
              </a:spcBef>
              <a:spcAft>
                <a:spcPts val="300"/>
              </a:spcAft>
            </a:pPr>
            <a:r>
              <a:rPr sz="1300" b="0">
                <a:solidFill>
                  <a:srgbClr val="404040"/>
                </a:solidFill>
                <a:latin typeface="Calibri"/>
              </a:rPr>
              <a:t>•     jointure) → verrou ciblé sur la ligne du RDV</a:t>
            </a:r>
          </a:p>
          <a:p>
            <a:pPr algn="l">
              <a:spcBef>
                <a:spcPts val="0"/>
              </a:spcBef>
              <a:spcAft>
                <a:spcPts val="300"/>
              </a:spcAft>
            </a:pPr>
            <a:r>
              <a:rPr sz="1300" b="0">
                <a:solidFill>
                  <a:srgbClr val="404040"/>
                </a:solidFill>
                <a:latin typeface="Calibri"/>
              </a:rPr>
              <a:t>•  Sélecteur « Médecin » qui ne s'ouvrait pas (l'étiquette</a:t>
            </a:r>
          </a:p>
          <a:p>
            <a:pPr algn="l">
              <a:spcBef>
                <a:spcPts val="0"/>
              </a:spcBef>
              <a:spcAft>
                <a:spcPts val="300"/>
              </a:spcAft>
            </a:pPr>
            <a:r>
              <a:rPr sz="1300" b="0">
                <a:solidFill>
                  <a:srgbClr val="404040"/>
                </a:solidFill>
                <a:latin typeface="Calibri"/>
              </a:rPr>
              <a:t>•     captait le clic) → corrigé</a:t>
            </a:r>
          </a:p>
          <a:p>
            <a:pPr algn="l">
              <a:spcBef>
                <a:spcPts val="0"/>
              </a:spcBef>
              <a:spcAft>
                <a:spcPts val="300"/>
              </a:spcAft>
            </a:pPr>
            <a:r>
              <a:rPr sz="1300" b="0">
                <a:solidFill>
                  <a:srgbClr val="404040"/>
                </a:solidFill>
                <a:latin typeface="Calibri"/>
              </a:rPr>
              <a:t>•  Rendez-vous du jour vides (fuseau horaire) → dates relatives</a:t>
            </a:r>
          </a:p>
          <a:p>
            <a:pPr algn="l">
              <a:spcBef>
                <a:spcPts val="0"/>
              </a:spcBef>
              <a:spcAft>
                <a:spcPts val="300"/>
              </a:spcAft>
            </a:pPr>
            <a:r>
              <a:rPr sz="1300" b="0">
                <a:solidFill>
                  <a:srgbClr val="404040"/>
                </a:solidFill>
                <a:latin typeface="Calibri"/>
              </a:rPr>
              <a:t>•  En-tête affichant l'e-mail au lieu du nom → repli sur le nom</a:t>
            </a:r>
          </a:p>
          <a:p>
            <a:pPr algn="l">
              <a:spcBef>
                <a:spcPts val="0"/>
              </a:spcBef>
              <a:spcAft>
                <a:spcPts val="300"/>
              </a:spcAft>
            </a:pPr>
            <a:r>
              <a:rPr sz="1300" b="0">
                <a:solidFill>
                  <a:srgbClr val="404040"/>
                </a:solidFill>
                <a:latin typeface="Calibri"/>
              </a:rPr>
              <a:t>•  Motif d'annulation vide accepté → validation renforcée</a:t>
            </a:r>
          </a:p>
        </p:txBody>
      </p:sp>
      <p:sp>
        <p:nvSpPr>
          <p:cNvPr id="20" name="TextBox 19"/>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a:t>
            </a:r>
          </a:p>
        </p:txBody>
      </p:sp>
      <p:sp>
        <p:nvSpPr>
          <p:cNvPr id="21" name="TextBox 20"/>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30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7</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Difficultés rencontrées et solutions</a:t>
            </a:r>
          </a:p>
          <a:p>
            <a:pPr algn="l">
              <a:spcBef>
                <a:spcPts val="0"/>
              </a:spcBef>
              <a:spcAft>
                <a:spcPts val="0"/>
              </a:spcAft>
            </a:pPr>
            <a:r>
              <a:rPr sz="1400" b="0">
                <a:solidFill>
                  <a:srgbClr val="CFE3FF"/>
                </a:solidFill>
                <a:latin typeface="Calibri"/>
              </a:rPr>
              <a:t>Techniques et organisationnelles</a:t>
            </a:r>
          </a:p>
        </p:txBody>
      </p:sp>
      <p:sp>
        <p:nvSpPr>
          <p:cNvPr id="6" name="Rectangle 5"/>
          <p:cNvSpPr/>
          <p:nvPr/>
        </p:nvSpPr>
        <p:spPr>
          <a:xfrm>
            <a:off x="411480" y="1508760"/>
            <a:ext cx="5577840" cy="23317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508760"/>
            <a:ext cx="76200" cy="2331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18488"/>
            <a:ext cx="5212080" cy="214884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  Organisation — dérive d'intégration (vécue)</a:t>
            </a:r>
          </a:p>
          <a:p>
            <a:pPr algn="l">
              <a:spcBef>
                <a:spcPts val="0"/>
              </a:spcBef>
              <a:spcAft>
                <a:spcPts val="300"/>
              </a:spcAft>
            </a:pPr>
            <a:r>
              <a:rPr sz="1300" b="0">
                <a:solidFill>
                  <a:srgbClr val="404040"/>
                </a:solidFill>
                <a:latin typeface="Calibri"/>
              </a:rPr>
              <a:t>•  Plusieurs branches en parallèle jamais fusionnées</a:t>
            </a:r>
          </a:p>
          <a:p>
            <a:pPr algn="l">
              <a:spcBef>
                <a:spcPts val="0"/>
              </a:spcBef>
              <a:spcAft>
                <a:spcPts val="300"/>
              </a:spcAft>
            </a:pPr>
            <a:r>
              <a:rPr sz="1300" b="0">
                <a:solidFill>
                  <a:srgbClr val="404040"/>
                </a:solidFill>
                <a:latin typeface="Calibri"/>
              </a:rPr>
              <a:t>•  → deux migrations sur le même horodatage, un module</a:t>
            </a:r>
          </a:p>
          <a:p>
            <a:pPr algn="l">
              <a:spcBef>
                <a:spcPts val="0"/>
              </a:spcBef>
              <a:spcAft>
                <a:spcPts val="300"/>
              </a:spcAft>
            </a:pPr>
            <a:r>
              <a:rPr sz="1300" b="0">
                <a:solidFill>
                  <a:srgbClr val="404040"/>
                </a:solidFill>
                <a:latin typeface="Calibri"/>
              </a:rPr>
              <a:t>•     de rendez-vous recréé en double</a:t>
            </a:r>
          </a:p>
          <a:p>
            <a:pPr algn="l">
              <a:spcBef>
                <a:spcPts val="0"/>
              </a:spcBef>
              <a:spcAft>
                <a:spcPts val="300"/>
              </a:spcAft>
            </a:pPr>
            <a:r>
              <a:rPr sz="1300" b="0">
                <a:solidFill>
                  <a:srgbClr val="404040"/>
                </a:solidFill>
                <a:latin typeface="Calibri"/>
              </a:rPr>
              <a:t>•  Solution : réintégration manuelle, puis 6 règles de</a:t>
            </a:r>
          </a:p>
          <a:p>
            <a:pPr algn="l">
              <a:spcBef>
                <a:spcPts val="0"/>
              </a:spcBef>
              <a:spcAft>
                <a:spcPts val="300"/>
              </a:spcAft>
            </a:pPr>
            <a:r>
              <a:rPr sz="1300" b="0">
                <a:solidFill>
                  <a:srgbClr val="404040"/>
                </a:solidFill>
                <a:latin typeface="Calibri"/>
              </a:rPr>
              <a:t>•     travail (socle d'abord, PR sous 72 h, un module par</a:t>
            </a:r>
          </a:p>
          <a:p>
            <a:pPr algn="l">
              <a:spcBef>
                <a:spcPts val="0"/>
              </a:spcBef>
              <a:spcAft>
                <a:spcPts val="300"/>
              </a:spcAft>
            </a:pPr>
            <a:r>
              <a:rPr sz="1300" b="0">
                <a:solidFill>
                  <a:srgbClr val="404040"/>
                </a:solidFill>
                <a:latin typeface="Calibri"/>
              </a:rPr>
              <a:t>•     ticket, gates de fusion, point d'intégration à mi-sprint)</a:t>
            </a:r>
          </a:p>
        </p:txBody>
      </p:sp>
      <p:sp>
        <p:nvSpPr>
          <p:cNvPr id="9" name="Rectangle 8"/>
          <p:cNvSpPr/>
          <p:nvPr/>
        </p:nvSpPr>
        <p:spPr>
          <a:xfrm>
            <a:off x="6172200" y="1508760"/>
            <a:ext cx="5577840" cy="23317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508760"/>
            <a:ext cx="76200" cy="233172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0" y="1618488"/>
            <a:ext cx="5212080" cy="214884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  Technique — la réservation concurrente</a:t>
            </a:r>
          </a:p>
          <a:p>
            <a:pPr algn="l">
              <a:spcBef>
                <a:spcPts val="0"/>
              </a:spcBef>
              <a:spcAft>
                <a:spcPts val="300"/>
              </a:spcAft>
            </a:pPr>
            <a:r>
              <a:rPr sz="1300" b="0">
                <a:solidFill>
                  <a:srgbClr val="404040"/>
                </a:solidFill>
                <a:latin typeface="Calibri"/>
              </a:rPr>
              <a:t>•  Comment empêcher deux réceptions de réserver le même</a:t>
            </a:r>
          </a:p>
          <a:p>
            <a:pPr algn="l">
              <a:spcBef>
                <a:spcPts val="0"/>
              </a:spcBef>
              <a:spcAft>
                <a:spcPts val="300"/>
              </a:spcAft>
            </a:pPr>
            <a:r>
              <a:rPr sz="1300" b="0">
                <a:solidFill>
                  <a:srgbClr val="404040"/>
                </a:solidFill>
                <a:latin typeface="Calibri"/>
              </a:rPr>
              <a:t>•     créneau au même instant ?</a:t>
            </a:r>
          </a:p>
          <a:p>
            <a:pPr algn="l">
              <a:spcBef>
                <a:spcPts val="0"/>
              </a:spcBef>
              <a:spcAft>
                <a:spcPts val="300"/>
              </a:spcAft>
            </a:pPr>
            <a:r>
              <a:rPr sz="1300" b="0">
                <a:solidFill>
                  <a:srgbClr val="404040"/>
                </a:solidFill>
                <a:latin typeface="Calibri"/>
              </a:rPr>
              <a:t>•  Solution : index unique partiel en base + transaction</a:t>
            </a:r>
          </a:p>
          <a:p>
            <a:pPr algn="l">
              <a:spcBef>
                <a:spcPts val="0"/>
              </a:spcBef>
              <a:spcAft>
                <a:spcPts val="300"/>
              </a:spcAft>
            </a:pPr>
            <a:r>
              <a:rPr sz="1300" b="0">
                <a:solidFill>
                  <a:srgbClr val="404040"/>
                </a:solidFill>
                <a:latin typeface="Calibri"/>
              </a:rPr>
              <a:t>•     avec verrou → c'est PostgreSQL qui tranche la course,</a:t>
            </a:r>
          </a:p>
          <a:p>
            <a:pPr algn="l">
              <a:spcBef>
                <a:spcPts val="0"/>
              </a:spcBef>
              <a:spcAft>
                <a:spcPts val="300"/>
              </a:spcAft>
            </a:pPr>
            <a:r>
              <a:rPr sz="1300" b="0">
                <a:solidFill>
                  <a:srgbClr val="404040"/>
                </a:solidFill>
                <a:latin typeface="Calibri"/>
              </a:rPr>
              <a:t>•     pas le code applicatif</a:t>
            </a:r>
          </a:p>
          <a:p>
            <a:pPr algn="l">
              <a:spcBef>
                <a:spcPts val="0"/>
              </a:spcBef>
              <a:spcAft>
                <a:spcPts val="300"/>
              </a:spcAft>
            </a:pPr>
            <a:r>
              <a:rPr sz="1300" b="0">
                <a:solidFill>
                  <a:srgbClr val="404040"/>
                </a:solidFill>
                <a:latin typeface="Calibri"/>
              </a:rPr>
              <a:t>•  Vérifié par un test de concurrence</a:t>
            </a:r>
          </a:p>
        </p:txBody>
      </p:sp>
      <p:sp>
        <p:nvSpPr>
          <p:cNvPr id="12" name="Rectangle 11"/>
          <p:cNvSpPr/>
          <p:nvPr/>
        </p:nvSpPr>
        <p:spPr>
          <a:xfrm>
            <a:off x="411480" y="4069080"/>
            <a:ext cx="11338560" cy="21031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1480" y="4069080"/>
            <a:ext cx="76200" cy="210312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178808"/>
            <a:ext cx="10972800" cy="192024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Autres difficultés techniques levées</a:t>
            </a:r>
          </a:p>
          <a:p>
            <a:pPr algn="l">
              <a:spcBef>
                <a:spcPts val="0"/>
              </a:spcBef>
              <a:spcAft>
                <a:spcPts val="300"/>
              </a:spcAft>
            </a:pPr>
            <a:r>
              <a:rPr sz="1300" b="0">
                <a:solidFill>
                  <a:srgbClr val="404040"/>
                </a:solidFill>
                <a:latin typeface="Calibri"/>
              </a:rPr>
              <a:t>•  Verrou SQL « FOR UPDATE » posé sur une jointure externe → erreur 500 : on verrouille la seule ligne du RDV</a:t>
            </a:r>
          </a:p>
          <a:p>
            <a:pPr algn="l">
              <a:spcBef>
                <a:spcPts val="0"/>
              </a:spcBef>
              <a:spcAft>
                <a:spcPts val="300"/>
              </a:spcAft>
            </a:pPr>
            <a:r>
              <a:rPr sz="1300" b="0">
                <a:solidFill>
                  <a:srgbClr val="404040"/>
                </a:solidFill>
                <a:latin typeface="Calibri"/>
              </a:rPr>
              <a:t>•  Dépendance circulaire au démarrage d'Angular (intercepteur ↔ authentification) → initialisation différée</a:t>
            </a:r>
          </a:p>
          <a:p>
            <a:pPr algn="l">
              <a:spcBef>
                <a:spcPts val="0"/>
              </a:spcBef>
              <a:spcAft>
                <a:spcPts val="300"/>
              </a:spcAft>
            </a:pPr>
            <a:r>
              <a:rPr sz="1300" b="0">
                <a:solidFill>
                  <a:srgbClr val="404040"/>
                </a:solidFill>
                <a:latin typeface="Calibri"/>
              </a:rPr>
              <a:t>•  Identifiants de démo invalides (UUID) refusés par la validation → génération d'UUID conformes</a:t>
            </a:r>
          </a:p>
          <a:p>
            <a:pPr algn="l">
              <a:spcBef>
                <a:spcPts val="0"/>
              </a:spcBef>
              <a:spcAft>
                <a:spcPts val="300"/>
              </a:spcAft>
            </a:pPr>
            <a:r>
              <a:rPr sz="1300" b="0">
                <a:solidFill>
                  <a:srgbClr val="404040"/>
                </a:solidFill>
                <a:latin typeface="Calibri"/>
              </a:rPr>
              <a:t>•  Fuseau horaire : rendez-vous « du jour » calculés en référence à Toronto pour rester cohérents</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30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8</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Avancement dans Jira</a:t>
            </a:r>
          </a:p>
          <a:p>
            <a:pPr algn="l">
              <a:spcBef>
                <a:spcPts val="0"/>
              </a:spcBef>
              <a:spcAft>
                <a:spcPts val="0"/>
              </a:spcAft>
            </a:pPr>
            <a:r>
              <a:rPr sz="1400" b="0">
                <a:solidFill>
                  <a:srgbClr val="CFE3FF"/>
                </a:solidFill>
                <a:latin typeface="Calibri"/>
              </a:rPr>
              <a:t>Répartition et progression</a:t>
            </a:r>
          </a:p>
        </p:txBody>
      </p:sp>
      <p:sp>
        <p:nvSpPr>
          <p:cNvPr id="6" name="Rectangle 5"/>
          <p:cNvSpPr/>
          <p:nvPr/>
        </p:nvSpPr>
        <p:spPr>
          <a:xfrm>
            <a:off x="411480" y="1463040"/>
            <a:ext cx="3566160"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536192"/>
            <a:ext cx="3566160" cy="1280160"/>
          </a:xfrm>
          <a:prstGeom prst="rect">
            <a:avLst/>
          </a:prstGeom>
          <a:noFill/>
        </p:spPr>
        <p:txBody>
          <a:bodyPr wrap="square" anchor="ctr">
            <a:spAutoFit/>
          </a:bodyPr>
          <a:lstStyle/>
          <a:p>
            <a:pPr algn="ctr">
              <a:spcBef>
                <a:spcPts val="0"/>
              </a:spcBef>
              <a:spcAft>
                <a:spcPts val="0"/>
              </a:spcAft>
            </a:pPr>
            <a:r>
              <a:rPr sz="3800" b="1">
                <a:solidFill>
                  <a:srgbClr val="FFFFFF"/>
                </a:solidFill>
                <a:latin typeface="Calibri"/>
              </a:rPr>
              <a:t>18 / 21</a:t>
            </a:r>
          </a:p>
          <a:p>
            <a:pPr algn="ctr">
              <a:spcBef>
                <a:spcPts val="0"/>
              </a:spcBef>
              <a:spcAft>
                <a:spcPts val="0"/>
              </a:spcAft>
            </a:pPr>
            <a:r>
              <a:rPr sz="1200" b="0">
                <a:solidFill>
                  <a:srgbClr val="FFFFFF"/>
                </a:solidFill>
                <a:latin typeface="Calibri"/>
              </a:rPr>
              <a:t>Tickets Sprint 2 terminés</a:t>
            </a:r>
          </a:p>
        </p:txBody>
      </p:sp>
      <p:sp>
        <p:nvSpPr>
          <p:cNvPr id="8" name="Rectangle 7"/>
          <p:cNvSpPr/>
          <p:nvPr/>
        </p:nvSpPr>
        <p:spPr>
          <a:xfrm>
            <a:off x="4160520" y="1463040"/>
            <a:ext cx="3566160" cy="13716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60520" y="1536192"/>
            <a:ext cx="3566160" cy="1280160"/>
          </a:xfrm>
          <a:prstGeom prst="rect">
            <a:avLst/>
          </a:prstGeom>
          <a:noFill/>
        </p:spPr>
        <p:txBody>
          <a:bodyPr wrap="square" anchor="ctr">
            <a:spAutoFit/>
          </a:bodyPr>
          <a:lstStyle/>
          <a:p>
            <a:pPr algn="ctr">
              <a:spcBef>
                <a:spcPts val="0"/>
              </a:spcBef>
              <a:spcAft>
                <a:spcPts val="0"/>
              </a:spcAft>
            </a:pPr>
            <a:r>
              <a:rPr sz="3800" b="1">
                <a:solidFill>
                  <a:srgbClr val="FFFFFF"/>
                </a:solidFill>
                <a:latin typeface="Calibri"/>
              </a:rPr>
              <a:t>≈ 86 %</a:t>
            </a:r>
          </a:p>
          <a:p>
            <a:pPr algn="ctr">
              <a:spcBef>
                <a:spcPts val="0"/>
              </a:spcBef>
              <a:spcAft>
                <a:spcPts val="0"/>
              </a:spcAft>
            </a:pPr>
            <a:r>
              <a:rPr sz="1200" b="0">
                <a:solidFill>
                  <a:srgbClr val="FFFFFF"/>
                </a:solidFill>
                <a:latin typeface="Calibri"/>
              </a:rPr>
              <a:t>Progression du sprint</a:t>
            </a:r>
          </a:p>
        </p:txBody>
      </p:sp>
      <p:sp>
        <p:nvSpPr>
          <p:cNvPr id="10" name="Rectangle 9"/>
          <p:cNvSpPr/>
          <p:nvPr/>
        </p:nvSpPr>
        <p:spPr>
          <a:xfrm>
            <a:off x="7909560" y="1463040"/>
            <a:ext cx="3840480" cy="13716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09560" y="1536192"/>
            <a:ext cx="3840480" cy="1280160"/>
          </a:xfrm>
          <a:prstGeom prst="rect">
            <a:avLst/>
          </a:prstGeom>
          <a:noFill/>
        </p:spPr>
        <p:txBody>
          <a:bodyPr wrap="square" anchor="ctr">
            <a:spAutoFit/>
          </a:bodyPr>
          <a:lstStyle/>
          <a:p>
            <a:pPr algn="ctr">
              <a:spcBef>
                <a:spcPts val="0"/>
              </a:spcBef>
              <a:spcAft>
                <a:spcPts val="0"/>
              </a:spcAft>
            </a:pPr>
            <a:r>
              <a:rPr sz="3800" b="1">
                <a:solidFill>
                  <a:srgbClr val="FFFFFF"/>
                </a:solidFill>
                <a:latin typeface="Calibri"/>
              </a:rPr>
              <a:t>3</a:t>
            </a:r>
          </a:p>
          <a:p>
            <a:pPr algn="ctr">
              <a:spcBef>
                <a:spcPts val="0"/>
              </a:spcBef>
              <a:spcAft>
                <a:spcPts val="0"/>
              </a:spcAft>
            </a:pPr>
            <a:r>
              <a:rPr sz="1200" b="0">
                <a:solidFill>
                  <a:srgbClr val="FFFFFF"/>
                </a:solidFill>
                <a:latin typeface="Calibri"/>
              </a:rPr>
              <a:t>Tickets transférés au Sprint 3</a:t>
            </a:r>
          </a:p>
        </p:txBody>
      </p:sp>
      <p:sp>
        <p:nvSpPr>
          <p:cNvPr id="12" name="Rectangle 11"/>
          <p:cNvSpPr/>
          <p:nvPr/>
        </p:nvSpPr>
        <p:spPr>
          <a:xfrm>
            <a:off x="411480" y="3063240"/>
            <a:ext cx="7772400" cy="31089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1480" y="3063240"/>
            <a:ext cx="76200" cy="31089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172968"/>
            <a:ext cx="7406640" cy="29260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Répartition des responsabilités (tâches terminées)</a:t>
            </a:r>
          </a:p>
          <a:p>
            <a:pPr algn="l">
              <a:spcBef>
                <a:spcPts val="0"/>
              </a:spcBef>
              <a:spcAft>
                <a:spcPts val="300"/>
              </a:spcAft>
            </a:pPr>
            <a:r>
              <a:rPr sz="1300" b="0">
                <a:solidFill>
                  <a:srgbClr val="404040"/>
                </a:solidFill>
                <a:latin typeface="Calibri"/>
              </a:rPr>
              <a:t>•  Souleymane DIALLO — authentification (15,16,17), réservation + anti-double (21),</a:t>
            </a:r>
          </a:p>
          <a:p>
            <a:pPr algn="l">
              <a:spcBef>
                <a:spcPts val="0"/>
              </a:spcBef>
              <a:spcAft>
                <a:spcPts val="300"/>
              </a:spcAft>
            </a:pPr>
            <a:r>
              <a:rPr sz="1300" b="0">
                <a:solidFill>
                  <a:srgbClr val="404040"/>
                </a:solidFill>
                <a:latin typeface="Calibri"/>
              </a:rPr>
              <a:t>•          squelettes du monorepo (28), Docker Compose (29), intégration</a:t>
            </a:r>
          </a:p>
          <a:p>
            <a:pPr algn="l">
              <a:spcBef>
                <a:spcPts val="0"/>
              </a:spcBef>
              <a:spcAft>
                <a:spcPts val="300"/>
              </a:spcAft>
            </a:pPr>
            <a:r>
              <a:rPr sz="1300" b="0">
                <a:solidFill>
                  <a:srgbClr val="404040"/>
                </a:solidFill>
                <a:latin typeface="Calibri"/>
              </a:rPr>
              <a:t>•  Zakaria Lahouiri — disponibilités des médecins (20), flux clinique du jour (23)</a:t>
            </a:r>
          </a:p>
          <a:p>
            <a:pPr algn="l">
              <a:spcBef>
                <a:spcPts val="0"/>
              </a:spcBef>
              <a:spcAft>
                <a:spcPts val="300"/>
              </a:spcAft>
            </a:pPr>
            <a:r>
              <a:rPr sz="1300" b="0">
                <a:solidFill>
                  <a:srgbClr val="404040"/>
                </a:solidFill>
                <a:latin typeface="Calibri"/>
              </a:rPr>
              <a:t>•  Larbi Saib — patient léger (35), réservation par la réception (36), socle RDV (49)</a:t>
            </a:r>
          </a:p>
          <a:p>
            <a:pPr algn="l">
              <a:spcBef>
                <a:spcPts val="0"/>
              </a:spcBef>
              <a:spcAft>
                <a:spcPts val="300"/>
              </a:spcAft>
            </a:pPr>
            <a:r>
              <a:rPr sz="1300" b="0">
                <a:solidFill>
                  <a:srgbClr val="404040"/>
                </a:solidFill>
                <a:latin typeface="Calibri"/>
              </a:rPr>
              <a:t>•  Frontend d'authentification &amp; refonte UI (42–48) — terminés, effort partagé</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En cours (Sprint 3) : notifications internes (25, Zakaria)</a:t>
            </a:r>
          </a:p>
          <a:p>
            <a:pPr algn="l">
              <a:spcBef>
                <a:spcPts val="0"/>
              </a:spcBef>
              <a:spcAft>
                <a:spcPts val="300"/>
              </a:spcAft>
            </a:pPr>
            <a:r>
              <a:rPr sz="1300" b="0">
                <a:solidFill>
                  <a:srgbClr val="404040"/>
                </a:solidFill>
                <a:latin typeface="Calibri"/>
              </a:rPr>
              <a:t>•  Déjà livré en avance : annulation d'un RDV (22) — à refléter dans Jira</a:t>
            </a:r>
          </a:p>
        </p:txBody>
      </p:sp>
      <p:sp>
        <p:nvSpPr>
          <p:cNvPr id="15" name="Rectangle 14"/>
          <p:cNvSpPr/>
          <p:nvPr/>
        </p:nvSpPr>
        <p:spPr>
          <a:xfrm>
            <a:off x="8366760" y="3063240"/>
            <a:ext cx="3383280" cy="31089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366760" y="3063240"/>
            <a:ext cx="76200" cy="310896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95360" y="3172968"/>
            <a:ext cx="3017520" cy="2926080"/>
          </a:xfrm>
          <a:prstGeom prst="rect">
            <a:avLst/>
          </a:prstGeom>
          <a:noFill/>
        </p:spPr>
        <p:txBody>
          <a:bodyPr wrap="square">
            <a:spAutoFit/>
          </a:bodyPr>
          <a:lstStyle/>
          <a:p>
            <a:pPr algn="l">
              <a:spcBef>
                <a:spcPts val="0"/>
              </a:spcBef>
              <a:spcAft>
                <a:spcPts val="400"/>
              </a:spcAft>
            </a:pPr>
            <a:r>
              <a:rPr sz="1600" b="1">
                <a:solidFill>
                  <a:srgbClr val="404040"/>
                </a:solidFill>
                <a:latin typeface="Calibri"/>
              </a:rPr>
              <a:t>Transféré au Sprint 3</a:t>
            </a:r>
          </a:p>
          <a:p>
            <a:pPr algn="l">
              <a:spcBef>
                <a:spcPts val="0"/>
              </a:spcBef>
              <a:spcAft>
                <a:spcPts val="300"/>
              </a:spcAft>
            </a:pPr>
            <a:r>
              <a:rPr sz="1300" b="0">
                <a:solidFill>
                  <a:srgbClr val="404040"/>
                </a:solidFill>
                <a:latin typeface="Calibri"/>
              </a:rPr>
              <a:t>•  CRUD médecins par l'admin</a:t>
            </a:r>
          </a:p>
          <a:p>
            <a:pPr algn="l">
              <a:spcBef>
                <a:spcPts val="0"/>
              </a:spcBef>
              <a:spcAft>
                <a:spcPts val="300"/>
              </a:spcAft>
            </a:pPr>
            <a:r>
              <a:rPr sz="1300" b="0">
                <a:solidFill>
                  <a:srgbClr val="404040"/>
                </a:solidFill>
                <a:latin typeface="Calibri"/>
              </a:rPr>
              <a:t>•     (MEDIPLAN-34)</a:t>
            </a:r>
          </a:p>
          <a:p>
            <a:pPr algn="l">
              <a:spcBef>
                <a:spcPts val="0"/>
              </a:spcBef>
              <a:spcAft>
                <a:spcPts val="300"/>
              </a:spcAft>
            </a:pPr>
            <a:r>
              <a:rPr sz="1300" b="0">
                <a:solidFill>
                  <a:srgbClr val="404040"/>
                </a:solidFill>
                <a:latin typeface="Calibri"/>
              </a:rPr>
              <a:t>•  Précision doc UC-02</a:t>
            </a:r>
          </a:p>
          <a:p>
            <a:pPr algn="l">
              <a:spcBef>
                <a:spcPts val="0"/>
              </a:spcBef>
              <a:spcAft>
                <a:spcPts val="300"/>
              </a:spcAft>
            </a:pPr>
            <a:r>
              <a:rPr sz="1300" b="0">
                <a:solidFill>
                  <a:srgbClr val="404040"/>
                </a:solidFill>
                <a:latin typeface="Calibri"/>
              </a:rPr>
              <a:t>•     (MEDIPLAN-38)</a:t>
            </a:r>
          </a:p>
          <a:p>
            <a:pPr algn="l">
              <a:spcBef>
                <a:spcPts val="0"/>
              </a:spcBef>
              <a:spcAft>
                <a:spcPts val="300"/>
              </a:spcAft>
            </a:pPr>
            <a:r>
              <a:rPr sz="1300" b="0">
                <a:solidFill>
                  <a:srgbClr val="404040"/>
                </a:solidFill>
                <a:latin typeface="Calibri"/>
              </a:rPr>
              <a:t>•  Secrets / variables</a:t>
            </a:r>
          </a:p>
          <a:p>
            <a:pPr algn="l">
              <a:spcBef>
                <a:spcPts val="0"/>
              </a:spcBef>
              <a:spcAft>
                <a:spcPts val="300"/>
              </a:spcAft>
            </a:pPr>
            <a:r>
              <a:rPr sz="1300" b="0">
                <a:solidFill>
                  <a:srgbClr val="404040"/>
                </a:solidFill>
                <a:latin typeface="Calibri"/>
              </a:rPr>
              <a:t>•     d'environnement (MEDIPLAN-39)</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Non bloquants pour la</a:t>
            </a:r>
          </a:p>
          <a:p>
            <a:pPr algn="l">
              <a:spcBef>
                <a:spcPts val="0"/>
              </a:spcBef>
              <a:spcAft>
                <a:spcPts val="300"/>
              </a:spcAft>
            </a:pPr>
            <a:r>
              <a:rPr sz="1300" b="0">
                <a:solidFill>
                  <a:srgbClr val="404040"/>
                </a:solidFill>
                <a:latin typeface="Calibri"/>
              </a:rPr>
              <a:t>•     démonstration</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200" b="1">
                <a:solidFill>
                  <a:srgbClr val="FFFFFF"/>
                </a:solidFill>
              </a:rPr>
              <a:t>9</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700" b="1">
                <a:solidFill>
                  <a:srgbClr val="FFFFFF"/>
                </a:solidFill>
                <a:latin typeface="Calibri"/>
              </a:rPr>
              <a:t>Prochaines étapes — Sprint 3</a:t>
            </a:r>
          </a:p>
          <a:p>
            <a:pPr algn="l">
              <a:spcBef>
                <a:spcPts val="0"/>
              </a:spcBef>
              <a:spcAft>
                <a:spcPts val="0"/>
              </a:spcAft>
            </a:pPr>
            <a:r>
              <a:rPr sz="1400" b="0">
                <a:solidFill>
                  <a:srgbClr val="CFE3FF"/>
                </a:solidFill>
                <a:latin typeface="Calibri"/>
              </a:rPr>
              <a:t>Ce qui reste et nos priorités</a:t>
            </a:r>
          </a:p>
        </p:txBody>
      </p:sp>
      <p:sp>
        <p:nvSpPr>
          <p:cNvPr id="6" name="Rectangle 5"/>
          <p:cNvSpPr/>
          <p:nvPr/>
        </p:nvSpPr>
        <p:spPr>
          <a:xfrm>
            <a:off x="411480" y="1508760"/>
            <a:ext cx="557784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508760"/>
            <a:ext cx="76200" cy="283464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18488"/>
            <a:ext cx="5212080" cy="265176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Priorités du Sprint 3 (cycle de vie du RDV)</a:t>
            </a:r>
          </a:p>
          <a:p>
            <a:pPr algn="l">
              <a:spcBef>
                <a:spcPts val="0"/>
              </a:spcBef>
              <a:spcAft>
                <a:spcPts val="300"/>
              </a:spcAft>
            </a:pPr>
            <a:r>
              <a:rPr sz="1300" b="0">
                <a:solidFill>
                  <a:srgbClr val="404040"/>
                </a:solidFill>
                <a:latin typeface="Calibri"/>
              </a:rPr>
              <a:t>•  Annuler un RDV avec motif — déjà livré, à valider (22)</a:t>
            </a:r>
          </a:p>
          <a:p>
            <a:pPr algn="l">
              <a:spcBef>
                <a:spcPts val="0"/>
              </a:spcBef>
              <a:spcAft>
                <a:spcPts val="300"/>
              </a:spcAft>
            </a:pPr>
            <a:r>
              <a:rPr sz="1300" b="0">
                <a:solidFill>
                  <a:srgbClr val="404040"/>
                </a:solidFill>
                <a:latin typeface="Calibri"/>
              </a:rPr>
              <a:t>•  Notifications internes sur les changements (25) — en cours</a:t>
            </a:r>
          </a:p>
          <a:p>
            <a:pPr algn="l">
              <a:spcBef>
                <a:spcPts val="0"/>
              </a:spcBef>
              <a:spcAft>
                <a:spcPts val="300"/>
              </a:spcAft>
            </a:pPr>
            <a:r>
              <a:rPr sz="1300" b="0">
                <a:solidFill>
                  <a:srgbClr val="404040"/>
                </a:solidFill>
                <a:latin typeface="Calibri"/>
              </a:rPr>
              <a:t>•  Statistiques et tableau de bord réels (26)</a:t>
            </a:r>
          </a:p>
          <a:p>
            <a:pPr algn="l">
              <a:spcBef>
                <a:spcPts val="0"/>
              </a:spcBef>
              <a:spcAft>
                <a:spcPts val="300"/>
              </a:spcAft>
            </a:pPr>
            <a:r>
              <a:rPr sz="1300" b="0">
                <a:solidFill>
                  <a:srgbClr val="404040"/>
                </a:solidFill>
                <a:latin typeface="Calibri"/>
              </a:rPr>
              <a:t>•  Sécurité RDV : garde-fou patient léger + accès</a:t>
            </a:r>
          </a:p>
          <a:p>
            <a:pPr algn="l">
              <a:spcBef>
                <a:spcPts val="0"/>
              </a:spcBef>
              <a:spcAft>
                <a:spcPts val="300"/>
              </a:spcAft>
            </a:pPr>
            <a:r>
              <a:rPr sz="1300" b="0">
                <a:solidFill>
                  <a:srgbClr val="404040"/>
                </a:solidFill>
                <a:latin typeface="Calibri"/>
              </a:rPr>
              <a:t>•     en lecture cloisonné (50)</a:t>
            </a:r>
          </a:p>
          <a:p>
            <a:pPr algn="l">
              <a:spcBef>
                <a:spcPts val="0"/>
              </a:spcBef>
              <a:spcAft>
                <a:spcPts val="300"/>
              </a:spcAft>
            </a:pPr>
            <a:r>
              <a:rPr sz="1300" b="0">
                <a:solidFill>
                  <a:srgbClr val="404040"/>
                </a:solidFill>
                <a:latin typeface="Calibri"/>
              </a:rPr>
              <a:t>•  Décaler en bloc les rendez-vous d'un médecin (24)</a:t>
            </a:r>
          </a:p>
        </p:txBody>
      </p:sp>
      <p:sp>
        <p:nvSpPr>
          <p:cNvPr id="9" name="Rectangle 8"/>
          <p:cNvSpPr/>
          <p:nvPr/>
        </p:nvSpPr>
        <p:spPr>
          <a:xfrm>
            <a:off x="6172200" y="1508760"/>
            <a:ext cx="557784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508760"/>
            <a:ext cx="76200" cy="283464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0" y="1618488"/>
            <a:ext cx="5212080" cy="2651760"/>
          </a:xfrm>
          <a:prstGeom prst="rect">
            <a:avLst/>
          </a:prstGeom>
          <a:noFill/>
        </p:spPr>
        <p:txBody>
          <a:bodyPr wrap="square">
            <a:spAutoFit/>
          </a:bodyPr>
          <a:lstStyle/>
          <a:p>
            <a:pPr algn="l">
              <a:spcBef>
                <a:spcPts val="0"/>
              </a:spcBef>
              <a:spcAft>
                <a:spcPts val="400"/>
              </a:spcAft>
            </a:pPr>
            <a:r>
              <a:rPr sz="1600" b="1">
                <a:solidFill>
                  <a:srgbClr val="404040"/>
                </a:solidFill>
                <a:latin typeface="Calibri"/>
              </a:rPr>
              <a:t>Reporté depuis le Sprint 2</a:t>
            </a:r>
          </a:p>
          <a:p>
            <a:pPr algn="l">
              <a:spcBef>
                <a:spcPts val="0"/>
              </a:spcBef>
              <a:spcAft>
                <a:spcPts val="300"/>
              </a:spcAft>
            </a:pPr>
            <a:r>
              <a:rPr sz="1300" b="0">
                <a:solidFill>
                  <a:srgbClr val="404040"/>
                </a:solidFill>
                <a:latin typeface="Calibri"/>
              </a:rPr>
              <a:t>•  Gestion des médecins par l'admin (34)</a:t>
            </a:r>
          </a:p>
          <a:p>
            <a:pPr algn="l">
              <a:spcBef>
                <a:spcPts val="0"/>
              </a:spcBef>
              <a:spcAft>
                <a:spcPts val="300"/>
              </a:spcAft>
            </a:pPr>
            <a:r>
              <a:rPr sz="1300" b="0">
                <a:solidFill>
                  <a:srgbClr val="404040"/>
                </a:solidFill>
                <a:latin typeface="Calibri"/>
              </a:rPr>
              <a:t>•  Précision documentaire UC-02 (38)</a:t>
            </a:r>
          </a:p>
          <a:p>
            <a:pPr algn="l">
              <a:spcBef>
                <a:spcPts val="0"/>
              </a:spcBef>
              <a:spcAft>
                <a:spcPts val="300"/>
              </a:spcAft>
            </a:pPr>
            <a:r>
              <a:rPr sz="1300" b="0">
                <a:solidFill>
                  <a:srgbClr val="404040"/>
                </a:solidFill>
                <a:latin typeface="Calibri"/>
              </a:rPr>
              <a:t>•  Variables d'environnement &amp; secrets (39)</a:t>
            </a:r>
          </a:p>
          <a:p>
            <a:pPr algn="l">
              <a:spcBef>
                <a:spcPts val="0"/>
              </a:spcBef>
              <a:spcAft>
                <a:spcPts val="300"/>
              </a:spcAft>
            </a:pPr>
            <a:r>
              <a:rPr sz="1300" b="0">
                <a:solidFill>
                  <a:srgbClr val="404040"/>
                </a:solidFill>
                <a:latin typeface="Calibri"/>
              </a:rPr>
              <a:t> </a:t>
            </a:r>
          </a:p>
          <a:p>
            <a:pPr algn="l">
              <a:spcBef>
                <a:spcPts val="0"/>
              </a:spcBef>
              <a:spcAft>
                <a:spcPts val="300"/>
              </a:spcAft>
            </a:pPr>
            <a:r>
              <a:rPr sz="1300" b="0">
                <a:solidFill>
                  <a:srgbClr val="404040"/>
                </a:solidFill>
                <a:latin typeface="Calibri"/>
              </a:rPr>
              <a:t>•  Puis, en finalisation :</a:t>
            </a:r>
          </a:p>
          <a:p>
            <a:pPr algn="l">
              <a:spcBef>
                <a:spcPts val="0"/>
              </a:spcBef>
              <a:spcAft>
                <a:spcPts val="300"/>
              </a:spcAft>
            </a:pPr>
            <a:r>
              <a:rPr sz="1300" b="0">
                <a:solidFill>
                  <a:srgbClr val="404040"/>
                </a:solidFill>
                <a:latin typeface="Calibri"/>
              </a:rPr>
              <a:t>•     export CSV, intégration continue (CI),</a:t>
            </a:r>
          </a:p>
          <a:p>
            <a:pPr algn="l">
              <a:spcBef>
                <a:spcPts val="0"/>
              </a:spcBef>
              <a:spcAft>
                <a:spcPts val="300"/>
              </a:spcAft>
            </a:pPr>
            <a:r>
              <a:rPr sz="1300" b="0">
                <a:solidFill>
                  <a:srgbClr val="404040"/>
                </a:solidFill>
                <a:latin typeface="Calibri"/>
              </a:rPr>
              <a:t>•     déploiement, documentation des tests</a:t>
            </a:r>
          </a:p>
        </p:txBody>
      </p:sp>
      <p:sp>
        <p:nvSpPr>
          <p:cNvPr id="12" name="Rectangle 11"/>
          <p:cNvSpPr/>
          <p:nvPr/>
        </p:nvSpPr>
        <p:spPr>
          <a:xfrm>
            <a:off x="411480" y="4526280"/>
            <a:ext cx="11338560" cy="16459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1480" y="4526280"/>
            <a:ext cx="76200" cy="164592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636008"/>
            <a:ext cx="10972800" cy="146304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En un mot</a:t>
            </a:r>
          </a:p>
          <a:p>
            <a:pPr algn="l">
              <a:spcBef>
                <a:spcPts val="0"/>
              </a:spcBef>
              <a:spcAft>
                <a:spcPts val="300"/>
              </a:spcAft>
            </a:pPr>
            <a:r>
              <a:rPr sz="1300" b="0">
                <a:solidFill>
                  <a:srgbClr val="404040"/>
                </a:solidFill>
                <a:latin typeface="Calibri"/>
              </a:rPr>
              <a:t>•  Le Sprint 2 livre une tranche complète : se connecter → définir des disponibilités → réserver → suivre la journée.</a:t>
            </a:r>
          </a:p>
          <a:p>
            <a:pPr algn="l">
              <a:spcBef>
                <a:spcPts val="0"/>
              </a:spcBef>
              <a:spcAft>
                <a:spcPts val="300"/>
              </a:spcAft>
            </a:pPr>
            <a:r>
              <a:rPr sz="1300" b="0">
                <a:solidFill>
                  <a:srgbClr val="404040"/>
                </a:solidFill>
                <a:latin typeface="Calibri"/>
              </a:rPr>
              <a:t>•  Le Sprint 3 ajoute le cycle de vie (annulation, notifications, statistiques) et durcit la sécurité des rendez-vous.</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54D8C"/>
        </a:solidFill>
        <a:effectLst/>
      </p:bgPr>
    </p:bg>
    <p:spTree>
      <p:nvGrpSpPr>
        <p:cNvPr id="1" name=""/>
        <p:cNvGrpSpPr/>
        <p:nvPr/>
      </p:nvGrpSpPr>
      <p:grpSpPr>
        <a:xfrm>
          <a:off x="0" y="0"/>
          <a:ext cx="0" cy="0"/>
          <a:chOff x="0" y="0"/>
          <a:chExt cx="0" cy="0"/>
        </a:xfrm>
      </p:grpSpPr>
      <p:sp>
        <p:nvSpPr>
          <p:cNvPr id="2" name="Rectangle 1"/>
          <p:cNvSpPr/>
          <p:nvPr/>
        </p:nvSpPr>
        <p:spPr>
          <a:xfrm>
            <a:off x="0" y="320040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32720" cy="1280160"/>
          </a:xfrm>
          <a:prstGeom prst="rect">
            <a:avLst/>
          </a:prstGeom>
          <a:noFill/>
        </p:spPr>
        <p:txBody>
          <a:bodyPr wrap="square">
            <a:spAutoFit/>
          </a:bodyPr>
          <a:lstStyle/>
          <a:p>
            <a:pPr algn="ctr">
              <a:spcBef>
                <a:spcPts val="0"/>
              </a:spcBef>
              <a:spcAft>
                <a:spcPts val="0"/>
              </a:spcAft>
            </a:pPr>
            <a:r>
              <a:rPr sz="4000" b="1">
                <a:solidFill>
                  <a:srgbClr val="FFFFFF"/>
                </a:solidFill>
                <a:latin typeface="Calibri"/>
              </a:rPr>
              <a:t>Merci de votre attention</a:t>
            </a:r>
          </a:p>
        </p:txBody>
      </p:sp>
      <p:sp>
        <p:nvSpPr>
          <p:cNvPr id="4" name="TextBox 3"/>
          <p:cNvSpPr txBox="1"/>
          <p:nvPr/>
        </p:nvSpPr>
        <p:spPr>
          <a:xfrm>
            <a:off x="914400" y="3474720"/>
            <a:ext cx="10332720" cy="1463040"/>
          </a:xfrm>
          <a:prstGeom prst="rect">
            <a:avLst/>
          </a:prstGeom>
          <a:noFill/>
        </p:spPr>
        <p:txBody>
          <a:bodyPr wrap="square">
            <a:spAutoFit/>
          </a:bodyPr>
          <a:lstStyle/>
          <a:p>
            <a:pPr algn="ctr">
              <a:spcBef>
                <a:spcPts val="0"/>
              </a:spcBef>
              <a:spcAft>
                <a:spcPts val="0"/>
              </a:spcAft>
            </a:pPr>
            <a:r>
              <a:rPr sz="2800" b="1">
                <a:solidFill>
                  <a:srgbClr val="CFE3FF"/>
                </a:solidFill>
                <a:latin typeface="Calibri"/>
              </a:rPr>
              <a:t>Questions ?</a:t>
            </a:r>
          </a:p>
          <a:p>
            <a:pPr algn="ctr">
              <a:spcBef>
                <a:spcPts val="0"/>
              </a:spcBef>
              <a:spcAft>
                <a:spcPts val="1400"/>
              </a:spcAft>
            </a:pPr>
            <a:r>
              <a:rPr sz="1600" b="0">
                <a:solidFill>
                  <a:srgbClr val="9FC8F5"/>
                </a:solidFill>
                <a:latin typeface="Calibri"/>
              </a:rPr>
              <a:t>Équipe MediPlan — Souleymane DIALLO  ·  Zakaria Lahouiri  ·  Larbi Saib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513b79f-ce8d-43d6-b7e5-c12d3e236916}" enabled="1" method="Standard" siteId="{ad8a84ef-f1f3-4b14-ad08-b99ca66f7e30}" contentBits="0" removed="0"/>
</clbl:labelList>
</file>

<file path=docProps/app.xml><?xml version="1.0" encoding="utf-8"?>
<Properties xmlns="http://schemas.openxmlformats.org/officeDocument/2006/extended-properties" xmlns:vt="http://schemas.openxmlformats.org/officeDocument/2006/docPropsVTypes">
  <TotalTime>264</TotalTime>
  <Words>3325</Words>
  <Application>Microsoft Office PowerPoint</Application>
  <PresentationFormat>Grand écran</PresentationFormat>
  <Paragraphs>274</Paragraphs>
  <Slides>11</Slides>
  <Notes>11</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11</vt:i4>
      </vt:variant>
    </vt:vector>
  </HeadingPairs>
  <TitlesOfParts>
    <vt:vector size="14"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Souleymane Diallo</cp:lastModifiedBy>
  <cp:revision>2</cp:revision>
  <dcterms:created xsi:type="dcterms:W3CDTF">2013-01-27T09:14:16Z</dcterms:created>
  <dcterms:modified xsi:type="dcterms:W3CDTF">2026-07-22T23:00:24Z</dcterms:modified>
  <cp:category/>
</cp:coreProperties>
</file>