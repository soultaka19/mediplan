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30 secondes.</a:t>
            </a:r>
          </a:p>
          <a:p/>
          <a:p>
            <a:r>
              <a:t>« Bonjour. Nous sommes Souleymane, Zakaria et Larbi, et nous vous présentons MediPlan : une plateforme web de gestion de rendez-vous pour une clinique médicale. La solution est en ligne, nous vous la montrerons en direct.</a:t>
            </a:r>
          </a:p>
          <a:p/>
          <a:p>
            <a:r>
              <a:t>Nous avons quinze minutes. Je commence par le problème et la solution, Larbi enchaîne sur notre démarche, je reviens sur l'architecture, Zakaria fait la démonstration, puis nous terminons sur les tests, les limites et ce que chacun a fait. »</a:t>
            </a:r>
          </a:p>
          <a:p/>
          <a:p>
            <a:r>
              <a:t>NE PAS lire la diapo. Regarder la salle.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minute.</a:t>
            </a:r>
          </a:p>
          <a:p/>
          <a:p>
            <a:r>
              <a:t>« Le point de départ, c'est une petite clinique médicale. La réception gère les rendez-vous au téléphone, avec un agenda papier ou un tableur.</a:t>
            </a:r>
          </a:p>
          <a:p/>
          <a:p>
            <a:r>
              <a:t>Trois irritants reviennent. D'abord la double réservation : deux personnes peuvent inscrire un patient sur le même créneau. Ensuite, personne n'a de vue sur la journée en cours — qui est arrivé, qui est en consultation. Et enfin, quand un rendez-vous est annulé, le créneau est perdu : il ne revient jamais dans les disponibilités.</a:t>
            </a:r>
          </a:p>
          <a:p/>
          <a:p>
            <a:r>
              <a:t>Ce ne sont pas des problèmes théoriques. Ce sont ceux que nous avons retenus pour cadrer le produit. »</a:t>
            </a:r>
          </a:p>
          <a:p/>
          <a:p>
            <a:r>
              <a:t>Insister sur la double réservation : elle revient en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minute.</a:t>
            </a:r>
          </a:p>
          <a:p/>
          <a:p>
            <a:r>
              <a:t>« Notre parti pris : nous n'essayons pas de remplacer le téléphone. Dans une petite clinique, le patient appelle, c'est le canal réel. Nous outillons la personne qui répond.</a:t>
            </a:r>
          </a:p>
          <a:p/>
          <a:p>
            <a:r>
              <a:t>D'où une décision importante : le patient léger. La réception crée le patient au comptoir, avec un nom et un téléphone, sans compte ni mot de passe. Le patient n'a rien à retenir. C'est le flux réel d'une clinique.</a:t>
            </a:r>
          </a:p>
          <a:p/>
          <a:p>
            <a:r>
              <a:t>Nos objectifs, ce sont les irritants d'avant, retournés en critères vérifiables. Le premier — rendre la double réservation impossible — je vous montrerai comment nous l'avons tenu techniquement. »</a:t>
            </a:r>
          </a:p>
          <a:p/>
          <a:p>
            <a:r>
              <a:t>Si on demande : « pourquoi le patient ne réserve pas lui-même ? » → « le libre-service existe pour l'inscription patient, mais la prise de RDV passe par la réception : c'est ce que fait réellement une petite clinique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LARBI — 1 minute.</a:t>
            </a:r>
          </a:p>
          <a:p/>
          <a:p>
            <a:r>
              <a:t>« Nous sommes trois, et nous avons réparti par fonctionnalité plutôt que par couche technique. Chacun mène sa fonctionnalité de bout en bout : la migration de base de données, l'API, l'écran Angular et les tests.</a:t>
            </a:r>
          </a:p>
          <a:p/>
          <a:p>
            <a:r>
              <a:t>Ce choix a un avantage et un coût. L'avantage : personne n'attend après personne pour livrer quelque chose de visible. Le coût : il faut se coordonner sur les fichiers partagés, et nous y reviendrons dans les difficultés.</a:t>
            </a:r>
          </a:p>
          <a:p/>
          <a:p>
            <a:r>
              <a:t>Concrètement, j'ai porté le patient léger, la prise de rendez-vous par la réception et le tableau de bord. Zakaria a porté les disponibilités, le flux du jour, les notifications et l'export. Souleymane a porté l'authentification, le socle technique et le déploiement.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LARBI — 1 minute. C'EST LA DIAPO LA PLUS IMPORTANTE DE MA PARTIE.</a:t>
            </a:r>
          </a:p>
          <a:p/>
          <a:p>
            <a:r>
              <a:t>« Notre flux est classique : un ticket, une branche, une pull request, une revue. La CI bloque si les tests cassent.</a:t>
            </a:r>
          </a:p>
          <a:p/>
          <a:p>
            <a:r>
              <a:t>Mais je veux être honnête sur notre principale difficulté, parce que c'est ce qui nous a le plus appris. Nous avons travaillé chacun sur nos branches sans les fusionner assez souvent. Résultat : des branches à cinquante commits de retard, et des tickets marqués Terminé dans Jira alors que le code n'était nulle part dans le produit.</a:t>
            </a:r>
          </a:p>
          <a:p/>
          <a:p>
            <a:r>
              <a:t>Nous l'avons corrigé : trois fonctionnalités ont été réintégrées en trois pull requests revues, et les tickets dont le code n'était pas fusionné sont repassés À faire, avec la raison écrite dans Jira.</a:t>
            </a:r>
          </a:p>
          <a:p/>
          <a:p>
            <a:r>
              <a:t>Ce que nous en retenons : dans notre définition de terminé, terminé veut dire fusionné dans main. Pas codé sur une branche. »</a:t>
            </a:r>
          </a:p>
          <a:p/>
          <a:p>
            <a:r>
              <a:t>ASSUMER. Ne pas s'excuser. C'est une leçon de génie logiciel, pas une faute.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minute 30.</a:t>
            </a:r>
          </a:p>
          <a:p/>
          <a:p>
            <a:r>
              <a:t>« L'architecture tient en une phrase : un monorepo avec deux applications et une base de données.</a:t>
            </a:r>
          </a:p>
          <a:p/>
          <a:p>
            <a:r>
              <a:t>Trois choix méritent d'être expliqués.</a:t>
            </a:r>
          </a:p>
          <a:p/>
          <a:p>
            <a:r>
              <a:t>Premier choix : le schéma de la base n'est piloté que par des migrations versionnées. Nous avons désactivé la synchronisation automatique de TypeORM. C'est plus contraignant, mais le schéma est reproductible : n'importe qui reconstruit exactement la même base.</a:t>
            </a:r>
          </a:p>
          <a:p/>
          <a:p>
            <a:r>
              <a:t>Deuxième choix : le backend n'a pas d'adresse publique. Il est en ingress interne, seul le frontend peut l'appeler. Conséquence directe : nous n'avons aucune configuration CORS à gérer, parce qu'il n'y a jamais de requête inter-origines.</a:t>
            </a:r>
          </a:p>
          <a:p/>
          <a:p>
            <a:r>
              <a:t>Troisième choix : toute l'infrastructure est décrite en code, en Bicep. Aucune ressource n'a été créée à la main dans le portail Azure. Et grâce au scale-to-zero, ça nous coûte environ zéro dollar par mois — ce qui comptait, notre crédit étudiant n'était pas renouvelable.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minute. Diapo à ne PAS survoler : c'est notre meilleur argument technique, et la question tombe souvent.</a:t>
            </a:r>
          </a:p>
          <a:p/>
          <a:p>
            <a:r>
              <a:t>« Notre premier objectif était de rendre la double réservation impossible. L'approche naïve serait : je vérifie que le créneau est libre, puis j'écris. Le problème, c'est qu'entre les deux, une autre requête peut passer. Les deux voient le créneau libre, les deux réservent.</a:t>
            </a:r>
          </a:p>
          <a:p/>
          <a:p>
            <a:r>
              <a:t>Notre solution, c'est de ne pas laisser le code arbitrer. Nous avons posé un index unique partiel en PostgreSQL : partiel, parce qu'il ignore les rendez-vous annulés. La base refuse physiquement la deuxième écriture.</a:t>
            </a:r>
          </a:p>
          <a:p/>
          <a:p>
            <a:r>
              <a:t>Et ce même index nous donne l'annulation gratuitement : comme un rendez-vous annulé sort de l'index, il ne bloque plus le créneau, qui redevient réservable. Un seul mécanisme règle deux irritants. »</a:t>
            </a:r>
          </a:p>
          <a:p/>
          <a:p>
            <a:r>
              <a:t>Si on demande « et si le code oublie la vérification ? » → « c'est exactement l'intérêt : la garantie est dans la base, pas dans la discipline du développeur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30 secondes, puis on bascule sur le navigateur.</a:t>
            </a:r>
          </a:p>
          <a:p/>
          <a:p>
            <a:r>
              <a:t>« Je vous propose de suivre une journée à la réception, du matin au soir. Huit étapes, et vous verrez au passage le contrôle d'accès, les notifications et les statistiques.</a:t>
            </a:r>
          </a:p>
          <a:p/>
          <a:p>
            <a:r>
              <a:t>Un mot important : ce que je vais vous montrer tourne en ligne, sur Azure. Ce n'est pas un serveur sur mon portable. »</a:t>
            </a:r>
          </a:p>
          <a:p/>
          <a:p>
            <a:r>
              <a:t>AVANT DE PASSER : l'application doit avoir été réveillée 15 minutes plus tôt (scale-to-zero). Onglet déjà ouvert sur l'écran de connexion, session fermée.</a:t>
            </a:r>
          </a:p>
          <a:p>
            <a:r>
              <a:t>SI LA DÉMO ÉCHOUE : passer immédiatement à la vidéo, sans commenter l'incident.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4 minutes de démonstration. Cette diapo reste affichée si on revient au support.</a:t>
            </a:r>
          </a:p>
          <a:p/>
          <a:p>
            <a:r>
              <a:t>DÉROULÉ EXACT :</a:t>
            </a:r>
          </a:p>
          <a:p>
            <a:r>
              <a:t>1. Connexion admin.demo / Adm1n!Secret — « je suis la réception »</a:t>
            </a:r>
          </a:p>
          <a:p>
            <a:r>
              <a:t>2. Tableau de bord — pointer les chiffres réels</a:t>
            </a:r>
          </a:p>
          <a:p>
            <a:r>
              <a:t>3. Disponibilités → créer une plage → ouvrir les créneaux générés</a:t>
            </a:r>
          </a:p>
          <a:p>
            <a:r>
              <a:t>4. Nouveau rendez-vous → créer le patient → réserver</a:t>
            </a:r>
          </a:p>
          <a:p>
            <a:r>
              <a:t>5. Flux du jour → Arrive → Consultation → Termine</a:t>
            </a:r>
          </a:p>
          <a:p>
            <a:r>
              <a:t>6. Menu ⋯ → Annuler → motif obligatoire</a:t>
            </a:r>
          </a:p>
          <a:p>
            <a:r>
              <a:t>7. Export CSV → ouvrir le fichier téléchargé</a:t>
            </a:r>
          </a:p>
          <a:p>
            <a:r>
              <a:t>8. Déconnexion → doctor.demo / Doct0r!Secret → montrer le menu réduit ET la cloche</a:t>
            </a:r>
          </a:p>
          <a:p/>
          <a:p>
            <a:r>
              <a:t>NE JAMAIS FAIRE F5 pendant la démonstration.</a:t>
            </a:r>
          </a:p>
          <a:p>
            <a:r>
              <a:t>Parler pendant les chargements, ne pas laisser de silence.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45 secondes. Ne PAS lire les six lignes.</a:t>
            </a:r>
          </a:p>
          <a:p/>
          <a:p>
            <a:r>
              <a:t>« Je reviens une seconde sur le problème du début. À gauche, les irritants que Souleymane a présentés. À droite, ce que la solution en fait.</a:t>
            </a:r>
          </a:p>
          <a:p/>
          <a:p>
            <a:r>
              <a:t>Je n'en commente que deux. La double réservation n'est plus une question de vigilance humaine : c'est la base qui refuse. Et le créneau annulé n'est plus perdu : il redevient disponible tout de suite, ce qui est du chiffre d'affaires récupéré pour la clinique.</a:t>
            </a:r>
          </a:p>
          <a:p/>
          <a:p>
            <a:r>
              <a:t>Le reste suit la même logique : chaque irritant du départ a une réponse dans le produit.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LARBI — 1 minute.</a:t>
            </a:r>
          </a:p>
          <a:p/>
          <a:p>
            <a:r>
              <a:t>« Nous avons 186 tests automatisés : 57 côté serveur, 129 côté interface. Ils tournent à chaque push, et une pull request dont la CI est rouge n'est pas fusionnée.</a:t>
            </a:r>
          </a:p>
          <a:p/>
          <a:p>
            <a:r>
              <a:t>La vérification dont je suis le plus content n'est pas dans cette suite, et je veux être précis là-dessus. Pour la double réservation, nous avons lancé deux réservations en même temps sur le même créneau, sur l'application en ligne : une passe, l'autre est refusée avec un 409. C'est reproductible, mais c'est manuel — nos tests serveur simulent la base de données, donc ils ne peuvent pas prouver un comportement qui appartient à PostgreSQL. Le rendre automatique demanderait une vraie base dans la chaîne d'intégration : c'est la première ligne de nos pistes d'amélioration.</a:t>
            </a:r>
          </a:p>
          <a:p/>
          <a:p>
            <a:r>
              <a:t>Un choix que j'assume : le lint et le formatage sont rapportés mais ne bloquent pas. Nous avons de la dette là-dessus. Si nous les rendions bloquants aujourd'hui, la CI serait rouge en permanence — et une CI toujours rouge, plus personne ne la regarde. Nous préférons qu'elle reste crédible sur ce qui compte : la compilation et les tests.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LARBI — 1 minute. En citer DEUX à l'oral, pas quatre.</a:t>
            </a:r>
          </a:p>
          <a:p/>
          <a:p>
            <a:r>
              <a:t>« Je vous en présente deux, les plus instructifs.</a:t>
            </a:r>
          </a:p>
          <a:p/>
          <a:p>
            <a:r>
              <a:t>Le premier nous a coûté une soirée. Une fois en ligne, tous les appels à l'API renvoyaient 404 — alors que tout marchait parfaitement en local. La cause : notre proxy transmettait le mauvais en-tête Host. Azure route selon cet en-tête, alors que Docker en local ne route pas comme ça du tout. La leçon : un environnement de développement qui fonctionne ne prouve rien sur la production.</a:t>
            </a:r>
          </a:p>
          <a:p/>
          <a:p>
            <a:r>
              <a:t>Le second n'est pas un bogue de code, c'est un bogue de méthode : la dérive d'intégration dont je parlais tout à l'heure. Cinq tickets marqués Terminé sans code dans le produit. Nous l'avons corrigé en réintégrant proprement et en remettant Jira en cohérence avec le dépôt. C'est celui qui nous a le plus appris.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45 secondes. Ton factuel, pas d'excuses.</a:t>
            </a:r>
          </a:p>
          <a:p/>
          <a:p>
            <a:r>
              <a:t>« Trois familles de limites, et je les assume.</a:t>
            </a:r>
          </a:p>
          <a:p/>
          <a:p>
            <a:r>
              <a:t>Des fonctionnalités manquent. La plus visible : le décalage en bloc des rendez-vous d'un médecin, pour absorber un retard. Le code existe sur une branche, mais il n'est pas intégré, et nous avons préféré ne pas le fusionner en catastrophe à trois jours de cette présentation plutôt que de risquer une régression sur le cœur du produit.</a:t>
            </a:r>
          </a:p>
          <a:p/>
          <a:p>
            <a:r>
              <a:t>Techniquement, nous n'avons pas de pagination serveur — ça tient à notre volume, pas à celui d'une vraie clinique. Et nous traînons de la dette de formatage.</a:t>
            </a:r>
          </a:p>
          <a:p/>
          <a:p>
            <a:r>
              <a:t>Et sur la méthode, notre définition de terminé a été trop souple pendant une partie du projet. C'est corrigé, mais ça nous a coûté du temps.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45 secondes.</a:t>
            </a:r>
          </a:p>
          <a:p/>
          <a:p>
            <a:r>
              <a:t>« Si nous continuions, nous procéderions en trois temps, et l'ordre compte.</a:t>
            </a:r>
          </a:p>
          <a:p/>
          <a:p>
            <a:r>
              <a:t>D'abord finir ce qui est déjà écrit — le décalage en bloc est codé et testé, il ne demande que d'être intégré. Ensuite fiabiliser : des tests de bout en bout, de la pagination. Et seulement après, ajouter de la valeur.</a:t>
            </a:r>
          </a:p>
          <a:p/>
          <a:p>
            <a:r>
              <a:t>Cet ordre, nous ne l'inventons pas : ajouter sur une base fragile, c'est exactement ce qui nous a coûté le plus cher ce semestre.</a:t>
            </a:r>
          </a:p>
          <a:p/>
          <a:p>
            <a:r>
              <a:t>Et si nous ne devions garder qu'une fonctionnalité, ce serait les rappels automatiques. C'est ce qui attaque le taux d'absence — le seul de nos chiffres que la clinique voit passer sur sa facture.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 20 secondes chacun. Chacun parle de SA colonne, à la première personne.</a:t>
            </a:r>
          </a:p>
          <a:p/>
          <a:p>
            <a:r>
              <a:t>Format imposé : ce que j'ai fait / ma difficulté / comment je l'ai résolue.</a:t>
            </a:r>
          </a:p>
          <a:p/>
          <a:p>
            <a:r>
              <a:t>SOULEYMANE : « J'ai porté le socle technique et la sécurité : le monorepo, l'authentification, le contrôle d'accès et la mise en ligne. Ma plus grosse difficulté a été un bogue qui n'existait qu'en production. J'ai arrêté de chercher dans le code et j'ai comparé comment Azure et Docker routent les requêtes — c'était là. »</a:t>
            </a:r>
          </a:p>
          <a:p/>
          <a:p>
            <a:r>
              <a:t>ZAKARIA : « J'ai porté les disponibilités, le flux du jour, les notifications et l'export. Ma difficulté a été de rattraper mes branches, qui avaient pris jusqu'à 56 commits de retard sur une interface entièrement refondue. Je les ai réintégrées par pull request, conflit par conflit, en gardant les deux apports plutôt qu'en écrasant. »</a:t>
            </a:r>
          </a:p>
          <a:p/>
          <a:p>
            <a:r>
              <a:t>LARBI : « J'ai porté le patient léger, la prise de rendez-vous par la réception et les statistiques. Ma difficulté a été de garantir qu'un créneau ne soit jamais pris deux fois. Vérifier dans le code ne suffit pas : entre la vérification et l'écriture, une autre requête peut passer. J'ai donc sorti la garantie du code pour la poser en base, comme contrainte d'unicité sur le créneau. Souleymane l'a ensuite transformée en index partiel, pour qu'une annulation libère le créneau. »</a:t>
            </a:r>
          </a:p>
          <a:p/>
          <a:p>
            <a:r>
              <a:t>CHACUN doit pouvoir répondre à une question sur SA colonne.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20 secondes, puis on ouvre les questions.</a:t>
            </a:r>
          </a:p>
          <a:p/>
          <a:p>
            <a:r>
              <a:t>« Pour résumer : huit fonctionnalités livrées et intégrées, 186 tests verts, une application en ligne pour environ zéro dollar par mois, et une infrastructure entièrement décrite en code — n'importe qui peut la redéployer d'une commande.</a:t>
            </a:r>
          </a:p>
          <a:p/>
          <a:p>
            <a:r>
              <a:t>Merci de votre attention. Nous répondons à vos questions. »</a:t>
            </a:r>
          </a:p>
          <a:p/>
          <a:p>
            <a:r>
              <a:t>RÈGLE POUR LES QUESTIONS : celui ou celle dont c'est le domaine répond. On ne se coupe pas la parole. Si on ne sait pas : « je ne l'ai pas vérifié, voici comment je le vérifierais » — jamais d'invention.</a:t>
            </a:r>
          </a:p>
          <a:p/>
          <a:p>
            <a:r>
              <a:t>QUESTIONS PROBABLES :</a:t>
            </a:r>
          </a:p>
          <a:p>
            <a:r>
              <a:t>· Doubles réservations ? → index unique partiel, PostgreSQL tranche ; vérifié en concurrence sur l'app en ligne, 201 + 409. Manuel, pas automatisé (Larbi)</a:t>
            </a:r>
          </a:p>
          <a:p>
            <a:r>
              <a:t>· Pourquoi le patient ne réserve pas ? → il appelle, c'est le flux réel (Souleymane)</a:t>
            </a:r>
          </a:p>
          <a:p>
            <a:r>
              <a:t>· Données de santé et sécurité ? → JWT, RBAC, chaque requête bornée à la clinique, mots de passe hachés, aucun secret dans le dépôt (Souleymane)</a:t>
            </a:r>
          </a:p>
          <a:p>
            <a:r>
              <a:t>· Pourquoi Azure et pas Railway ? → crédit étudiant non renouvelable, scale-to-zero, coût ~0 $ (Souleymane)</a:t>
            </a:r>
          </a:p>
          <a:p>
            <a:r>
              <a:t>· Le décalage en bloc ? → codé, non intégré, assumé (Zakaria)</a:t>
            </a:r>
          </a:p>
          <a:p>
            <a:r>
              <a:t>· Comment testez-vous ? → 186 tests, CI bloquante sur build et tests (Larbi)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278892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1280160"/>
          </a:xfrm>
          <a:prstGeom prst="rect">
            <a:avLst/>
          </a:prstGeom>
          <a:noFill/>
        </p:spPr>
        <p:txBody>
          <a:bodyPr wrap="square">
            <a:spAutoFit/>
          </a:bodyPr>
          <a:lstStyle/>
          <a:p>
            <a:pPr algn="ctr">
              <a:spcBef>
                <a:spcPts val="0"/>
              </a:spcBef>
              <a:spcAft>
                <a:spcPts val="0"/>
              </a:spcAft>
            </a:pPr>
            <a:r>
              <a:rPr sz="6000" b="1">
                <a:solidFill>
                  <a:srgbClr val="FFFFFF"/>
                </a:solidFill>
                <a:latin typeface="Calibri"/>
              </a:rPr>
              <a:t>MediPlan</a:t>
            </a:r>
          </a:p>
        </p:txBody>
      </p:sp>
      <p:sp>
        <p:nvSpPr>
          <p:cNvPr id="4" name="TextBox 3"/>
          <p:cNvSpPr txBox="1"/>
          <p:nvPr/>
        </p:nvSpPr>
        <p:spPr>
          <a:xfrm>
            <a:off x="914400" y="2057400"/>
            <a:ext cx="10332720" cy="640080"/>
          </a:xfrm>
          <a:prstGeom prst="rect">
            <a:avLst/>
          </a:prstGeom>
          <a:noFill/>
        </p:spPr>
        <p:txBody>
          <a:bodyPr wrap="square">
            <a:spAutoFit/>
          </a:bodyPr>
          <a:lstStyle/>
          <a:p>
            <a:pPr algn="ctr">
              <a:spcBef>
                <a:spcPts val="0"/>
              </a:spcBef>
              <a:spcAft>
                <a:spcPts val="0"/>
              </a:spcAft>
            </a:pPr>
            <a:r>
              <a:rPr sz="2200" b="0">
                <a:solidFill>
                  <a:srgbClr val="CFE3FF"/>
                </a:solidFill>
                <a:latin typeface="Calibri"/>
              </a:rPr>
              <a:t>Plateforme web de gestion des rendez-vous médicaux</a:t>
            </a:r>
          </a:p>
        </p:txBody>
      </p:sp>
      <p:sp>
        <p:nvSpPr>
          <p:cNvPr id="5" name="TextBox 4"/>
          <p:cNvSpPr txBox="1"/>
          <p:nvPr/>
        </p:nvSpPr>
        <p:spPr>
          <a:xfrm>
            <a:off x="914400" y="3017520"/>
            <a:ext cx="10332720" cy="1280160"/>
          </a:xfrm>
          <a:prstGeom prst="rect">
            <a:avLst/>
          </a:prstGeom>
          <a:noFill/>
        </p:spPr>
        <p:txBody>
          <a:bodyPr wrap="square">
            <a:spAutoFit/>
          </a:bodyPr>
          <a:lstStyle/>
          <a:p>
            <a:pPr algn="ctr">
              <a:spcBef>
                <a:spcPts val="0"/>
              </a:spcBef>
              <a:spcAft>
                <a:spcPts val="800"/>
              </a:spcAft>
            </a:pPr>
            <a:r>
              <a:rPr sz="3000" b="1">
                <a:solidFill>
                  <a:srgbClr val="FFFFFF"/>
                </a:solidFill>
                <a:latin typeface="Calibri"/>
              </a:rPr>
              <a:t>Présentation finale</a:t>
            </a:r>
          </a:p>
          <a:p>
            <a:pPr algn="ctr">
              <a:spcBef>
                <a:spcPts val="0"/>
              </a:spcBef>
              <a:spcAft>
                <a:spcPts val="0"/>
              </a:spcAft>
            </a:pPr>
            <a:r>
              <a:rPr sz="1800" b="0">
                <a:solidFill>
                  <a:srgbClr val="9FC8F5"/>
                </a:solidFill>
                <a:latin typeface="Calibri"/>
              </a:rPr>
              <a:t>Une solution déployée, testée et en ligne</a:t>
            </a:r>
          </a:p>
        </p:txBody>
      </p:sp>
      <p:sp>
        <p:nvSpPr>
          <p:cNvPr id="6" name="TextBox 5"/>
          <p:cNvSpPr txBox="1"/>
          <p:nvPr/>
        </p:nvSpPr>
        <p:spPr>
          <a:xfrm>
            <a:off x="914400" y="4846320"/>
            <a:ext cx="10332720" cy="1371600"/>
          </a:xfrm>
          <a:prstGeom prst="rect">
            <a:avLst/>
          </a:prstGeom>
          <a:noFill/>
        </p:spPr>
        <p:txBody>
          <a:bodyPr wrap="square">
            <a:spAutoFit/>
          </a:bodyPr>
          <a:lstStyle/>
          <a:p>
            <a:pPr algn="ctr">
              <a:spcBef>
                <a:spcPts val="0"/>
              </a:spcBef>
              <a:spcAft>
                <a:spcPts val="400"/>
              </a:spcAft>
            </a:pPr>
            <a:r>
              <a:rPr sz="1800" b="0">
                <a:solidFill>
                  <a:srgbClr val="FFFFFF"/>
                </a:solidFill>
                <a:latin typeface="Calibri"/>
              </a:rPr>
              <a:t>Souleymane DIALLO  ·  Zakaria Lahouiri  ·  Larbi Saib</a:t>
            </a:r>
          </a:p>
          <a:p>
            <a:pPr algn="ctr">
              <a:spcBef>
                <a:spcPts val="0"/>
              </a:spcBef>
              <a:spcAft>
                <a:spcPts val="200"/>
              </a:spcAft>
            </a:pPr>
            <a:r>
              <a:rPr sz="1400" b="0">
                <a:solidFill>
                  <a:srgbClr val="9FC8F5"/>
                </a:solidFill>
                <a:latin typeface="Calibri"/>
              </a:rPr>
              <a:t>Projet intégrateur 030747  ·  Collège La Cité  ·  13 août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Le problème</a:t>
            </a:r>
          </a:p>
          <a:p>
            <a:pPr algn="l">
              <a:spcBef>
                <a:spcPts val="0"/>
              </a:spcBef>
              <a:spcAft>
                <a:spcPts val="0"/>
              </a:spcAft>
            </a:pPr>
            <a:r>
              <a:rPr sz="1400" b="0">
                <a:solidFill>
                  <a:srgbClr val="CFE3FF"/>
                </a:solidFill>
                <a:latin typeface="Calibri"/>
              </a:rPr>
              <a:t>Ce que vit une petite clinique qui gère ses rendez-vous au téléphone</a:t>
            </a:r>
          </a:p>
        </p:txBody>
      </p:sp>
      <p:sp>
        <p:nvSpPr>
          <p:cNvPr id="6" name="Rectangle 5"/>
          <p:cNvSpPr/>
          <p:nvPr/>
        </p:nvSpPr>
        <p:spPr>
          <a:xfrm>
            <a:off x="411480" y="1508760"/>
            <a:ext cx="557784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480560"/>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4297680"/>
          </a:xfrm>
          <a:prstGeom prst="rect">
            <a:avLst/>
          </a:prstGeom>
          <a:noFill/>
        </p:spPr>
        <p:txBody>
          <a:bodyPr wrap="square">
            <a:spAutoFit/>
          </a:bodyPr>
          <a:lstStyle/>
          <a:p>
            <a:pPr algn="l">
              <a:spcBef>
                <a:spcPts val="0"/>
              </a:spcBef>
              <a:spcAft>
                <a:spcPts val="400"/>
              </a:spcAft>
            </a:pPr>
            <a:r>
              <a:rPr sz="1600" b="1">
                <a:solidFill>
                  <a:srgbClr val="A83232"/>
                </a:solidFill>
                <a:latin typeface="Calibri"/>
              </a:rPr>
              <a:t>Le quotidien de la réception</a:t>
            </a:r>
          </a:p>
          <a:p>
            <a:pPr algn="l">
              <a:spcBef>
                <a:spcPts val="0"/>
              </a:spcBef>
              <a:spcAft>
                <a:spcPts val="300"/>
              </a:spcAft>
            </a:pPr>
            <a:r>
              <a:rPr sz="1300" b="0">
                <a:solidFill>
                  <a:srgbClr val="404040"/>
                </a:solidFill>
                <a:latin typeface="Calibri"/>
              </a:rPr>
              <a:t>•  Le téléphone est le canal principal — le patient appelle,</a:t>
            </a:r>
          </a:p>
          <a:p>
            <a:pPr algn="l">
              <a:spcBef>
                <a:spcPts val="0"/>
              </a:spcBef>
              <a:spcAft>
                <a:spcPts val="300"/>
              </a:spcAft>
            </a:pPr>
            <a:r>
              <a:rPr sz="1300" b="0">
                <a:solidFill>
                  <a:srgbClr val="404040"/>
                </a:solidFill>
                <a:latin typeface="Calibri"/>
              </a:rPr>
              <a:t>•     il ne s'inscrit pas en ligne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Un agenda papier ou un tableur partagé : deux personnes</a:t>
            </a:r>
          </a:p>
          <a:p>
            <a:pPr algn="l">
              <a:spcBef>
                <a:spcPts val="0"/>
              </a:spcBef>
              <a:spcAft>
                <a:spcPts val="300"/>
              </a:spcAft>
            </a:pPr>
            <a:r>
              <a:rPr sz="1300" b="0">
                <a:solidFill>
                  <a:srgbClr val="404040"/>
                </a:solidFill>
                <a:latin typeface="Calibri"/>
              </a:rPr>
              <a:t>•     peuvent réserver le même créneau au même moment</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Aucune vue d'ensemble de la journée en cours : qui est</a:t>
            </a:r>
          </a:p>
          <a:p>
            <a:pPr algn="l">
              <a:spcBef>
                <a:spcPts val="0"/>
              </a:spcBef>
              <a:spcAft>
                <a:spcPts val="300"/>
              </a:spcAft>
            </a:pPr>
            <a:r>
              <a:rPr sz="1300" b="0">
                <a:solidFill>
                  <a:srgbClr val="404040"/>
                </a:solidFill>
                <a:latin typeface="Calibri"/>
              </a:rPr>
              <a:t>•     arrivé, qui est en consultation, qui n'est pas venu</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Les absences (no-show) ne sont ni tracées ni mesurées</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 médecin et la réception ne partagent pas la même</a:t>
            </a:r>
          </a:p>
          <a:p>
            <a:pPr algn="l">
              <a:spcBef>
                <a:spcPts val="0"/>
              </a:spcBef>
              <a:spcAft>
                <a:spcPts val="300"/>
              </a:spcAft>
            </a:pPr>
            <a:r>
              <a:rPr sz="1300" b="0">
                <a:solidFill>
                  <a:srgbClr val="404040"/>
                </a:solidFill>
                <a:latin typeface="Calibri"/>
              </a:rPr>
              <a:t>•     information au même instant</a:t>
            </a:r>
          </a:p>
        </p:txBody>
      </p:sp>
      <p:sp>
        <p:nvSpPr>
          <p:cNvPr id="9" name="Rectangle 8"/>
          <p:cNvSpPr/>
          <p:nvPr/>
        </p:nvSpPr>
        <p:spPr>
          <a:xfrm>
            <a:off x="6172200" y="1508760"/>
            <a:ext cx="557784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448056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429768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Ce que ça coûte</a:t>
            </a:r>
          </a:p>
          <a:p>
            <a:pPr algn="l">
              <a:spcBef>
                <a:spcPts val="0"/>
              </a:spcBef>
              <a:spcAft>
                <a:spcPts val="300"/>
              </a:spcAft>
            </a:pPr>
            <a:r>
              <a:rPr sz="1300" b="0">
                <a:solidFill>
                  <a:srgbClr val="404040"/>
                </a:solidFill>
                <a:latin typeface="Calibri"/>
              </a:rPr>
              <a:t>•  Des doubles réservations à gérer en catastrophe,</a:t>
            </a:r>
          </a:p>
          <a:p>
            <a:pPr algn="l">
              <a:spcBef>
                <a:spcPts val="0"/>
              </a:spcBef>
              <a:spcAft>
                <a:spcPts val="300"/>
              </a:spcAft>
            </a:pPr>
            <a:r>
              <a:rPr sz="1300" b="0">
                <a:solidFill>
                  <a:srgbClr val="404040"/>
                </a:solidFill>
                <a:latin typeface="Calibri"/>
              </a:rPr>
              <a:t>•     devant le patient</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Du temps perdu à chercher l'information plutôt qu'à</a:t>
            </a:r>
          </a:p>
          <a:p>
            <a:pPr algn="l">
              <a:spcBef>
                <a:spcPts val="0"/>
              </a:spcBef>
              <a:spcAft>
                <a:spcPts val="300"/>
              </a:spcAft>
            </a:pPr>
            <a:r>
              <a:rPr sz="1300" b="0">
                <a:solidFill>
                  <a:srgbClr val="404040"/>
                </a:solidFill>
                <a:latin typeface="Calibri"/>
              </a:rPr>
              <a:t>•     accueillir</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Des créneaux perdus : un rendez-vous annulé ne redevient</a:t>
            </a:r>
          </a:p>
          <a:p>
            <a:pPr algn="l">
              <a:spcBef>
                <a:spcPts val="0"/>
              </a:spcBef>
              <a:spcAft>
                <a:spcPts val="300"/>
              </a:spcAft>
            </a:pPr>
            <a:r>
              <a:rPr sz="1300" b="0">
                <a:solidFill>
                  <a:srgbClr val="404040"/>
                </a:solidFill>
                <a:latin typeface="Calibri"/>
              </a:rPr>
              <a:t>•     jamais disponible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Aucune donnée pour décider — impossible de savoir si</a:t>
            </a:r>
          </a:p>
          <a:p>
            <a:pPr algn="l">
              <a:spcBef>
                <a:spcPts val="0"/>
              </a:spcBef>
              <a:spcAft>
                <a:spcPts val="300"/>
              </a:spcAft>
            </a:pPr>
            <a:r>
              <a:rPr sz="1300" b="0">
                <a:solidFill>
                  <a:srgbClr val="404040"/>
                </a:solidFill>
                <a:latin typeface="Calibri"/>
              </a:rPr>
              <a:t>•     l'agenda est bien rempli ou si les absences explosent</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Une charge mentale portée par une seule personne</a:t>
            </a:r>
          </a:p>
        </p:txBody>
      </p:sp>
      <p:sp>
        <p:nvSpPr>
          <p:cNvPr id="12" name="TextBox 11"/>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 DIALLO</a:t>
            </a:r>
          </a:p>
        </p:txBody>
      </p:sp>
      <p:sp>
        <p:nvSpPr>
          <p:cNvPr id="13" name="TextBox 12"/>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2</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Notre solution</a:t>
            </a:r>
          </a:p>
          <a:p>
            <a:pPr algn="l">
              <a:spcBef>
                <a:spcPts val="0"/>
              </a:spcBef>
              <a:spcAft>
                <a:spcPts val="0"/>
              </a:spcAft>
            </a:pPr>
            <a:r>
              <a:rPr sz="1400" b="0">
                <a:solidFill>
                  <a:srgbClr val="CFE3FF"/>
                </a:solidFill>
                <a:latin typeface="Calibri"/>
              </a:rPr>
              <a:t>Outiller la réception, pas remplacer le téléphone</a:t>
            </a:r>
          </a:p>
        </p:txBody>
      </p:sp>
      <p:sp>
        <p:nvSpPr>
          <p:cNvPr id="6" name="Rectangle 5"/>
          <p:cNvSpPr/>
          <p:nvPr/>
        </p:nvSpPr>
        <p:spPr>
          <a:xfrm>
            <a:off x="41148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4805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291840" cy="42976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Ce que fait MediPlan</a:t>
            </a:r>
          </a:p>
          <a:p>
            <a:pPr algn="l">
              <a:spcBef>
                <a:spcPts val="0"/>
              </a:spcBef>
              <a:spcAft>
                <a:spcPts val="300"/>
              </a:spcAft>
            </a:pPr>
            <a:r>
              <a:rPr sz="1300" b="0">
                <a:solidFill>
                  <a:srgbClr val="404040"/>
                </a:solidFill>
                <a:latin typeface="Calibri"/>
              </a:rPr>
              <a:t>•  Le médecin publie ses plages de</a:t>
            </a:r>
          </a:p>
          <a:p>
            <a:pPr algn="l">
              <a:spcBef>
                <a:spcPts val="0"/>
              </a:spcBef>
              <a:spcAft>
                <a:spcPts val="300"/>
              </a:spcAft>
            </a:pPr>
            <a:r>
              <a:rPr sz="1300" b="0">
                <a:solidFill>
                  <a:srgbClr val="404040"/>
                </a:solidFill>
                <a:latin typeface="Calibri"/>
              </a:rPr>
              <a:t>•     disponibilité ; le système génère</a:t>
            </a:r>
          </a:p>
          <a:p>
            <a:pPr algn="l">
              <a:spcBef>
                <a:spcPts val="0"/>
              </a:spcBef>
              <a:spcAft>
                <a:spcPts val="300"/>
              </a:spcAft>
            </a:pPr>
            <a:r>
              <a:rPr sz="1300" b="0">
                <a:solidFill>
                  <a:srgbClr val="404040"/>
                </a:solidFill>
                <a:latin typeface="Calibri"/>
              </a:rPr>
              <a:t>•     les créneaux réservables tout seul</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La réception réserve pour un patient</a:t>
            </a:r>
          </a:p>
          <a:p>
            <a:pPr algn="l">
              <a:spcBef>
                <a:spcPts val="0"/>
              </a:spcBef>
              <a:spcAft>
                <a:spcPts val="300"/>
              </a:spcAft>
            </a:pPr>
            <a:r>
              <a:rPr sz="1300" b="0">
                <a:solidFill>
                  <a:srgbClr val="404040"/>
                </a:solidFill>
                <a:latin typeface="Calibri"/>
              </a:rPr>
              <a:t>•     au téléphone, en quelques secondes</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La base garantit qu'un créneau ne</a:t>
            </a:r>
          </a:p>
          <a:p>
            <a:pPr algn="l">
              <a:spcBef>
                <a:spcPts val="0"/>
              </a:spcBef>
              <a:spcAft>
                <a:spcPts val="300"/>
              </a:spcAft>
            </a:pPr>
            <a:r>
              <a:rPr sz="1300" b="0">
                <a:solidFill>
                  <a:srgbClr val="404040"/>
                </a:solidFill>
                <a:latin typeface="Calibri"/>
              </a:rPr>
              <a:t>•     peut être pris deux fois</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 flux du jour suit chaque patient :</a:t>
            </a:r>
          </a:p>
          <a:p>
            <a:pPr algn="l">
              <a:spcBef>
                <a:spcPts val="0"/>
              </a:spcBef>
              <a:spcAft>
                <a:spcPts val="300"/>
              </a:spcAft>
            </a:pPr>
            <a:r>
              <a:rPr sz="1300" b="0">
                <a:solidFill>
                  <a:srgbClr val="404040"/>
                </a:solidFill>
                <a:latin typeface="Calibri"/>
              </a:rPr>
              <a:t>•     arrivé, en consultation, terminé</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Annulation avec motif — le créneau</a:t>
            </a:r>
          </a:p>
          <a:p>
            <a:pPr algn="l">
              <a:spcBef>
                <a:spcPts val="0"/>
              </a:spcBef>
              <a:spcAft>
                <a:spcPts val="300"/>
              </a:spcAft>
            </a:pPr>
            <a:r>
              <a:rPr sz="1300" b="0">
                <a:solidFill>
                  <a:srgbClr val="404040"/>
                </a:solidFill>
                <a:latin typeface="Calibri"/>
              </a:rPr>
              <a:t>•     redevient disponible</a:t>
            </a:r>
          </a:p>
        </p:txBody>
      </p:sp>
      <p:sp>
        <p:nvSpPr>
          <p:cNvPr id="9" name="Rectangle 8"/>
          <p:cNvSpPr/>
          <p:nvPr/>
        </p:nvSpPr>
        <p:spPr>
          <a:xfrm>
            <a:off x="425196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08760"/>
            <a:ext cx="76200" cy="44805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18488"/>
            <a:ext cx="3291840" cy="42976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Pour qui</a:t>
            </a:r>
          </a:p>
          <a:p>
            <a:pPr algn="l">
              <a:spcBef>
                <a:spcPts val="0"/>
              </a:spcBef>
              <a:spcAft>
                <a:spcPts val="300"/>
              </a:spcAft>
            </a:pPr>
            <a:r>
              <a:rPr sz="1300" b="0">
                <a:solidFill>
                  <a:srgbClr val="404040"/>
                </a:solidFill>
                <a:latin typeface="Calibri"/>
              </a:rPr>
              <a:t>•  Réception / administrateur de</a:t>
            </a:r>
          </a:p>
          <a:p>
            <a:pPr algn="l">
              <a:spcBef>
                <a:spcPts val="0"/>
              </a:spcBef>
              <a:spcAft>
                <a:spcPts val="300"/>
              </a:spcAft>
            </a:pPr>
            <a:r>
              <a:rPr sz="1300" b="0">
                <a:solidFill>
                  <a:srgbClr val="404040"/>
                </a:solidFill>
                <a:latin typeface="Calibri"/>
              </a:rPr>
              <a:t>•     clinique — l'utilisateur principal,</a:t>
            </a:r>
          </a:p>
          <a:p>
            <a:pPr algn="l">
              <a:spcBef>
                <a:spcPts val="0"/>
              </a:spcBef>
              <a:spcAft>
                <a:spcPts val="300"/>
              </a:spcAft>
            </a:pPr>
            <a:r>
              <a:rPr sz="1300" b="0">
                <a:solidFill>
                  <a:srgbClr val="404040"/>
                </a:solidFill>
                <a:latin typeface="Calibri"/>
              </a:rPr>
              <a:t>•     celui qui vit le problème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Médecin — consulte son agenda et</a:t>
            </a:r>
          </a:p>
          <a:p>
            <a:pPr algn="l">
              <a:spcBef>
                <a:spcPts val="0"/>
              </a:spcBef>
              <a:spcAft>
                <a:spcPts val="300"/>
              </a:spcAft>
            </a:pPr>
            <a:r>
              <a:rPr sz="1300" b="0">
                <a:solidFill>
                  <a:srgbClr val="404040"/>
                </a:solidFill>
                <a:latin typeface="Calibri"/>
              </a:rPr>
              <a:t>•     le flux de sa journée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Patient — existe dans le système</a:t>
            </a:r>
          </a:p>
          <a:p>
            <a:pPr algn="l">
              <a:spcBef>
                <a:spcPts val="0"/>
              </a:spcBef>
              <a:spcAft>
                <a:spcPts val="300"/>
              </a:spcAft>
            </a:pPr>
            <a:r>
              <a:rPr sz="1300" b="0">
                <a:solidFill>
                  <a:srgbClr val="404040"/>
                </a:solidFill>
                <a:latin typeface="Calibri"/>
              </a:rPr>
              <a:t>•     comme « patient léger », créé au</a:t>
            </a:r>
          </a:p>
          <a:p>
            <a:pPr algn="l">
              <a:spcBef>
                <a:spcPts val="0"/>
              </a:spcBef>
              <a:spcAft>
                <a:spcPts val="300"/>
              </a:spcAft>
            </a:pPr>
            <a:r>
              <a:rPr sz="1300" b="0">
                <a:solidFill>
                  <a:srgbClr val="404040"/>
                </a:solidFill>
                <a:latin typeface="Calibri"/>
              </a:rPr>
              <a:t>•     comptoir, sans compte à retenir</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Super administrateur — supervise</a:t>
            </a:r>
          </a:p>
          <a:p>
            <a:pPr algn="l">
              <a:spcBef>
                <a:spcPts val="0"/>
              </a:spcBef>
              <a:spcAft>
                <a:spcPts val="300"/>
              </a:spcAft>
            </a:pPr>
            <a:r>
              <a:rPr sz="1300" b="0">
                <a:solidFill>
                  <a:srgbClr val="404040"/>
                </a:solidFill>
                <a:latin typeface="Calibri"/>
              </a:rPr>
              <a:t>•     l'ensemble des cliniques</a:t>
            </a:r>
          </a:p>
        </p:txBody>
      </p:sp>
      <p:sp>
        <p:nvSpPr>
          <p:cNvPr id="12" name="Rectangle 11"/>
          <p:cNvSpPr/>
          <p:nvPr/>
        </p:nvSpPr>
        <p:spPr>
          <a:xfrm>
            <a:off x="809244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08760"/>
            <a:ext cx="76200" cy="44805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18488"/>
            <a:ext cx="3291840" cy="42976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Nos objectifs</a:t>
            </a:r>
          </a:p>
          <a:p>
            <a:pPr algn="l">
              <a:spcBef>
                <a:spcPts val="0"/>
              </a:spcBef>
              <a:spcAft>
                <a:spcPts val="300"/>
              </a:spcAft>
            </a:pPr>
            <a:r>
              <a:rPr sz="1300" b="0">
                <a:solidFill>
                  <a:srgbClr val="404040"/>
                </a:solidFill>
                <a:latin typeface="Calibri"/>
              </a:rPr>
              <a:t>•  Rendre la double réservation</a:t>
            </a:r>
          </a:p>
          <a:p>
            <a:pPr algn="l">
              <a:spcBef>
                <a:spcPts val="0"/>
              </a:spcBef>
              <a:spcAft>
                <a:spcPts val="300"/>
              </a:spcAft>
            </a:pPr>
            <a:r>
              <a:rPr sz="1300" b="0">
                <a:solidFill>
                  <a:srgbClr val="404040"/>
                </a:solidFill>
                <a:latin typeface="Calibri"/>
              </a:rPr>
              <a:t>•     techniquement impossible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Donner une vue partagée et fiable</a:t>
            </a:r>
          </a:p>
          <a:p>
            <a:pPr algn="l">
              <a:spcBef>
                <a:spcPts val="0"/>
              </a:spcBef>
              <a:spcAft>
                <a:spcPts val="300"/>
              </a:spcAft>
            </a:pPr>
            <a:r>
              <a:rPr sz="1300" b="0">
                <a:solidFill>
                  <a:srgbClr val="404040"/>
                </a:solidFill>
                <a:latin typeface="Calibri"/>
              </a:rPr>
              <a:t>•     de la journée en cours</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Ne perdre aucun créneau annulé</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Mesurer l'activité : occupation,</a:t>
            </a:r>
          </a:p>
          <a:p>
            <a:pPr algn="l">
              <a:spcBef>
                <a:spcPts val="0"/>
              </a:spcBef>
              <a:spcAft>
                <a:spcPts val="300"/>
              </a:spcAft>
            </a:pPr>
            <a:r>
              <a:rPr sz="1300" b="0">
                <a:solidFill>
                  <a:srgbClr val="404040"/>
                </a:solidFill>
                <a:latin typeface="Calibri"/>
              </a:rPr>
              <a:t>•     absences, volumes par médecin</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Livrer une application réellement</a:t>
            </a:r>
          </a:p>
          <a:p>
            <a:pPr algn="l">
              <a:spcBef>
                <a:spcPts val="0"/>
              </a:spcBef>
              <a:spcAft>
                <a:spcPts val="300"/>
              </a:spcAft>
            </a:pPr>
            <a:r>
              <a:rPr sz="1300" b="0">
                <a:solidFill>
                  <a:srgbClr val="404040"/>
                </a:solidFill>
                <a:latin typeface="Calibri"/>
              </a:rPr>
              <a:t>•     déployée, pas une maquette</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 DIALLO</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3</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Comment nous avons travaillé</a:t>
            </a:r>
          </a:p>
          <a:p>
            <a:pPr algn="l">
              <a:spcBef>
                <a:spcPts val="0"/>
              </a:spcBef>
              <a:spcAft>
                <a:spcPts val="0"/>
              </a:spcAft>
            </a:pPr>
            <a:r>
              <a:rPr sz="1400" b="0">
                <a:solidFill>
                  <a:srgbClr val="CFE3FF"/>
                </a:solidFill>
                <a:latin typeface="Calibri"/>
              </a:rPr>
              <a:t>Trois personnes, des responsabilités explicites</a:t>
            </a:r>
          </a:p>
        </p:txBody>
      </p:sp>
      <p:sp>
        <p:nvSpPr>
          <p:cNvPr id="6" name="Rectangle 5"/>
          <p:cNvSpPr/>
          <p:nvPr/>
        </p:nvSpPr>
        <p:spPr>
          <a:xfrm>
            <a:off x="411480" y="1508760"/>
            <a:ext cx="3657600" cy="40233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0233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291840" cy="38404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Souleymane DIALLO</a:t>
            </a:r>
          </a:p>
          <a:p>
            <a:pPr algn="l">
              <a:spcBef>
                <a:spcPts val="0"/>
              </a:spcBef>
              <a:spcAft>
                <a:spcPts val="300"/>
              </a:spcAft>
            </a:pPr>
            <a:r>
              <a:rPr sz="1300" b="0">
                <a:solidFill>
                  <a:srgbClr val="404040"/>
                </a:solidFill>
                <a:latin typeface="Calibri"/>
              </a:rPr>
              <a:t>•  Pilotage, Jira et GitHub</a:t>
            </a:r>
          </a:p>
          <a:p>
            <a:pPr algn="l">
              <a:spcBef>
                <a:spcPts val="0"/>
              </a:spcBef>
              <a:spcAft>
                <a:spcPts val="300"/>
              </a:spcAft>
            </a:pPr>
            <a:r>
              <a:rPr sz="1300" b="0">
                <a:solidFill>
                  <a:srgbClr val="404040"/>
                </a:solidFill>
                <a:latin typeface="Calibri"/>
              </a:rPr>
              <a:t>•  Cahier des charges,</a:t>
            </a:r>
          </a:p>
          <a:p>
            <a:pPr algn="l">
              <a:spcBef>
                <a:spcPts val="0"/>
              </a:spcBef>
              <a:spcAft>
                <a:spcPts val="300"/>
              </a:spcAft>
            </a:pPr>
            <a:r>
              <a:rPr sz="1300" b="0">
                <a:solidFill>
                  <a:srgbClr val="404040"/>
                </a:solidFill>
                <a:latin typeface="Calibri"/>
              </a:rPr>
              <a:t>•     7 cas d'utilisation</a:t>
            </a:r>
          </a:p>
          <a:p>
            <a:pPr algn="l">
              <a:spcBef>
                <a:spcPts val="0"/>
              </a:spcBef>
              <a:spcAft>
                <a:spcPts val="300"/>
              </a:spcAft>
            </a:pPr>
            <a:r>
              <a:rPr sz="1300" b="0">
                <a:solidFill>
                  <a:srgbClr val="404040"/>
                </a:solidFill>
                <a:latin typeface="Calibri"/>
              </a:rPr>
              <a:t>•  Authentification et RBAC</a:t>
            </a:r>
          </a:p>
          <a:p>
            <a:pPr algn="l">
              <a:spcBef>
                <a:spcPts val="0"/>
              </a:spcBef>
              <a:spcAft>
                <a:spcPts val="300"/>
              </a:spcAft>
            </a:pPr>
            <a:r>
              <a:rPr sz="1300" b="0">
                <a:solidFill>
                  <a:srgbClr val="404040"/>
                </a:solidFill>
                <a:latin typeface="Calibri"/>
              </a:rPr>
              <a:t>•  Socle monorepo + Docker</a:t>
            </a:r>
          </a:p>
          <a:p>
            <a:pPr algn="l">
              <a:spcBef>
                <a:spcPts val="0"/>
              </a:spcBef>
              <a:spcAft>
                <a:spcPts val="300"/>
              </a:spcAft>
            </a:pPr>
            <a:r>
              <a:rPr sz="1300" b="0">
                <a:solidFill>
                  <a:srgbClr val="404040"/>
                </a:solidFill>
                <a:latin typeface="Calibri"/>
              </a:rPr>
              <a:t>•  Design system et refonte UI</a:t>
            </a:r>
          </a:p>
          <a:p>
            <a:pPr algn="l">
              <a:spcBef>
                <a:spcPts val="0"/>
              </a:spcBef>
              <a:spcAft>
                <a:spcPts val="300"/>
              </a:spcAft>
            </a:pPr>
            <a:r>
              <a:rPr sz="1300" b="0">
                <a:solidFill>
                  <a:srgbClr val="404040"/>
                </a:solidFill>
                <a:latin typeface="Calibri"/>
              </a:rPr>
              <a:t>•  Déploiement Azure (Bicep)</a:t>
            </a:r>
          </a:p>
        </p:txBody>
      </p:sp>
      <p:sp>
        <p:nvSpPr>
          <p:cNvPr id="9" name="Rectangle 8"/>
          <p:cNvSpPr/>
          <p:nvPr/>
        </p:nvSpPr>
        <p:spPr>
          <a:xfrm>
            <a:off x="4251960" y="1508760"/>
            <a:ext cx="3657600" cy="40233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08760"/>
            <a:ext cx="76200" cy="40233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18488"/>
            <a:ext cx="3291840" cy="38404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Zakaria Lahouiri</a:t>
            </a:r>
          </a:p>
          <a:p>
            <a:pPr algn="l">
              <a:spcBef>
                <a:spcPts val="0"/>
              </a:spcBef>
              <a:spcAft>
                <a:spcPts val="300"/>
              </a:spcAft>
            </a:pPr>
            <a:r>
              <a:rPr sz="1300" b="0">
                <a:solidFill>
                  <a:srgbClr val="404040"/>
                </a:solidFill>
                <a:latin typeface="Calibri"/>
              </a:rPr>
              <a:t>•  Diagramme de classes</a:t>
            </a:r>
          </a:p>
          <a:p>
            <a:pPr algn="l">
              <a:spcBef>
                <a:spcPts val="0"/>
              </a:spcBef>
              <a:spcAft>
                <a:spcPts val="300"/>
              </a:spcAft>
            </a:pPr>
            <a:r>
              <a:rPr sz="1300" b="0">
                <a:solidFill>
                  <a:srgbClr val="404040"/>
                </a:solidFill>
                <a:latin typeface="Calibri"/>
              </a:rPr>
              <a:t>•  Disponibilités des médecins</a:t>
            </a:r>
          </a:p>
          <a:p>
            <a:pPr algn="l">
              <a:spcBef>
                <a:spcPts val="0"/>
              </a:spcBef>
              <a:spcAft>
                <a:spcPts val="300"/>
              </a:spcAft>
            </a:pPr>
            <a:r>
              <a:rPr sz="1300" b="0">
                <a:solidFill>
                  <a:srgbClr val="404040"/>
                </a:solidFill>
                <a:latin typeface="Calibri"/>
              </a:rPr>
              <a:t>•     et génération des créneaux</a:t>
            </a:r>
          </a:p>
          <a:p>
            <a:pPr algn="l">
              <a:spcBef>
                <a:spcPts val="0"/>
              </a:spcBef>
              <a:spcAft>
                <a:spcPts val="300"/>
              </a:spcAft>
            </a:pPr>
            <a:r>
              <a:rPr sz="1300" b="0">
                <a:solidFill>
                  <a:srgbClr val="404040"/>
                </a:solidFill>
                <a:latin typeface="Calibri"/>
              </a:rPr>
              <a:t>•  Flux clinique du jour</a:t>
            </a:r>
          </a:p>
          <a:p>
            <a:pPr algn="l">
              <a:spcBef>
                <a:spcPts val="0"/>
              </a:spcBef>
              <a:spcAft>
                <a:spcPts val="300"/>
              </a:spcAft>
            </a:pPr>
            <a:r>
              <a:rPr sz="1300" b="0">
                <a:solidFill>
                  <a:srgbClr val="404040"/>
                </a:solidFill>
                <a:latin typeface="Calibri"/>
              </a:rPr>
              <a:t>•  Notifications internes</a:t>
            </a:r>
          </a:p>
          <a:p>
            <a:pPr algn="l">
              <a:spcBef>
                <a:spcPts val="0"/>
              </a:spcBef>
              <a:spcAft>
                <a:spcPts val="300"/>
              </a:spcAft>
            </a:pPr>
            <a:r>
              <a:rPr sz="1300" b="0">
                <a:solidFill>
                  <a:srgbClr val="404040"/>
                </a:solidFill>
                <a:latin typeface="Calibri"/>
              </a:rPr>
              <a:t>•  Export CSV des rendez-vous</a:t>
            </a:r>
          </a:p>
        </p:txBody>
      </p:sp>
      <p:sp>
        <p:nvSpPr>
          <p:cNvPr id="12" name="Rectangle 11"/>
          <p:cNvSpPr/>
          <p:nvPr/>
        </p:nvSpPr>
        <p:spPr>
          <a:xfrm>
            <a:off x="8092440" y="1508760"/>
            <a:ext cx="3657600" cy="40233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08760"/>
            <a:ext cx="76200" cy="40233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18488"/>
            <a:ext cx="3291840" cy="38404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Larbi Saib</a:t>
            </a:r>
          </a:p>
          <a:p>
            <a:pPr algn="l">
              <a:spcBef>
                <a:spcPts val="0"/>
              </a:spcBef>
              <a:spcAft>
                <a:spcPts val="300"/>
              </a:spcAft>
            </a:pPr>
            <a:r>
              <a:rPr sz="1300" b="0">
                <a:solidFill>
                  <a:srgbClr val="404040"/>
                </a:solidFill>
                <a:latin typeface="Calibri"/>
              </a:rPr>
              <a:t>•  Diagrammes de séquence</a:t>
            </a:r>
          </a:p>
          <a:p>
            <a:pPr algn="l">
              <a:spcBef>
                <a:spcPts val="0"/>
              </a:spcBef>
              <a:spcAft>
                <a:spcPts val="300"/>
              </a:spcAft>
            </a:pPr>
            <a:r>
              <a:rPr sz="1300" b="0">
                <a:solidFill>
                  <a:srgbClr val="404040"/>
                </a:solidFill>
                <a:latin typeface="Calibri"/>
              </a:rPr>
              <a:t>•  Modèle du « patient léger »</a:t>
            </a:r>
          </a:p>
          <a:p>
            <a:pPr algn="l">
              <a:spcBef>
                <a:spcPts val="0"/>
              </a:spcBef>
              <a:spcAft>
                <a:spcPts val="300"/>
              </a:spcAft>
            </a:pPr>
            <a:r>
              <a:rPr sz="1300" b="0">
                <a:solidFill>
                  <a:srgbClr val="404040"/>
                </a:solidFill>
                <a:latin typeface="Calibri"/>
              </a:rPr>
              <a:t>•  Prise de RDV par la réception</a:t>
            </a:r>
          </a:p>
          <a:p>
            <a:pPr algn="l">
              <a:spcBef>
                <a:spcPts val="0"/>
              </a:spcBef>
              <a:spcAft>
                <a:spcPts val="300"/>
              </a:spcAft>
            </a:pPr>
            <a:r>
              <a:rPr sz="1300" b="0">
                <a:solidFill>
                  <a:srgbClr val="404040"/>
                </a:solidFill>
                <a:latin typeface="Calibri"/>
              </a:rPr>
              <a:t>•  Socle technique des RDV et</a:t>
            </a:r>
          </a:p>
          <a:p>
            <a:pPr algn="l">
              <a:spcBef>
                <a:spcPts val="0"/>
              </a:spcBef>
              <a:spcAft>
                <a:spcPts val="300"/>
              </a:spcAft>
            </a:pPr>
            <a:r>
              <a:rPr sz="1300" b="0">
                <a:solidFill>
                  <a:srgbClr val="404040"/>
                </a:solidFill>
                <a:latin typeface="Calibri"/>
              </a:rPr>
              <a:t>•     index anti-double-réservation</a:t>
            </a:r>
          </a:p>
          <a:p>
            <a:pPr algn="l">
              <a:spcBef>
                <a:spcPts val="0"/>
              </a:spcBef>
              <a:spcAft>
                <a:spcPts val="300"/>
              </a:spcAft>
            </a:pPr>
            <a:r>
              <a:rPr sz="1300" b="0">
                <a:solidFill>
                  <a:srgbClr val="404040"/>
                </a:solidFill>
                <a:latin typeface="Calibri"/>
              </a:rPr>
              <a:t>•  Tableau de bord et statistiques</a:t>
            </a:r>
          </a:p>
        </p:txBody>
      </p:sp>
      <p:sp>
        <p:nvSpPr>
          <p:cNvPr id="15" name="Rectangle 14"/>
          <p:cNvSpPr/>
          <p:nvPr/>
        </p:nvSpPr>
        <p:spPr>
          <a:xfrm>
            <a:off x="411480" y="5669280"/>
            <a:ext cx="11338560" cy="56692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733288"/>
            <a:ext cx="10972800" cy="457200"/>
          </a:xfrm>
          <a:prstGeom prst="rect">
            <a:avLst/>
          </a:prstGeom>
          <a:noFill/>
        </p:spPr>
        <p:txBody>
          <a:bodyPr wrap="square">
            <a:spAutoFit/>
          </a:bodyPr>
          <a:lstStyle/>
          <a:p>
            <a:pPr algn="l">
              <a:spcBef>
                <a:spcPts val="0"/>
              </a:spcBef>
              <a:spcAft>
                <a:spcPts val="0"/>
              </a:spcAft>
            </a:pPr>
            <a:r>
              <a:rPr sz="1300" b="1">
                <a:solidFill>
                  <a:srgbClr val="154D8C"/>
                </a:solidFill>
                <a:latin typeface="Calibri"/>
              </a:rPr>
              <a:t>Découpage par tranche verticale : chacun mène sa fonctionnalité de la base de données jusqu'à l'écran — pas de séparation « un front / un back ».</a:t>
            </a:r>
          </a:p>
        </p:txBody>
      </p:sp>
      <p:sp>
        <p:nvSpPr>
          <p:cNvPr id="17" name="TextBox 16"/>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 Saib</a:t>
            </a:r>
          </a:p>
        </p:txBody>
      </p:sp>
      <p:sp>
        <p:nvSpPr>
          <p:cNvPr id="18" name="TextBox 17"/>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4</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Jira et GitHub</a:t>
            </a:r>
          </a:p>
          <a:p>
            <a:pPr algn="l">
              <a:spcBef>
                <a:spcPts val="0"/>
              </a:spcBef>
              <a:spcAft>
                <a:spcPts val="0"/>
              </a:spcAft>
            </a:pPr>
            <a:r>
              <a:rPr sz="1400" b="0">
                <a:solidFill>
                  <a:srgbClr val="CFE3FF"/>
                </a:solidFill>
                <a:latin typeface="Calibri"/>
              </a:rPr>
              <a:t>Notre flux de travail, et ce qu'il nous a appris</a:t>
            </a:r>
          </a:p>
        </p:txBody>
      </p:sp>
      <p:sp>
        <p:nvSpPr>
          <p:cNvPr id="6" name="Rectangle 5"/>
          <p:cNvSpPr/>
          <p:nvPr/>
        </p:nvSpPr>
        <p:spPr>
          <a:xfrm>
            <a:off x="411480" y="1463040"/>
            <a:ext cx="2606040" cy="13716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51</a:t>
            </a:r>
          </a:p>
          <a:p>
            <a:pPr algn="ctr">
              <a:spcBef>
                <a:spcPts val="0"/>
              </a:spcBef>
              <a:spcAft>
                <a:spcPts val="0"/>
              </a:spcAft>
            </a:pPr>
            <a:r>
              <a:rPr sz="1300" b="0">
                <a:solidFill>
                  <a:srgbClr val="FFFFFF"/>
                </a:solidFill>
                <a:latin typeface="Calibri"/>
              </a:rPr>
              <a:t>Tickets Jira</a:t>
            </a:r>
          </a:p>
        </p:txBody>
      </p:sp>
      <p:sp>
        <p:nvSpPr>
          <p:cNvPr id="8" name="Rectangle 7"/>
          <p:cNvSpPr/>
          <p:nvPr/>
        </p:nvSpPr>
        <p:spPr>
          <a:xfrm>
            <a:off x="3246120" y="1463040"/>
            <a:ext cx="260604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21</a:t>
            </a:r>
          </a:p>
          <a:p>
            <a:pPr algn="ctr">
              <a:spcBef>
                <a:spcPts val="0"/>
              </a:spcBef>
              <a:spcAft>
                <a:spcPts val="0"/>
              </a:spcAft>
            </a:pPr>
            <a:r>
              <a:rPr sz="1300" b="0">
                <a:solidFill>
                  <a:srgbClr val="FFFFFF"/>
                </a:solidFill>
                <a:latin typeface="Calibri"/>
              </a:rPr>
              <a:t>Pull requests</a:t>
            </a:r>
          </a:p>
        </p:txBody>
      </p:sp>
      <p:sp>
        <p:nvSpPr>
          <p:cNvPr id="10" name="Rectangle 9"/>
          <p:cNvSpPr/>
          <p:nvPr/>
        </p:nvSpPr>
        <p:spPr>
          <a:xfrm>
            <a:off x="6080760" y="1463040"/>
            <a:ext cx="260604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3</a:t>
            </a:r>
          </a:p>
          <a:p>
            <a:pPr algn="ctr">
              <a:spcBef>
                <a:spcPts val="0"/>
              </a:spcBef>
              <a:spcAft>
                <a:spcPts val="0"/>
              </a:spcAft>
            </a:pPr>
            <a:r>
              <a:rPr sz="1300" b="0">
                <a:solidFill>
                  <a:srgbClr val="FFFFFF"/>
                </a:solidFill>
                <a:latin typeface="Calibri"/>
              </a:rPr>
              <a:t>Contributeurs sur main</a:t>
            </a:r>
          </a:p>
        </p:txBody>
      </p:sp>
      <p:sp>
        <p:nvSpPr>
          <p:cNvPr id="12" name="Rectangle 11"/>
          <p:cNvSpPr/>
          <p:nvPr/>
        </p:nvSpPr>
        <p:spPr>
          <a:xfrm>
            <a:off x="8915400" y="1463040"/>
            <a:ext cx="2606040" cy="137160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7</a:t>
            </a:r>
          </a:p>
          <a:p>
            <a:pPr algn="ctr">
              <a:spcBef>
                <a:spcPts val="0"/>
              </a:spcBef>
              <a:spcAft>
                <a:spcPts val="0"/>
              </a:spcAft>
            </a:pPr>
            <a:r>
              <a:rPr sz="1300" b="0">
                <a:solidFill>
                  <a:srgbClr val="FFFFFF"/>
                </a:solidFill>
                <a:latin typeface="Calibri"/>
              </a:rPr>
              <a:t>Épiques</a:t>
            </a:r>
          </a:p>
        </p:txBody>
      </p:sp>
      <p:sp>
        <p:nvSpPr>
          <p:cNvPr id="14" name="Rectangle 13"/>
          <p:cNvSpPr/>
          <p:nvPr/>
        </p:nvSpPr>
        <p:spPr>
          <a:xfrm>
            <a:off x="411480" y="3063240"/>
            <a:ext cx="5577840" cy="30175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063240"/>
            <a:ext cx="76200" cy="30175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72968"/>
            <a:ext cx="5212080" cy="28346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Notre flux</a:t>
            </a:r>
          </a:p>
          <a:p>
            <a:pPr algn="l">
              <a:spcBef>
                <a:spcPts val="0"/>
              </a:spcBef>
              <a:spcAft>
                <a:spcPts val="300"/>
              </a:spcAft>
            </a:pPr>
            <a:r>
              <a:rPr sz="1300" b="0">
                <a:solidFill>
                  <a:srgbClr val="404040"/>
                </a:solidFill>
                <a:latin typeface="Calibri"/>
              </a:rPr>
              <a:t>•  Un ticket Jira → une branche → une pull request → une revue</a:t>
            </a:r>
          </a:p>
          <a:p>
            <a:pPr algn="l">
              <a:spcBef>
                <a:spcPts val="0"/>
              </a:spcBef>
              <a:spcAft>
                <a:spcPts val="300"/>
              </a:spcAft>
            </a:pPr>
            <a:r>
              <a:rPr sz="1300" b="0">
                <a:solidFill>
                  <a:srgbClr val="404040"/>
                </a:solidFill>
                <a:latin typeface="Calibri"/>
              </a:rPr>
              <a:t>•  La CI GitHub Actions bloque la fusion si le build ou les</a:t>
            </a:r>
          </a:p>
          <a:p>
            <a:pPr algn="l">
              <a:spcBef>
                <a:spcPts val="0"/>
              </a:spcBef>
              <a:spcAft>
                <a:spcPts val="300"/>
              </a:spcAft>
            </a:pPr>
            <a:r>
              <a:rPr sz="1300" b="0">
                <a:solidFill>
                  <a:srgbClr val="404040"/>
                </a:solidFill>
                <a:latin typeface="Calibri"/>
              </a:rPr>
              <a:t>•     tests échouent</a:t>
            </a:r>
          </a:p>
          <a:p>
            <a:pPr algn="l">
              <a:spcBef>
                <a:spcPts val="0"/>
              </a:spcBef>
              <a:spcAft>
                <a:spcPts val="300"/>
              </a:spcAft>
            </a:pPr>
            <a:r>
              <a:rPr sz="1300" b="0">
                <a:solidFill>
                  <a:srgbClr val="404040"/>
                </a:solidFill>
                <a:latin typeface="Calibri"/>
              </a:rPr>
              <a:t>•  Chaque ticket livré porte en commentaire le lien de sa PR</a:t>
            </a:r>
          </a:p>
          <a:p>
            <a:pPr algn="l">
              <a:spcBef>
                <a:spcPts val="0"/>
              </a:spcBef>
              <a:spcAft>
                <a:spcPts val="300"/>
              </a:spcAft>
            </a:pPr>
            <a:r>
              <a:rPr sz="1300" b="0">
                <a:solidFill>
                  <a:srgbClr val="404040"/>
                </a:solidFill>
                <a:latin typeface="Calibri"/>
              </a:rPr>
              <a:t>•  « Terminé » veut dire fusionné dans main — pas « codé »</a:t>
            </a:r>
          </a:p>
        </p:txBody>
      </p:sp>
      <p:sp>
        <p:nvSpPr>
          <p:cNvPr id="17" name="Rectangle 16"/>
          <p:cNvSpPr/>
          <p:nvPr/>
        </p:nvSpPr>
        <p:spPr>
          <a:xfrm>
            <a:off x="6172200" y="3063240"/>
            <a:ext cx="5577840" cy="30175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063240"/>
            <a:ext cx="76200" cy="301752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172968"/>
            <a:ext cx="5212080" cy="283464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Notre plus grande difficulté : la dérive d'intégration</a:t>
            </a:r>
          </a:p>
          <a:p>
            <a:pPr algn="l">
              <a:spcBef>
                <a:spcPts val="0"/>
              </a:spcBef>
              <a:spcAft>
                <a:spcPts val="300"/>
              </a:spcAft>
            </a:pPr>
            <a:r>
              <a:rPr sz="1300" b="0">
                <a:solidFill>
                  <a:srgbClr val="404040"/>
                </a:solidFill>
                <a:latin typeface="Calibri"/>
              </a:rPr>
              <a:t>•  Des branches sont restées non fusionnées pendant des</a:t>
            </a:r>
          </a:p>
          <a:p>
            <a:pPr algn="l">
              <a:spcBef>
                <a:spcPts val="0"/>
              </a:spcBef>
              <a:spcAft>
                <a:spcPts val="300"/>
              </a:spcAft>
            </a:pPr>
            <a:r>
              <a:rPr sz="1300" b="0">
                <a:solidFill>
                  <a:srgbClr val="404040"/>
                </a:solidFill>
                <a:latin typeface="Calibri"/>
              </a:rPr>
              <a:t>•     semaines, jusqu'à 56 commits de retard</a:t>
            </a:r>
          </a:p>
          <a:p>
            <a:pPr algn="l">
              <a:spcBef>
                <a:spcPts val="0"/>
              </a:spcBef>
              <a:spcAft>
                <a:spcPts val="300"/>
              </a:spcAft>
            </a:pPr>
            <a:r>
              <a:rPr sz="1300" b="0">
                <a:solidFill>
                  <a:srgbClr val="404040"/>
                </a:solidFill>
                <a:latin typeface="Calibri"/>
              </a:rPr>
              <a:t>•  Cinq tickets étaient marqués « Terminé » sans exister</a:t>
            </a:r>
          </a:p>
          <a:p>
            <a:pPr algn="l">
              <a:spcBef>
                <a:spcPts val="0"/>
              </a:spcBef>
              <a:spcAft>
                <a:spcPts val="300"/>
              </a:spcAft>
            </a:pPr>
            <a:r>
              <a:rPr sz="1300" b="0">
                <a:solidFill>
                  <a:srgbClr val="404040"/>
                </a:solidFill>
                <a:latin typeface="Calibri"/>
              </a:rPr>
              <a:t>•     dans le produit</a:t>
            </a:r>
          </a:p>
          <a:p>
            <a:pPr algn="l">
              <a:spcBef>
                <a:spcPts val="0"/>
              </a:spcBef>
              <a:spcAft>
                <a:spcPts val="300"/>
              </a:spcAft>
            </a:pPr>
            <a:r>
              <a:rPr sz="1300" b="0">
                <a:solidFill>
                  <a:srgbClr val="404040"/>
                </a:solidFill>
                <a:latin typeface="Calibri"/>
              </a:rPr>
              <a:t>•  Correction : trois branches réintégrées en trois PR revues,</a:t>
            </a:r>
          </a:p>
          <a:p>
            <a:pPr algn="l">
              <a:spcBef>
                <a:spcPts val="0"/>
              </a:spcBef>
              <a:spcAft>
                <a:spcPts val="300"/>
              </a:spcAft>
            </a:pPr>
            <a:r>
              <a:rPr sz="1300" b="0">
                <a:solidFill>
                  <a:srgbClr val="404040"/>
                </a:solidFill>
                <a:latin typeface="Calibri"/>
              </a:rPr>
              <a:t>•     les autres repassées « À faire » avec justification</a:t>
            </a:r>
          </a:p>
          <a:p>
            <a:pPr algn="l">
              <a:spcBef>
                <a:spcPts val="0"/>
              </a:spcBef>
              <a:spcAft>
                <a:spcPts val="300"/>
              </a:spcAft>
            </a:pPr>
            <a:r>
              <a:rPr sz="1300" b="0">
                <a:solidFill>
                  <a:srgbClr val="404040"/>
                </a:solidFill>
                <a:latin typeface="Calibri"/>
              </a:rPr>
              <a:t>•  La leçon : un ticket n'est terminé qu'une fois fusionné</a:t>
            </a:r>
          </a:p>
        </p:txBody>
      </p:sp>
      <p:sp>
        <p:nvSpPr>
          <p:cNvPr id="20" name="TextBox 19"/>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 Saib</a:t>
            </a:r>
          </a:p>
        </p:txBody>
      </p:sp>
      <p:sp>
        <p:nvSpPr>
          <p:cNvPr id="21" name="TextBox 20"/>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5</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Architecture générale</a:t>
            </a:r>
          </a:p>
          <a:p>
            <a:pPr algn="l">
              <a:spcBef>
                <a:spcPts val="0"/>
              </a:spcBef>
              <a:spcAft>
                <a:spcPts val="0"/>
              </a:spcAft>
            </a:pPr>
            <a:r>
              <a:rPr sz="1400" b="0">
                <a:solidFill>
                  <a:srgbClr val="CFE3FF"/>
                </a:solidFill>
                <a:latin typeface="Calibri"/>
              </a:rPr>
              <a:t>Un monorepo, deux applications, une base — et le tout en ligne</a:t>
            </a:r>
          </a:p>
        </p:txBody>
      </p:sp>
      <p:sp>
        <p:nvSpPr>
          <p:cNvPr id="6" name="Rectangle 5"/>
          <p:cNvSpPr/>
          <p:nvPr/>
        </p:nvSpPr>
        <p:spPr>
          <a:xfrm>
            <a:off x="411480" y="1508760"/>
            <a:ext cx="3566160" cy="28346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83464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200400" cy="265176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Frontend — Angular 22</a:t>
            </a:r>
          </a:p>
          <a:p>
            <a:pPr algn="l">
              <a:spcBef>
                <a:spcPts val="0"/>
              </a:spcBef>
              <a:spcAft>
                <a:spcPts val="300"/>
              </a:spcAft>
            </a:pPr>
            <a:r>
              <a:rPr sz="1300" b="0">
                <a:solidFill>
                  <a:srgbClr val="404040"/>
                </a:solidFill>
                <a:latin typeface="Calibri"/>
              </a:rPr>
              <a:t>•  Composants standalone, Signals</a:t>
            </a:r>
          </a:p>
          <a:p>
            <a:pPr algn="l">
              <a:spcBef>
                <a:spcPts val="0"/>
              </a:spcBef>
              <a:spcAft>
                <a:spcPts val="300"/>
              </a:spcAft>
            </a:pPr>
            <a:r>
              <a:rPr sz="1300" b="0">
                <a:solidFill>
                  <a:srgbClr val="404040"/>
                </a:solidFill>
                <a:latin typeface="Calibri"/>
              </a:rPr>
              <a:t>•  Angular Material 3 + Tailwind 4</a:t>
            </a:r>
          </a:p>
          <a:p>
            <a:pPr algn="l">
              <a:spcBef>
                <a:spcPts val="0"/>
              </a:spcBef>
              <a:spcAft>
                <a:spcPts val="300"/>
              </a:spcAft>
            </a:pPr>
            <a:r>
              <a:rPr sz="1300" b="0">
                <a:solidFill>
                  <a:srgbClr val="404040"/>
                </a:solidFill>
                <a:latin typeface="Calibri"/>
              </a:rPr>
              <a:t>•  Design system : une seule source</a:t>
            </a:r>
          </a:p>
          <a:p>
            <a:pPr algn="l">
              <a:spcBef>
                <a:spcPts val="0"/>
              </a:spcBef>
              <a:spcAft>
                <a:spcPts val="300"/>
              </a:spcAft>
            </a:pPr>
            <a:r>
              <a:rPr sz="1300" b="0">
                <a:solidFill>
                  <a:srgbClr val="404040"/>
                </a:solidFill>
                <a:latin typeface="Calibri"/>
              </a:rPr>
              <a:t>•     de tokens, mode sombre inclus</a:t>
            </a:r>
          </a:p>
          <a:p>
            <a:pPr algn="l">
              <a:spcBef>
                <a:spcPts val="0"/>
              </a:spcBef>
              <a:spcAft>
                <a:spcPts val="300"/>
              </a:spcAft>
            </a:pPr>
            <a:r>
              <a:rPr sz="1300" b="0">
                <a:solidFill>
                  <a:srgbClr val="404040"/>
                </a:solidFill>
                <a:latin typeface="Calibri"/>
              </a:rPr>
              <a:t>•  Garde de rôle sur chaque route</a:t>
            </a:r>
          </a:p>
        </p:txBody>
      </p:sp>
      <p:sp>
        <p:nvSpPr>
          <p:cNvPr id="9" name="Rectangle 8"/>
          <p:cNvSpPr/>
          <p:nvPr/>
        </p:nvSpPr>
        <p:spPr>
          <a:xfrm>
            <a:off x="4160520" y="1508760"/>
            <a:ext cx="3566160" cy="28346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60520" y="1508760"/>
            <a:ext cx="76200" cy="28346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618488"/>
            <a:ext cx="3200400" cy="265176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Backend — NestJS 11</a:t>
            </a:r>
          </a:p>
          <a:p>
            <a:pPr algn="l">
              <a:spcBef>
                <a:spcPts val="0"/>
              </a:spcBef>
              <a:spcAft>
                <a:spcPts val="300"/>
              </a:spcAft>
            </a:pPr>
            <a:r>
              <a:rPr sz="1300" b="0">
                <a:solidFill>
                  <a:srgbClr val="404040"/>
                </a:solidFill>
                <a:latin typeface="Calibri"/>
              </a:rPr>
              <a:t>•  API REST préfixée api/v1</a:t>
            </a:r>
          </a:p>
          <a:p>
            <a:pPr algn="l">
              <a:spcBef>
                <a:spcPts val="0"/>
              </a:spcBef>
              <a:spcAft>
                <a:spcPts val="300"/>
              </a:spcAft>
            </a:pPr>
            <a:r>
              <a:rPr sz="1300" b="0">
                <a:solidFill>
                  <a:srgbClr val="404040"/>
                </a:solidFill>
                <a:latin typeface="Calibri"/>
              </a:rPr>
              <a:t>•  TypeORM, validation par DTO</a:t>
            </a:r>
          </a:p>
          <a:p>
            <a:pPr algn="l">
              <a:spcBef>
                <a:spcPts val="0"/>
              </a:spcBef>
              <a:spcAft>
                <a:spcPts val="300"/>
              </a:spcAft>
            </a:pPr>
            <a:r>
              <a:rPr sz="1300" b="0">
                <a:solidFill>
                  <a:srgbClr val="404040"/>
                </a:solidFill>
                <a:latin typeface="Calibri"/>
              </a:rPr>
              <a:t>•  JWT + gardes RBAC à 4 rôles</a:t>
            </a:r>
          </a:p>
          <a:p>
            <a:pPr algn="l">
              <a:spcBef>
                <a:spcPts val="0"/>
              </a:spcBef>
              <a:spcAft>
                <a:spcPts val="300"/>
              </a:spcAft>
            </a:pPr>
            <a:r>
              <a:rPr sz="1300" b="0">
                <a:solidFill>
                  <a:srgbClr val="404040"/>
                </a:solidFill>
                <a:latin typeface="Calibri"/>
              </a:rPr>
              <a:t>•  Chaque requête bornée à la</a:t>
            </a:r>
          </a:p>
          <a:p>
            <a:pPr algn="l">
              <a:spcBef>
                <a:spcPts val="0"/>
              </a:spcBef>
              <a:spcAft>
                <a:spcPts val="300"/>
              </a:spcAft>
            </a:pPr>
            <a:r>
              <a:rPr sz="1300" b="0">
                <a:solidFill>
                  <a:srgbClr val="404040"/>
                </a:solidFill>
                <a:latin typeface="Calibri"/>
              </a:rPr>
              <a:t>•     clinique de l'appelant</a:t>
            </a:r>
          </a:p>
        </p:txBody>
      </p:sp>
      <p:sp>
        <p:nvSpPr>
          <p:cNvPr id="12" name="Rectangle 11"/>
          <p:cNvSpPr/>
          <p:nvPr/>
        </p:nvSpPr>
        <p:spPr>
          <a:xfrm>
            <a:off x="7909560" y="1508760"/>
            <a:ext cx="3840480" cy="28346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09560" y="1508760"/>
            <a:ext cx="76200" cy="28346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618488"/>
            <a:ext cx="3474720" cy="26517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Données — PostgreSQL</a:t>
            </a:r>
          </a:p>
          <a:p>
            <a:pPr algn="l">
              <a:spcBef>
                <a:spcPts val="0"/>
              </a:spcBef>
              <a:spcAft>
                <a:spcPts val="300"/>
              </a:spcAft>
            </a:pPr>
            <a:r>
              <a:rPr sz="1300" b="0">
                <a:solidFill>
                  <a:srgbClr val="404040"/>
                </a:solidFill>
                <a:latin typeface="Calibri"/>
              </a:rPr>
              <a:t>•  Schéma piloté uniquement par</a:t>
            </a:r>
          </a:p>
          <a:p>
            <a:pPr algn="l">
              <a:spcBef>
                <a:spcPts val="0"/>
              </a:spcBef>
              <a:spcAft>
                <a:spcPts val="300"/>
              </a:spcAft>
            </a:pPr>
            <a:r>
              <a:rPr sz="1300" b="0">
                <a:solidFill>
                  <a:srgbClr val="404040"/>
                </a:solidFill>
                <a:latin typeface="Calibri"/>
              </a:rPr>
              <a:t>•     migrations versionnées</a:t>
            </a:r>
          </a:p>
          <a:p>
            <a:pPr algn="l">
              <a:spcBef>
                <a:spcPts val="0"/>
              </a:spcBef>
              <a:spcAft>
                <a:spcPts val="300"/>
              </a:spcAft>
            </a:pPr>
            <a:r>
              <a:rPr sz="1300" b="0">
                <a:solidFill>
                  <a:srgbClr val="404040"/>
                </a:solidFill>
                <a:latin typeface="Calibri"/>
              </a:rPr>
              <a:t>•  Aucune synchronisation</a:t>
            </a:r>
          </a:p>
          <a:p>
            <a:pPr algn="l">
              <a:spcBef>
                <a:spcPts val="0"/>
              </a:spcBef>
              <a:spcAft>
                <a:spcPts val="300"/>
              </a:spcAft>
            </a:pPr>
            <a:r>
              <a:rPr sz="1300" b="0">
                <a:solidFill>
                  <a:srgbClr val="404040"/>
                </a:solidFill>
                <a:latin typeface="Calibri"/>
              </a:rPr>
              <a:t>•     automatique du schéma</a:t>
            </a:r>
          </a:p>
          <a:p>
            <a:pPr algn="l">
              <a:spcBef>
                <a:spcPts val="0"/>
              </a:spcBef>
              <a:spcAft>
                <a:spcPts val="300"/>
              </a:spcAft>
            </a:pPr>
            <a:r>
              <a:rPr sz="1300" b="0">
                <a:solidFill>
                  <a:srgbClr val="404040"/>
                </a:solidFill>
                <a:latin typeface="Calibri"/>
              </a:rPr>
              <a:t>•  Index unique partiel qui interdit</a:t>
            </a:r>
          </a:p>
          <a:p>
            <a:pPr algn="l">
              <a:spcBef>
                <a:spcPts val="0"/>
              </a:spcBef>
              <a:spcAft>
                <a:spcPts val="300"/>
              </a:spcAft>
            </a:pPr>
            <a:r>
              <a:rPr sz="1300" b="0">
                <a:solidFill>
                  <a:srgbClr val="404040"/>
                </a:solidFill>
                <a:latin typeface="Calibri"/>
              </a:rPr>
              <a:t>•     la double réservation</a:t>
            </a:r>
          </a:p>
        </p:txBody>
      </p:sp>
      <p:sp>
        <p:nvSpPr>
          <p:cNvPr id="15" name="Rectangle 14"/>
          <p:cNvSpPr/>
          <p:nvPr/>
        </p:nvSpPr>
        <p:spPr>
          <a:xfrm>
            <a:off x="411480" y="4572000"/>
            <a:ext cx="11338560" cy="1508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4572000"/>
            <a:ext cx="76200" cy="15087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681728"/>
            <a:ext cx="10972800" cy="13258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Comment les parties se parlent — et pourquoi c'est sûr</a:t>
            </a:r>
          </a:p>
          <a:p>
            <a:pPr algn="l">
              <a:spcBef>
                <a:spcPts val="0"/>
              </a:spcBef>
              <a:spcAft>
                <a:spcPts val="300"/>
              </a:spcAft>
            </a:pPr>
            <a:r>
              <a:rPr sz="1300" b="0">
                <a:solidFill>
                  <a:srgbClr val="404040"/>
                </a:solidFill>
                <a:latin typeface="Calibri"/>
              </a:rPr>
              <a:t>•  Le navigateur ne parle qu'au frontend. Le frontend relaie les appels /api vers le backend.</a:t>
            </a:r>
          </a:p>
          <a:p>
            <a:pPr algn="l">
              <a:spcBef>
                <a:spcPts val="0"/>
              </a:spcBef>
              <a:spcAft>
                <a:spcPts val="300"/>
              </a:spcAft>
            </a:pPr>
            <a:r>
              <a:rPr sz="1300" b="0">
                <a:solidFill>
                  <a:srgbClr val="404040"/>
                </a:solidFill>
                <a:latin typeface="Calibri"/>
              </a:rPr>
              <a:t>•  Le backend n'a AUCUNE adresse publique (ingress interne) : il n'est joignable que par le frontend — ce qui supprime tout besoin de CORS.</a:t>
            </a:r>
          </a:p>
          <a:p>
            <a:pPr algn="l">
              <a:spcBef>
                <a:spcPts val="0"/>
              </a:spcBef>
              <a:spcAft>
                <a:spcPts val="300"/>
              </a:spcAft>
            </a:pPr>
            <a:r>
              <a:rPr sz="1300" b="0">
                <a:solidFill>
                  <a:srgbClr val="404040"/>
                </a:solidFill>
                <a:latin typeface="Calibri"/>
              </a:rPr>
              <a:t>•  Hébergement : Azure Container Apps, base PostgreSQL infogérée chez Neon, images sur ghcr.io. Toute l'infrastructure est décrite en Bicep. Coût : environ 0 $/mois.</a:t>
            </a:r>
          </a:p>
        </p:txBody>
      </p:sp>
      <p:sp>
        <p:nvSpPr>
          <p:cNvPr id="18" name="TextBox 17"/>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 DIALLO</a:t>
            </a:r>
          </a:p>
        </p:txBody>
      </p:sp>
      <p:sp>
        <p:nvSpPr>
          <p:cNvPr id="19" name="TextBox 18"/>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6</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La double réservation</a:t>
            </a:r>
          </a:p>
          <a:p>
            <a:pPr algn="l">
              <a:spcBef>
                <a:spcPts val="0"/>
              </a:spcBef>
              <a:spcAft>
                <a:spcPts val="0"/>
              </a:spcAft>
            </a:pPr>
            <a:r>
              <a:rPr sz="1400" b="0">
                <a:solidFill>
                  <a:srgbClr val="CFE3FF"/>
                </a:solidFill>
                <a:latin typeface="Calibri"/>
              </a:rPr>
              <a:t>Le choix technique dont nous sommes le plus fiers</a:t>
            </a:r>
          </a:p>
        </p:txBody>
      </p:sp>
      <p:sp>
        <p:nvSpPr>
          <p:cNvPr id="6" name="Rectangle 5"/>
          <p:cNvSpPr/>
          <p:nvPr/>
        </p:nvSpPr>
        <p:spPr>
          <a:xfrm>
            <a:off x="411480" y="1508760"/>
            <a:ext cx="557784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286000"/>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2103120"/>
          </a:xfrm>
          <a:prstGeom prst="rect">
            <a:avLst/>
          </a:prstGeom>
          <a:noFill/>
        </p:spPr>
        <p:txBody>
          <a:bodyPr wrap="square">
            <a:spAutoFit/>
          </a:bodyPr>
          <a:lstStyle/>
          <a:p>
            <a:pPr algn="l">
              <a:spcBef>
                <a:spcPts val="0"/>
              </a:spcBef>
              <a:spcAft>
                <a:spcPts val="400"/>
              </a:spcAft>
            </a:pPr>
            <a:r>
              <a:rPr sz="1600" b="1">
                <a:solidFill>
                  <a:srgbClr val="A83232"/>
                </a:solidFill>
                <a:latin typeface="Calibri"/>
              </a:rPr>
              <a:t>L'approche naïve — et pourquoi elle échoue</a:t>
            </a:r>
          </a:p>
          <a:p>
            <a:pPr algn="l">
              <a:spcBef>
                <a:spcPts val="0"/>
              </a:spcBef>
              <a:spcAft>
                <a:spcPts val="300"/>
              </a:spcAft>
            </a:pPr>
            <a:r>
              <a:rPr sz="1300" b="0">
                <a:solidFill>
                  <a:srgbClr val="404040"/>
                </a:solidFill>
                <a:latin typeface="Calibri"/>
              </a:rPr>
              <a:t>•  « Je vérifie si le créneau est libre, puis je réserve »</a:t>
            </a:r>
          </a:p>
          <a:p>
            <a:pPr algn="l">
              <a:spcBef>
                <a:spcPts val="0"/>
              </a:spcBef>
              <a:spcAft>
                <a:spcPts val="300"/>
              </a:spcAft>
            </a:pPr>
            <a:r>
              <a:rPr sz="1300" b="0">
                <a:solidFill>
                  <a:srgbClr val="404040"/>
                </a:solidFill>
                <a:latin typeface="Calibri"/>
              </a:rPr>
              <a:t>•  Entre la vérification et l'écriture, une autre requête peut</a:t>
            </a:r>
          </a:p>
          <a:p>
            <a:pPr algn="l">
              <a:spcBef>
                <a:spcPts val="0"/>
              </a:spcBef>
              <a:spcAft>
                <a:spcPts val="300"/>
              </a:spcAft>
            </a:pPr>
            <a:r>
              <a:rPr sz="1300" b="0">
                <a:solidFill>
                  <a:srgbClr val="404040"/>
                </a:solidFill>
                <a:latin typeface="Calibri"/>
              </a:rPr>
              <a:t>•     passer : les deux voient le créneau libre</a:t>
            </a:r>
          </a:p>
          <a:p>
            <a:pPr algn="l">
              <a:spcBef>
                <a:spcPts val="0"/>
              </a:spcBef>
              <a:spcAft>
                <a:spcPts val="300"/>
              </a:spcAft>
            </a:pPr>
            <a:r>
              <a:rPr sz="1300" b="0">
                <a:solidFill>
                  <a:srgbClr val="404040"/>
                </a:solidFill>
                <a:latin typeface="Calibri"/>
              </a:rPr>
              <a:t>•  Deux réceptionnistes qui cliquent en même temps créent</a:t>
            </a:r>
          </a:p>
          <a:p>
            <a:pPr algn="l">
              <a:spcBef>
                <a:spcPts val="0"/>
              </a:spcBef>
              <a:spcAft>
                <a:spcPts val="300"/>
              </a:spcAft>
            </a:pPr>
            <a:r>
              <a:rPr sz="1300" b="0">
                <a:solidFill>
                  <a:srgbClr val="404040"/>
                </a:solidFill>
                <a:latin typeface="Calibri"/>
              </a:rPr>
              <a:t>•     deux rendez-vous sur le même créneau</a:t>
            </a:r>
          </a:p>
        </p:txBody>
      </p:sp>
      <p:sp>
        <p:nvSpPr>
          <p:cNvPr id="9" name="Rectangle 8"/>
          <p:cNvSpPr/>
          <p:nvPr/>
        </p:nvSpPr>
        <p:spPr>
          <a:xfrm>
            <a:off x="6172200" y="1508760"/>
            <a:ext cx="557784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22860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210312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Notre solution — c'est la base qui tranche</a:t>
            </a:r>
          </a:p>
          <a:p>
            <a:pPr algn="l">
              <a:spcBef>
                <a:spcPts val="0"/>
              </a:spcBef>
              <a:spcAft>
                <a:spcPts val="300"/>
              </a:spcAft>
            </a:pPr>
            <a:r>
              <a:rPr sz="1300" b="0">
                <a:solidFill>
                  <a:srgbClr val="404040"/>
                </a:solidFill>
                <a:latin typeface="Calibri"/>
              </a:rPr>
              <a:t>•  Un index unique partiel en PostgreSQL sur le créneau,</a:t>
            </a:r>
          </a:p>
          <a:p>
            <a:pPr algn="l">
              <a:spcBef>
                <a:spcPts val="0"/>
              </a:spcBef>
              <a:spcAft>
                <a:spcPts val="300"/>
              </a:spcAft>
            </a:pPr>
            <a:r>
              <a:rPr sz="1300" b="0">
                <a:solidFill>
                  <a:srgbClr val="404040"/>
                </a:solidFill>
                <a:latin typeface="Calibri"/>
              </a:rPr>
              <a:t>•     qui ignore les rendez-vous annulés</a:t>
            </a:r>
          </a:p>
          <a:p>
            <a:pPr algn="l">
              <a:spcBef>
                <a:spcPts val="0"/>
              </a:spcBef>
              <a:spcAft>
                <a:spcPts val="300"/>
              </a:spcAft>
            </a:pPr>
            <a:r>
              <a:rPr sz="1300" b="0">
                <a:solidFill>
                  <a:srgbClr val="404040"/>
                </a:solidFill>
                <a:latin typeface="Calibri"/>
              </a:rPr>
              <a:t>•  La base refuse physiquement la seconde écriture</a:t>
            </a:r>
          </a:p>
          <a:p>
            <a:pPr algn="l">
              <a:spcBef>
                <a:spcPts val="0"/>
              </a:spcBef>
              <a:spcAft>
                <a:spcPts val="300"/>
              </a:spcAft>
            </a:pPr>
            <a:r>
              <a:rPr sz="1300" b="0">
                <a:solidFill>
                  <a:srgbClr val="404040"/>
                </a:solidFill>
                <a:latin typeface="Calibri"/>
              </a:rPr>
              <a:t>•  Ce n'est plus le code qui arbitre la course, c'est</a:t>
            </a:r>
          </a:p>
          <a:p>
            <a:pPr algn="l">
              <a:spcBef>
                <a:spcPts val="0"/>
              </a:spcBef>
              <a:spcAft>
                <a:spcPts val="300"/>
              </a:spcAft>
            </a:pPr>
            <a:r>
              <a:rPr sz="1300" b="0">
                <a:solidFill>
                  <a:srgbClr val="404040"/>
                </a:solidFill>
                <a:latin typeface="Calibri"/>
              </a:rPr>
              <a:t>•     PostgreSQL — et lui ne se trompe jamais</a:t>
            </a:r>
          </a:p>
        </p:txBody>
      </p:sp>
      <p:sp>
        <p:nvSpPr>
          <p:cNvPr id="12" name="Rectangle 11"/>
          <p:cNvSpPr/>
          <p:nvPr/>
        </p:nvSpPr>
        <p:spPr>
          <a:xfrm>
            <a:off x="411480" y="4023360"/>
            <a:ext cx="11338560" cy="20116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4023360"/>
            <a:ext cx="76200" cy="201168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33088"/>
            <a:ext cx="10972800" cy="182880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Ce que ce choix nous donne en plus</a:t>
            </a:r>
          </a:p>
          <a:p>
            <a:pPr algn="l">
              <a:spcBef>
                <a:spcPts val="0"/>
              </a:spcBef>
              <a:spcAft>
                <a:spcPts val="300"/>
              </a:spcAft>
            </a:pPr>
            <a:r>
              <a:rPr sz="1300" b="0">
                <a:solidFill>
                  <a:srgbClr val="404040"/>
                </a:solidFill>
                <a:latin typeface="Calibri"/>
              </a:rPr>
              <a:t>•  L'annulation est « hors index » : un rendez-vous annulé ne bloque plus le créneau, qui redevient donc réservable. Le deuxième irritant est réglé par le même mécanisme.</a:t>
            </a:r>
          </a:p>
          <a:p>
            <a:pPr algn="l">
              <a:spcBef>
                <a:spcPts val="0"/>
              </a:spcBef>
              <a:spcAft>
                <a:spcPts val="300"/>
              </a:spcAft>
            </a:pPr>
            <a:r>
              <a:rPr sz="1300" b="0">
                <a:solidFill>
                  <a:srgbClr val="404040"/>
                </a:solidFill>
                <a:latin typeface="Calibri"/>
              </a:rPr>
              <a:t>•  Vérifié sur l'application déployée : deux réservations lancées en même temps sur le même créneau — une passe (201), l'autre est refusée (409).</a:t>
            </a:r>
          </a:p>
          <a:p>
            <a:pPr algn="l">
              <a:spcBef>
                <a:spcPts val="0"/>
              </a:spcBef>
              <a:spcAft>
                <a:spcPts val="300"/>
              </a:spcAft>
            </a:pPr>
            <a:r>
              <a:rPr sz="1300" b="0">
                <a:solidFill>
                  <a:srgbClr val="404040"/>
                </a:solidFill>
                <a:latin typeface="Calibri"/>
              </a:rPr>
              <a:t>•  La garantie ne dépend pas de la qualité du code applicatif : même si une nouvelle fonctionnalité oubliait la vérification, la base tiendrait.</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 DIALLO</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7</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Démonstration</a:t>
            </a:r>
          </a:p>
          <a:p>
            <a:pPr algn="l">
              <a:spcBef>
                <a:spcPts val="0"/>
              </a:spcBef>
              <a:spcAft>
                <a:spcPts val="0"/>
              </a:spcAft>
            </a:pPr>
            <a:r>
              <a:rPr sz="1400" b="0">
                <a:solidFill>
                  <a:srgbClr val="CFE3FF"/>
                </a:solidFill>
                <a:latin typeface="Calibri"/>
              </a:rPr>
              <a:t>Une journée à la réception, du matin au soir</a:t>
            </a:r>
          </a:p>
        </p:txBody>
      </p:sp>
      <p:sp>
        <p:nvSpPr>
          <p:cNvPr id="6" name="Rectangle 5"/>
          <p:cNvSpPr/>
          <p:nvPr/>
        </p:nvSpPr>
        <p:spPr>
          <a:xfrm>
            <a:off x="411480" y="1508760"/>
            <a:ext cx="5577840" cy="42062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2062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402336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Le scénario</a:t>
            </a:r>
          </a:p>
          <a:p>
            <a:pPr algn="l">
              <a:spcBef>
                <a:spcPts val="0"/>
              </a:spcBef>
              <a:spcAft>
                <a:spcPts val="300"/>
              </a:spcAft>
            </a:pPr>
            <a:r>
              <a:rPr sz="1300" b="0">
                <a:solidFill>
                  <a:srgbClr val="404040"/>
                </a:solidFill>
                <a:latin typeface="Calibri"/>
              </a:rPr>
              <a:t>•  1.  Je me connecte comme la réception de la clinique</a:t>
            </a:r>
          </a:p>
          <a:p>
            <a:pPr algn="l">
              <a:spcBef>
                <a:spcPts val="0"/>
              </a:spcBef>
              <a:spcAft>
                <a:spcPts val="300"/>
              </a:spcAft>
            </a:pPr>
            <a:r>
              <a:rPr sz="1300" b="0">
                <a:solidFill>
                  <a:srgbClr val="404040"/>
                </a:solidFill>
                <a:latin typeface="Calibri"/>
              </a:rPr>
              <a:t>•  2.  Le tableau de bord m'affiche l'activité réelle</a:t>
            </a:r>
          </a:p>
          <a:p>
            <a:pPr algn="l">
              <a:spcBef>
                <a:spcPts val="0"/>
              </a:spcBef>
              <a:spcAft>
                <a:spcPts val="300"/>
              </a:spcAft>
            </a:pPr>
            <a:r>
              <a:rPr sz="1300" b="0">
                <a:solidFill>
                  <a:srgbClr val="404040"/>
                </a:solidFill>
                <a:latin typeface="Calibri"/>
              </a:rPr>
              <a:t>•  3.  Le Dr Bergeron publie une plage du matin —</a:t>
            </a:r>
          </a:p>
          <a:p>
            <a:pPr algn="l">
              <a:spcBef>
                <a:spcPts val="0"/>
              </a:spcBef>
              <a:spcAft>
                <a:spcPts val="300"/>
              </a:spcAft>
            </a:pPr>
            <a:r>
              <a:rPr sz="1300" b="0">
                <a:solidFill>
                  <a:srgbClr val="404040"/>
                </a:solidFill>
                <a:latin typeface="Calibri"/>
              </a:rPr>
              <a:t>•       les créneaux se génèrent automatiquement</a:t>
            </a:r>
          </a:p>
          <a:p>
            <a:pPr algn="l">
              <a:spcBef>
                <a:spcPts val="0"/>
              </a:spcBef>
              <a:spcAft>
                <a:spcPts val="300"/>
              </a:spcAft>
            </a:pPr>
            <a:r>
              <a:rPr sz="1300" b="0">
                <a:solidFill>
                  <a:srgbClr val="404040"/>
                </a:solidFill>
                <a:latin typeface="Calibri"/>
              </a:rPr>
              <a:t>•  4.  Un patient appelle : je le crée et je réserve</a:t>
            </a:r>
          </a:p>
          <a:p>
            <a:pPr algn="l">
              <a:spcBef>
                <a:spcPts val="0"/>
              </a:spcBef>
              <a:spcAft>
                <a:spcPts val="300"/>
              </a:spcAft>
            </a:pPr>
            <a:r>
              <a:rPr sz="1300" b="0">
                <a:solidFill>
                  <a:srgbClr val="404040"/>
                </a:solidFill>
                <a:latin typeface="Calibri"/>
              </a:rPr>
              <a:t>•  5.  Le flux du jour : arrivé → en consultation → terminé</a:t>
            </a:r>
          </a:p>
          <a:p>
            <a:pPr algn="l">
              <a:spcBef>
                <a:spcPts val="0"/>
              </a:spcBef>
              <a:spcAft>
                <a:spcPts val="300"/>
              </a:spcAft>
            </a:pPr>
            <a:r>
              <a:rPr sz="1300" b="0">
                <a:solidFill>
                  <a:srgbClr val="404040"/>
                </a:solidFill>
                <a:latin typeface="Calibri"/>
              </a:rPr>
              <a:t>•  6.  Un patient annule : motif obligatoire,</a:t>
            </a:r>
          </a:p>
          <a:p>
            <a:pPr algn="l">
              <a:spcBef>
                <a:spcPts val="0"/>
              </a:spcBef>
              <a:spcAft>
                <a:spcPts val="300"/>
              </a:spcAft>
            </a:pPr>
            <a:r>
              <a:rPr sz="1300" b="0">
                <a:solidFill>
                  <a:srgbClr val="404040"/>
                </a:solidFill>
                <a:latin typeface="Calibri"/>
              </a:rPr>
              <a:t>•       le créneau redevient libre</a:t>
            </a:r>
          </a:p>
          <a:p>
            <a:pPr algn="l">
              <a:spcBef>
                <a:spcPts val="0"/>
              </a:spcBef>
              <a:spcAft>
                <a:spcPts val="300"/>
              </a:spcAft>
            </a:pPr>
            <a:r>
              <a:rPr sz="1300" b="0">
                <a:solidFill>
                  <a:srgbClr val="404040"/>
                </a:solidFill>
                <a:latin typeface="Calibri"/>
              </a:rPr>
              <a:t>•  7.  J'exporte les rendez-vous du mois en CSV</a:t>
            </a:r>
          </a:p>
          <a:p>
            <a:pPr algn="l">
              <a:spcBef>
                <a:spcPts val="0"/>
              </a:spcBef>
              <a:spcAft>
                <a:spcPts val="300"/>
              </a:spcAft>
            </a:pPr>
            <a:r>
              <a:rPr sz="1300" b="0">
                <a:solidFill>
                  <a:srgbClr val="404040"/>
                </a:solidFill>
                <a:latin typeface="Calibri"/>
              </a:rPr>
              <a:t>•  8.  Je bascule sur le compte médecin :</a:t>
            </a:r>
          </a:p>
          <a:p>
            <a:pPr algn="l">
              <a:spcBef>
                <a:spcPts val="0"/>
              </a:spcBef>
              <a:spcAft>
                <a:spcPts val="300"/>
              </a:spcAft>
            </a:pPr>
            <a:r>
              <a:rPr sz="1300" b="0">
                <a:solidFill>
                  <a:srgbClr val="404040"/>
                </a:solidFill>
                <a:latin typeface="Calibri"/>
              </a:rPr>
              <a:t>•       le menu change, et sa cloche a sonné</a:t>
            </a:r>
          </a:p>
        </p:txBody>
      </p:sp>
      <p:sp>
        <p:nvSpPr>
          <p:cNvPr id="9" name="Rectangle 8"/>
          <p:cNvSpPr/>
          <p:nvPr/>
        </p:nvSpPr>
        <p:spPr>
          <a:xfrm>
            <a:off x="6172200" y="1508760"/>
            <a:ext cx="5577840" cy="42062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42062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40233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Ce que vous verrez au passage</a:t>
            </a:r>
          </a:p>
          <a:p>
            <a:pPr algn="l">
              <a:spcBef>
                <a:spcPts val="0"/>
              </a:spcBef>
              <a:spcAft>
                <a:spcPts val="300"/>
              </a:spcAft>
            </a:pPr>
            <a:r>
              <a:rPr sz="1300" b="0">
                <a:solidFill>
                  <a:srgbClr val="404040"/>
                </a:solidFill>
                <a:latin typeface="Calibri"/>
              </a:rPr>
              <a:t>•  Une application réellement en ligne, sur Azure —</a:t>
            </a:r>
          </a:p>
          <a:p>
            <a:pPr algn="l">
              <a:spcBef>
                <a:spcPts val="0"/>
              </a:spcBef>
              <a:spcAft>
                <a:spcPts val="300"/>
              </a:spcAft>
            </a:pPr>
            <a:r>
              <a:rPr sz="1300" b="0">
                <a:solidFill>
                  <a:srgbClr val="404040"/>
                </a:solidFill>
                <a:latin typeface="Calibri"/>
              </a:rPr>
              <a:t>•     pas un serveur local</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 contrôle d'accès visible à l'écran : le médecin</a:t>
            </a:r>
          </a:p>
          <a:p>
            <a:pPr algn="l">
              <a:spcBef>
                <a:spcPts val="0"/>
              </a:spcBef>
              <a:spcAft>
                <a:spcPts val="300"/>
              </a:spcAft>
            </a:pPr>
            <a:r>
              <a:rPr sz="1300" b="0">
                <a:solidFill>
                  <a:srgbClr val="404040"/>
                </a:solidFill>
                <a:latin typeface="Calibri"/>
              </a:rPr>
              <a:t>•     n'a tout simplement pas les mêmes entrées de menu</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Les notifications qui se déclenchent toutes seules</a:t>
            </a:r>
          </a:p>
          <a:p>
            <a:pPr algn="l">
              <a:spcBef>
                <a:spcPts val="0"/>
              </a:spcBef>
              <a:spcAft>
                <a:spcPts val="300"/>
              </a:spcAft>
            </a:pPr>
            <a:r>
              <a:rPr sz="1300" b="0">
                <a:solidFill>
                  <a:srgbClr val="404040"/>
                </a:solidFill>
                <a:latin typeface="Calibri"/>
              </a:rPr>
              <a:t>•     quand un rendez-vous change d'état</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 mode sombre complet, sans qu'aucun écran</a:t>
            </a:r>
          </a:p>
          <a:p>
            <a:pPr algn="l">
              <a:spcBef>
                <a:spcPts val="0"/>
              </a:spcBef>
              <a:spcAft>
                <a:spcPts val="300"/>
              </a:spcAft>
            </a:pPr>
            <a:r>
              <a:rPr sz="1300" b="0">
                <a:solidFill>
                  <a:srgbClr val="404040"/>
                </a:solidFill>
                <a:latin typeface="Calibri"/>
              </a:rPr>
              <a:t>•     n'ait été retouché à la main</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Des statistiques calculées sur de vraies données</a:t>
            </a:r>
          </a:p>
        </p:txBody>
      </p:sp>
      <p:sp>
        <p:nvSpPr>
          <p:cNvPr id="12" name="TextBox 11"/>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 Lahouiri</a:t>
            </a:r>
          </a:p>
        </p:txBody>
      </p:sp>
      <p:sp>
        <p:nvSpPr>
          <p:cNvPr id="13" name="TextBox 12"/>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30 s + 4 min de démo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288036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1097280"/>
          </a:xfrm>
          <a:prstGeom prst="rect">
            <a:avLst/>
          </a:prstGeom>
          <a:noFill/>
        </p:spPr>
        <p:txBody>
          <a:bodyPr wrap="square">
            <a:spAutoFit/>
          </a:bodyPr>
          <a:lstStyle/>
          <a:p>
            <a:pPr algn="ctr">
              <a:spcBef>
                <a:spcPts val="0"/>
              </a:spcBef>
              <a:spcAft>
                <a:spcPts val="0"/>
              </a:spcAft>
            </a:pPr>
            <a:r>
              <a:rPr sz="4400" b="1">
                <a:solidFill>
                  <a:srgbClr val="FFFFFF"/>
                </a:solidFill>
                <a:latin typeface="Calibri"/>
              </a:rPr>
              <a:t>Démonstration en direct</a:t>
            </a:r>
          </a:p>
        </p:txBody>
      </p:sp>
      <p:sp>
        <p:nvSpPr>
          <p:cNvPr id="4" name="TextBox 3"/>
          <p:cNvSpPr txBox="1"/>
          <p:nvPr/>
        </p:nvSpPr>
        <p:spPr>
          <a:xfrm>
            <a:off x="914400" y="3200400"/>
            <a:ext cx="10332720" cy="2194560"/>
          </a:xfrm>
          <a:prstGeom prst="rect">
            <a:avLst/>
          </a:prstGeom>
          <a:noFill/>
        </p:spPr>
        <p:txBody>
          <a:bodyPr wrap="square">
            <a:spAutoFit/>
          </a:bodyPr>
          <a:lstStyle/>
          <a:p>
            <a:pPr algn="ctr">
              <a:spcBef>
                <a:spcPts val="0"/>
              </a:spcBef>
              <a:spcAft>
                <a:spcPts val="1400"/>
              </a:spcAft>
            </a:pPr>
            <a:r>
              <a:rPr sz="1600" b="0">
                <a:solidFill>
                  <a:srgbClr val="CFE3FF"/>
                </a:solidFill>
                <a:latin typeface="Calibri"/>
              </a:rPr>
              <a:t>ca-mediplan-frontend.ashytree-9ad5012f.canadacentral.azurecontainerapps.io</a:t>
            </a:r>
          </a:p>
          <a:p>
            <a:pPr algn="ctr">
              <a:spcBef>
                <a:spcPts val="0"/>
              </a:spcBef>
              <a:spcAft>
                <a:spcPts val="800"/>
              </a:spcAft>
            </a:pPr>
            <a:r>
              <a:rPr sz="1500" b="0">
                <a:solidFill>
                  <a:srgbClr val="9FC8F5"/>
                </a:solidFill>
                <a:latin typeface="Calibri"/>
              </a:rPr>
              <a:t>Réception : admin.demo@mediplan.test    ·    Médecin : doctor.demo@mediplan.test</a:t>
            </a:r>
          </a:p>
          <a:p>
            <a:pPr algn="ctr">
              <a:spcBef>
                <a:spcPts val="0"/>
              </a:spcBef>
              <a:spcAft>
                <a:spcPts val="600"/>
              </a:spcAft>
            </a:pPr>
            <a:r>
              <a:rPr sz="1200" b="0">
                <a:solidFill>
                  <a:srgbClr val="9FC8F5"/>
                </a:solidFill>
                <a:latin typeface="Calibri"/>
              </a:rPr>
              <a:t>Comptes et données de démonstration uniquement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8</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Ce que ça change pour la clinique</a:t>
            </a:r>
          </a:p>
          <a:p>
            <a:pPr algn="l">
              <a:spcBef>
                <a:spcPts val="0"/>
              </a:spcBef>
              <a:spcAft>
                <a:spcPts val="0"/>
              </a:spcAft>
            </a:pPr>
            <a:r>
              <a:rPr sz="1400" b="0">
                <a:solidFill>
                  <a:srgbClr val="CFE3FF"/>
                </a:solidFill>
                <a:latin typeface="Calibri"/>
              </a:rPr>
              <a:t>Chaque irritant du départ, et la réponse apportée</a:t>
            </a:r>
          </a:p>
        </p:txBody>
      </p:sp>
      <p:sp>
        <p:nvSpPr>
          <p:cNvPr id="6" name="Rectangle 5"/>
          <p:cNvSpPr/>
          <p:nvPr/>
        </p:nvSpPr>
        <p:spPr>
          <a:xfrm>
            <a:off x="411480" y="1554480"/>
            <a:ext cx="539496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63500" cy="658368"/>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27632"/>
            <a:ext cx="5120640" cy="548640"/>
          </a:xfrm>
          <a:prstGeom prst="rect">
            <a:avLst/>
          </a:prstGeom>
          <a:noFill/>
        </p:spPr>
        <p:txBody>
          <a:bodyPr wrap="square" anchor="ctr">
            <a:spAutoFit/>
          </a:bodyPr>
          <a:lstStyle/>
          <a:p>
            <a:pPr algn="l">
              <a:spcBef>
                <a:spcPts val="0"/>
              </a:spcBef>
              <a:spcAft>
                <a:spcPts val="0"/>
              </a:spcAft>
            </a:pPr>
            <a:r>
              <a:rPr sz="1200" b="0">
                <a:solidFill>
                  <a:srgbClr val="6B6B6B"/>
                </a:solidFill>
                <a:latin typeface="Calibri"/>
              </a:rPr>
              <a:t>Deux personnes réservaient le même créneau</a:t>
            </a:r>
          </a:p>
        </p:txBody>
      </p:sp>
      <p:sp>
        <p:nvSpPr>
          <p:cNvPr id="9" name="Right Arrow 8"/>
          <p:cNvSpPr/>
          <p:nvPr/>
        </p:nvSpPr>
        <p:spPr>
          <a:xfrm>
            <a:off x="5925312" y="1755648"/>
            <a:ext cx="384048" cy="256032"/>
          </a:xfrm>
          <a:prstGeom prst="rightArrow">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46520" y="1554480"/>
            <a:ext cx="530352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554480"/>
            <a:ext cx="63500" cy="65836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6832" y="1627632"/>
            <a:ext cx="5029200" cy="548640"/>
          </a:xfrm>
          <a:prstGeom prst="rect">
            <a:avLst/>
          </a:prstGeom>
          <a:noFill/>
        </p:spPr>
        <p:txBody>
          <a:bodyPr wrap="square" anchor="ctr">
            <a:spAutoFit/>
          </a:bodyPr>
          <a:lstStyle/>
          <a:p>
            <a:pPr algn="l">
              <a:spcBef>
                <a:spcPts val="0"/>
              </a:spcBef>
              <a:spcAft>
                <a:spcPts val="0"/>
              </a:spcAft>
            </a:pPr>
            <a:r>
              <a:rPr sz="1200" b="1">
                <a:solidFill>
                  <a:srgbClr val="404040"/>
                </a:solidFill>
                <a:latin typeface="Calibri"/>
              </a:rPr>
              <a:t>La base refuse la seconde écriture — ce n'est plus une question de vigilance</a:t>
            </a:r>
          </a:p>
        </p:txBody>
      </p:sp>
      <p:sp>
        <p:nvSpPr>
          <p:cNvPr id="13" name="Rectangle 12"/>
          <p:cNvSpPr/>
          <p:nvPr/>
        </p:nvSpPr>
        <p:spPr>
          <a:xfrm>
            <a:off x="411480" y="2286000"/>
            <a:ext cx="539496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286000"/>
            <a:ext cx="63500" cy="658368"/>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359152"/>
            <a:ext cx="5120640" cy="548640"/>
          </a:xfrm>
          <a:prstGeom prst="rect">
            <a:avLst/>
          </a:prstGeom>
          <a:noFill/>
        </p:spPr>
        <p:txBody>
          <a:bodyPr wrap="square" anchor="ctr">
            <a:spAutoFit/>
          </a:bodyPr>
          <a:lstStyle/>
          <a:p>
            <a:pPr algn="l">
              <a:spcBef>
                <a:spcPts val="0"/>
              </a:spcBef>
              <a:spcAft>
                <a:spcPts val="0"/>
              </a:spcAft>
            </a:pPr>
            <a:r>
              <a:rPr sz="1200" b="0">
                <a:solidFill>
                  <a:srgbClr val="6B6B6B"/>
                </a:solidFill>
                <a:latin typeface="Calibri"/>
              </a:rPr>
              <a:t>Un créneau annulé était perdu</a:t>
            </a:r>
          </a:p>
        </p:txBody>
      </p:sp>
      <p:sp>
        <p:nvSpPr>
          <p:cNvPr id="16" name="Right Arrow 15"/>
          <p:cNvSpPr/>
          <p:nvPr/>
        </p:nvSpPr>
        <p:spPr>
          <a:xfrm>
            <a:off x="5925312" y="2487168"/>
            <a:ext cx="384048" cy="256032"/>
          </a:xfrm>
          <a:prstGeom prst="rightArrow">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286000"/>
            <a:ext cx="530352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2286000"/>
            <a:ext cx="63500" cy="65836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2359152"/>
            <a:ext cx="5029200" cy="548640"/>
          </a:xfrm>
          <a:prstGeom prst="rect">
            <a:avLst/>
          </a:prstGeom>
          <a:noFill/>
        </p:spPr>
        <p:txBody>
          <a:bodyPr wrap="square" anchor="ctr">
            <a:spAutoFit/>
          </a:bodyPr>
          <a:lstStyle/>
          <a:p>
            <a:pPr algn="l">
              <a:spcBef>
                <a:spcPts val="0"/>
              </a:spcBef>
              <a:spcAft>
                <a:spcPts val="0"/>
              </a:spcAft>
            </a:pPr>
            <a:r>
              <a:rPr sz="1200" b="1">
                <a:solidFill>
                  <a:srgbClr val="404040"/>
                </a:solidFill>
                <a:latin typeface="Calibri"/>
              </a:rPr>
              <a:t>L'annulation libère le créneau, qui redevient immédiatement réservable</a:t>
            </a:r>
          </a:p>
        </p:txBody>
      </p:sp>
      <p:sp>
        <p:nvSpPr>
          <p:cNvPr id="20" name="Rectangle 19"/>
          <p:cNvSpPr/>
          <p:nvPr/>
        </p:nvSpPr>
        <p:spPr>
          <a:xfrm>
            <a:off x="411480" y="3017520"/>
            <a:ext cx="539496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3017520"/>
            <a:ext cx="63500" cy="658368"/>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090672"/>
            <a:ext cx="5120640" cy="548640"/>
          </a:xfrm>
          <a:prstGeom prst="rect">
            <a:avLst/>
          </a:prstGeom>
          <a:noFill/>
        </p:spPr>
        <p:txBody>
          <a:bodyPr wrap="square" anchor="ctr">
            <a:spAutoFit/>
          </a:bodyPr>
          <a:lstStyle/>
          <a:p>
            <a:pPr algn="l">
              <a:spcBef>
                <a:spcPts val="0"/>
              </a:spcBef>
              <a:spcAft>
                <a:spcPts val="0"/>
              </a:spcAft>
            </a:pPr>
            <a:r>
              <a:rPr sz="1200" b="0">
                <a:solidFill>
                  <a:srgbClr val="6B6B6B"/>
                </a:solidFill>
                <a:latin typeface="Calibri"/>
              </a:rPr>
              <a:t>Personne n'avait de vue sur la journée en cours</a:t>
            </a:r>
          </a:p>
        </p:txBody>
      </p:sp>
      <p:sp>
        <p:nvSpPr>
          <p:cNvPr id="23" name="Right Arrow 22"/>
          <p:cNvSpPr/>
          <p:nvPr/>
        </p:nvSpPr>
        <p:spPr>
          <a:xfrm>
            <a:off x="5925312" y="3218688"/>
            <a:ext cx="384048" cy="256032"/>
          </a:xfrm>
          <a:prstGeom prst="rightArrow">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46520" y="3017520"/>
            <a:ext cx="530352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46520" y="3017520"/>
            <a:ext cx="63500" cy="658368"/>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3090672"/>
            <a:ext cx="5029200" cy="548640"/>
          </a:xfrm>
          <a:prstGeom prst="rect">
            <a:avLst/>
          </a:prstGeom>
          <a:noFill/>
        </p:spPr>
        <p:txBody>
          <a:bodyPr wrap="square" anchor="ctr">
            <a:spAutoFit/>
          </a:bodyPr>
          <a:lstStyle/>
          <a:p>
            <a:pPr algn="l">
              <a:spcBef>
                <a:spcPts val="0"/>
              </a:spcBef>
              <a:spcAft>
                <a:spcPts val="0"/>
              </a:spcAft>
            </a:pPr>
            <a:r>
              <a:rPr sz="1200" b="1">
                <a:solidFill>
                  <a:srgbClr val="404040"/>
                </a:solidFill>
                <a:latin typeface="Calibri"/>
              </a:rPr>
              <a:t>Le flux du jour est partagé : réception et médecin voient le même état</a:t>
            </a:r>
          </a:p>
        </p:txBody>
      </p:sp>
      <p:sp>
        <p:nvSpPr>
          <p:cNvPr id="27" name="Rectangle 26"/>
          <p:cNvSpPr/>
          <p:nvPr/>
        </p:nvSpPr>
        <p:spPr>
          <a:xfrm>
            <a:off x="411480" y="3749040"/>
            <a:ext cx="539496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3749040"/>
            <a:ext cx="63500" cy="658368"/>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22192"/>
            <a:ext cx="5120640" cy="548640"/>
          </a:xfrm>
          <a:prstGeom prst="rect">
            <a:avLst/>
          </a:prstGeom>
          <a:noFill/>
        </p:spPr>
        <p:txBody>
          <a:bodyPr wrap="square" anchor="ctr">
            <a:spAutoFit/>
          </a:bodyPr>
          <a:lstStyle/>
          <a:p>
            <a:pPr algn="l">
              <a:spcBef>
                <a:spcPts val="0"/>
              </a:spcBef>
              <a:spcAft>
                <a:spcPts val="0"/>
              </a:spcAft>
            </a:pPr>
            <a:r>
              <a:rPr sz="1200" b="0">
                <a:solidFill>
                  <a:srgbClr val="6B6B6B"/>
                </a:solidFill>
                <a:latin typeface="Calibri"/>
              </a:rPr>
              <a:t>Le patient devait se créer un compte pour exister</a:t>
            </a:r>
          </a:p>
        </p:txBody>
      </p:sp>
      <p:sp>
        <p:nvSpPr>
          <p:cNvPr id="30" name="Right Arrow 29"/>
          <p:cNvSpPr/>
          <p:nvPr/>
        </p:nvSpPr>
        <p:spPr>
          <a:xfrm>
            <a:off x="5925312" y="3950208"/>
            <a:ext cx="384048" cy="256032"/>
          </a:xfrm>
          <a:prstGeom prst="rightArrow">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6520" y="3749040"/>
            <a:ext cx="530352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46520" y="3749040"/>
            <a:ext cx="63500" cy="658368"/>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56832" y="3822192"/>
            <a:ext cx="5029200" cy="548640"/>
          </a:xfrm>
          <a:prstGeom prst="rect">
            <a:avLst/>
          </a:prstGeom>
          <a:noFill/>
        </p:spPr>
        <p:txBody>
          <a:bodyPr wrap="square" anchor="ctr">
            <a:spAutoFit/>
          </a:bodyPr>
          <a:lstStyle/>
          <a:p>
            <a:pPr algn="l">
              <a:spcBef>
                <a:spcPts val="0"/>
              </a:spcBef>
              <a:spcAft>
                <a:spcPts val="0"/>
              </a:spcAft>
            </a:pPr>
            <a:r>
              <a:rPr sz="1200" b="1">
                <a:solidFill>
                  <a:srgbClr val="404040"/>
                </a:solidFill>
                <a:latin typeface="Calibri"/>
              </a:rPr>
              <a:t>Le patient léger est créé au comptoir, sans mot de passe à retenir</a:t>
            </a:r>
          </a:p>
        </p:txBody>
      </p:sp>
      <p:sp>
        <p:nvSpPr>
          <p:cNvPr id="34" name="Rectangle 33"/>
          <p:cNvSpPr/>
          <p:nvPr/>
        </p:nvSpPr>
        <p:spPr>
          <a:xfrm>
            <a:off x="411480" y="4480560"/>
            <a:ext cx="539496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4480560"/>
            <a:ext cx="63500" cy="658368"/>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4553712"/>
            <a:ext cx="5120640" cy="548640"/>
          </a:xfrm>
          <a:prstGeom prst="rect">
            <a:avLst/>
          </a:prstGeom>
          <a:noFill/>
        </p:spPr>
        <p:txBody>
          <a:bodyPr wrap="square" anchor="ctr">
            <a:spAutoFit/>
          </a:bodyPr>
          <a:lstStyle/>
          <a:p>
            <a:pPr algn="l">
              <a:spcBef>
                <a:spcPts val="0"/>
              </a:spcBef>
              <a:spcAft>
                <a:spcPts val="0"/>
              </a:spcAft>
            </a:pPr>
            <a:r>
              <a:rPr sz="1200" b="0">
                <a:solidFill>
                  <a:srgbClr val="6B6B6B"/>
                </a:solidFill>
                <a:latin typeface="Calibri"/>
              </a:rPr>
              <a:t>Aucune donnée pour piloter l'activité</a:t>
            </a:r>
          </a:p>
        </p:txBody>
      </p:sp>
      <p:sp>
        <p:nvSpPr>
          <p:cNvPr id="37" name="Right Arrow 36"/>
          <p:cNvSpPr/>
          <p:nvPr/>
        </p:nvSpPr>
        <p:spPr>
          <a:xfrm>
            <a:off x="5925312" y="4681728"/>
            <a:ext cx="384048" cy="256032"/>
          </a:xfrm>
          <a:prstGeom prst="rightArrow">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46520" y="4480560"/>
            <a:ext cx="530352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46520" y="4480560"/>
            <a:ext cx="63500" cy="658368"/>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56832" y="4553712"/>
            <a:ext cx="5029200" cy="548640"/>
          </a:xfrm>
          <a:prstGeom prst="rect">
            <a:avLst/>
          </a:prstGeom>
          <a:noFill/>
        </p:spPr>
        <p:txBody>
          <a:bodyPr wrap="square" anchor="ctr">
            <a:spAutoFit/>
          </a:bodyPr>
          <a:lstStyle/>
          <a:p>
            <a:pPr algn="l">
              <a:spcBef>
                <a:spcPts val="0"/>
              </a:spcBef>
              <a:spcAft>
                <a:spcPts val="0"/>
              </a:spcAft>
            </a:pPr>
            <a:r>
              <a:rPr sz="1200" b="1">
                <a:solidFill>
                  <a:srgbClr val="404040"/>
                </a:solidFill>
                <a:latin typeface="Calibri"/>
              </a:rPr>
              <a:t>Taux d'occupation, taux d'absence et volumes par médecin, calculés en direct</a:t>
            </a:r>
          </a:p>
        </p:txBody>
      </p:sp>
      <p:sp>
        <p:nvSpPr>
          <p:cNvPr id="41" name="Rectangle 40"/>
          <p:cNvSpPr/>
          <p:nvPr/>
        </p:nvSpPr>
        <p:spPr>
          <a:xfrm>
            <a:off x="411480" y="5212080"/>
            <a:ext cx="539496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1480" y="5212080"/>
            <a:ext cx="63500" cy="658368"/>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 y="5285232"/>
            <a:ext cx="5120640" cy="548640"/>
          </a:xfrm>
          <a:prstGeom prst="rect">
            <a:avLst/>
          </a:prstGeom>
          <a:noFill/>
        </p:spPr>
        <p:txBody>
          <a:bodyPr wrap="square" anchor="ctr">
            <a:spAutoFit/>
          </a:bodyPr>
          <a:lstStyle/>
          <a:p>
            <a:pPr algn="l">
              <a:spcBef>
                <a:spcPts val="0"/>
              </a:spcBef>
              <a:spcAft>
                <a:spcPts val="0"/>
              </a:spcAft>
            </a:pPr>
            <a:r>
              <a:rPr sz="1200" b="0">
                <a:solidFill>
                  <a:srgbClr val="6B6B6B"/>
                </a:solidFill>
                <a:latin typeface="Calibri"/>
              </a:rPr>
              <a:t>Le médecin apprenait les changements de vive voix</a:t>
            </a:r>
          </a:p>
        </p:txBody>
      </p:sp>
      <p:sp>
        <p:nvSpPr>
          <p:cNvPr id="44" name="Right Arrow 43"/>
          <p:cNvSpPr/>
          <p:nvPr/>
        </p:nvSpPr>
        <p:spPr>
          <a:xfrm>
            <a:off x="5925312" y="5413248"/>
            <a:ext cx="384048" cy="256032"/>
          </a:xfrm>
          <a:prstGeom prst="rightArrow">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46520" y="5212080"/>
            <a:ext cx="5303520" cy="658368"/>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46520" y="5212080"/>
            <a:ext cx="63500" cy="658368"/>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56832" y="5285232"/>
            <a:ext cx="5029200" cy="548640"/>
          </a:xfrm>
          <a:prstGeom prst="rect">
            <a:avLst/>
          </a:prstGeom>
          <a:noFill/>
        </p:spPr>
        <p:txBody>
          <a:bodyPr wrap="square" anchor="ctr">
            <a:spAutoFit/>
          </a:bodyPr>
          <a:lstStyle/>
          <a:p>
            <a:pPr algn="l">
              <a:spcBef>
                <a:spcPts val="0"/>
              </a:spcBef>
              <a:spcAft>
                <a:spcPts val="0"/>
              </a:spcAft>
            </a:pPr>
            <a:r>
              <a:rPr sz="1200" b="1">
                <a:solidFill>
                  <a:srgbClr val="404040"/>
                </a:solidFill>
                <a:latin typeface="Calibri"/>
              </a:rPr>
              <a:t>Une notification interne est émise à chaque réservation, changement ou annulation</a:t>
            </a:r>
          </a:p>
        </p:txBody>
      </p:sp>
      <p:sp>
        <p:nvSpPr>
          <p:cNvPr id="48" name="TextBox 47"/>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 Lahouiri</a:t>
            </a:r>
          </a:p>
        </p:txBody>
      </p:sp>
      <p:sp>
        <p:nvSpPr>
          <p:cNvPr id="49" name="TextBox 48"/>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45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9</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Tests et validation</a:t>
            </a:r>
          </a:p>
          <a:p>
            <a:pPr algn="l">
              <a:spcBef>
                <a:spcPts val="0"/>
              </a:spcBef>
              <a:spcAft>
                <a:spcPts val="0"/>
              </a:spcAft>
            </a:pPr>
            <a:r>
              <a:rPr sz="1400" b="0">
                <a:solidFill>
                  <a:srgbClr val="CFE3FF"/>
                </a:solidFill>
                <a:latin typeface="Calibri"/>
              </a:rPr>
              <a:t>Ce que nous vérifions, et à quel moment</a:t>
            </a:r>
          </a:p>
        </p:txBody>
      </p:sp>
      <p:sp>
        <p:nvSpPr>
          <p:cNvPr id="6" name="Rectangle 5"/>
          <p:cNvSpPr/>
          <p:nvPr/>
        </p:nvSpPr>
        <p:spPr>
          <a:xfrm>
            <a:off x="411480" y="1463040"/>
            <a:ext cx="260604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186</a:t>
            </a:r>
          </a:p>
          <a:p>
            <a:pPr algn="ctr">
              <a:spcBef>
                <a:spcPts val="0"/>
              </a:spcBef>
              <a:spcAft>
                <a:spcPts val="0"/>
              </a:spcAft>
            </a:pPr>
            <a:r>
              <a:rPr sz="1300" b="0">
                <a:solidFill>
                  <a:srgbClr val="FFFFFF"/>
                </a:solidFill>
                <a:latin typeface="Calibri"/>
              </a:rPr>
              <a:t>Tests automatisés verts</a:t>
            </a:r>
          </a:p>
        </p:txBody>
      </p:sp>
      <p:sp>
        <p:nvSpPr>
          <p:cNvPr id="8" name="Rectangle 7"/>
          <p:cNvSpPr/>
          <p:nvPr/>
        </p:nvSpPr>
        <p:spPr>
          <a:xfrm>
            <a:off x="3246120" y="1463040"/>
            <a:ext cx="2606040" cy="13716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57</a:t>
            </a:r>
          </a:p>
          <a:p>
            <a:pPr algn="ctr">
              <a:spcBef>
                <a:spcPts val="0"/>
              </a:spcBef>
              <a:spcAft>
                <a:spcPts val="0"/>
              </a:spcAft>
            </a:pPr>
            <a:r>
              <a:rPr sz="1300" b="0">
                <a:solidFill>
                  <a:srgbClr val="FFFFFF"/>
                </a:solidFill>
                <a:latin typeface="Calibri"/>
              </a:rPr>
              <a:t>Tests backend</a:t>
            </a:r>
          </a:p>
        </p:txBody>
      </p:sp>
      <p:sp>
        <p:nvSpPr>
          <p:cNvPr id="10" name="Rectangle 9"/>
          <p:cNvSpPr/>
          <p:nvPr/>
        </p:nvSpPr>
        <p:spPr>
          <a:xfrm>
            <a:off x="6080760" y="1463040"/>
            <a:ext cx="260604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129</a:t>
            </a:r>
          </a:p>
          <a:p>
            <a:pPr algn="ctr">
              <a:spcBef>
                <a:spcPts val="0"/>
              </a:spcBef>
              <a:spcAft>
                <a:spcPts val="0"/>
              </a:spcAft>
            </a:pPr>
            <a:r>
              <a:rPr sz="1300" b="0">
                <a:solidFill>
                  <a:srgbClr val="FFFFFF"/>
                </a:solidFill>
                <a:latin typeface="Calibri"/>
              </a:rPr>
              <a:t>Tests frontend</a:t>
            </a:r>
          </a:p>
        </p:txBody>
      </p:sp>
      <p:sp>
        <p:nvSpPr>
          <p:cNvPr id="12" name="Rectangle 11"/>
          <p:cNvSpPr/>
          <p:nvPr/>
        </p:nvSpPr>
        <p:spPr>
          <a:xfrm>
            <a:off x="8915400" y="1463040"/>
            <a:ext cx="2606040" cy="137160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0</a:t>
            </a:r>
          </a:p>
          <a:p>
            <a:pPr algn="ctr">
              <a:spcBef>
                <a:spcPts val="0"/>
              </a:spcBef>
              <a:spcAft>
                <a:spcPts val="0"/>
              </a:spcAft>
            </a:pPr>
            <a:r>
              <a:rPr sz="1300" b="0">
                <a:solidFill>
                  <a:srgbClr val="FFFFFF"/>
                </a:solidFill>
                <a:latin typeface="Calibri"/>
              </a:rPr>
              <a:t>Fusion sans CI verte</a:t>
            </a:r>
          </a:p>
        </p:txBody>
      </p:sp>
      <p:sp>
        <p:nvSpPr>
          <p:cNvPr id="14" name="Rectangle 13"/>
          <p:cNvSpPr/>
          <p:nvPr/>
        </p:nvSpPr>
        <p:spPr>
          <a:xfrm>
            <a:off x="411480" y="3063240"/>
            <a:ext cx="5577840" cy="30175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063240"/>
            <a:ext cx="76200" cy="30175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72968"/>
            <a:ext cx="5212080" cy="28346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Notre stratégie de test</a:t>
            </a:r>
          </a:p>
          <a:p>
            <a:pPr algn="l">
              <a:spcBef>
                <a:spcPts val="0"/>
              </a:spcBef>
              <a:spcAft>
                <a:spcPts val="300"/>
              </a:spcAft>
            </a:pPr>
            <a:r>
              <a:rPr sz="1300" b="0">
                <a:solidFill>
                  <a:srgbClr val="404040"/>
                </a:solidFill>
                <a:latin typeface="Calibri"/>
              </a:rPr>
              <a:t>•  Backend : les règles métier et la sécurité — transitions de</a:t>
            </a:r>
          </a:p>
          <a:p>
            <a:pPr algn="l">
              <a:spcBef>
                <a:spcPts val="0"/>
              </a:spcBef>
              <a:spcAft>
                <a:spcPts val="300"/>
              </a:spcAft>
            </a:pPr>
            <a:r>
              <a:rPr sz="1300" b="0">
                <a:solidFill>
                  <a:srgbClr val="404040"/>
                </a:solidFill>
                <a:latin typeface="Calibri"/>
              </a:rPr>
              <a:t>•     statut, droits par rôle, périmètre de clinique</a:t>
            </a:r>
          </a:p>
          <a:p>
            <a:pPr algn="l">
              <a:spcBef>
                <a:spcPts val="0"/>
              </a:spcBef>
              <a:spcAft>
                <a:spcPts val="300"/>
              </a:spcAft>
            </a:pPr>
            <a:r>
              <a:rPr sz="1300" b="0">
                <a:solidFill>
                  <a:srgbClr val="404040"/>
                </a:solidFill>
                <a:latin typeface="Calibri"/>
              </a:rPr>
              <a:t>•  Le cas critique vérifié en concurrence sur l'application en</a:t>
            </a:r>
          </a:p>
          <a:p>
            <a:pPr algn="l">
              <a:spcBef>
                <a:spcPts val="0"/>
              </a:spcBef>
              <a:spcAft>
                <a:spcPts val="300"/>
              </a:spcAft>
            </a:pPr>
            <a:r>
              <a:rPr sz="1300" b="0">
                <a:solidFill>
                  <a:srgbClr val="404040"/>
                </a:solidFill>
                <a:latin typeface="Calibri"/>
              </a:rPr>
              <a:t>•     ligne : deux réservations simultanées, une seule passe.</a:t>
            </a:r>
          </a:p>
          <a:p>
            <a:pPr algn="l">
              <a:spcBef>
                <a:spcPts val="0"/>
              </a:spcBef>
              <a:spcAft>
                <a:spcPts val="300"/>
              </a:spcAft>
            </a:pPr>
            <a:r>
              <a:rPr sz="1300" b="0">
                <a:solidFill>
                  <a:srgbClr val="404040"/>
                </a:solidFill>
                <a:latin typeface="Calibri"/>
              </a:rPr>
              <a:t>•     Vérification manuelle et reproductible — nos tests backend</a:t>
            </a:r>
          </a:p>
          <a:p>
            <a:pPr algn="l">
              <a:spcBef>
                <a:spcPts val="0"/>
              </a:spcBef>
              <a:spcAft>
                <a:spcPts val="300"/>
              </a:spcAft>
            </a:pPr>
            <a:r>
              <a:rPr sz="1300" b="0">
                <a:solidFill>
                  <a:srgbClr val="404040"/>
                </a:solidFill>
                <a:latin typeface="Calibri"/>
              </a:rPr>
              <a:t>•     simulent la base, ils ne peuvent pas le prouver seuls</a:t>
            </a:r>
          </a:p>
          <a:p>
            <a:pPr algn="l">
              <a:spcBef>
                <a:spcPts val="0"/>
              </a:spcBef>
              <a:spcAft>
                <a:spcPts val="300"/>
              </a:spcAft>
            </a:pPr>
            <a:r>
              <a:rPr sz="1300" b="0">
                <a:solidFill>
                  <a:srgbClr val="404040"/>
                </a:solidFill>
                <a:latin typeface="Calibri"/>
              </a:rPr>
              <a:t>•  Frontend : le comportement des écrans et des formulaires,</a:t>
            </a:r>
          </a:p>
          <a:p>
            <a:pPr algn="l">
              <a:spcBef>
                <a:spcPts val="0"/>
              </a:spcBef>
              <a:spcAft>
                <a:spcPts val="300"/>
              </a:spcAft>
            </a:pPr>
            <a:r>
              <a:rPr sz="1300" b="0">
                <a:solidFill>
                  <a:srgbClr val="404040"/>
                </a:solidFill>
                <a:latin typeface="Calibri"/>
              </a:rPr>
              <a:t>•     pas leur apparence</a:t>
            </a:r>
          </a:p>
          <a:p>
            <a:pPr algn="l">
              <a:spcBef>
                <a:spcPts val="0"/>
              </a:spcBef>
              <a:spcAft>
                <a:spcPts val="300"/>
              </a:spcAft>
            </a:pPr>
            <a:r>
              <a:rPr sz="1300" b="0">
                <a:solidFill>
                  <a:srgbClr val="404040"/>
                </a:solidFill>
                <a:latin typeface="Calibri"/>
              </a:rPr>
              <a:t>•  Validation manuelle : le scénario complet rejoué sur</a:t>
            </a:r>
          </a:p>
          <a:p>
            <a:pPr algn="l">
              <a:spcBef>
                <a:spcPts val="0"/>
              </a:spcBef>
              <a:spcAft>
                <a:spcPts val="300"/>
              </a:spcAft>
            </a:pPr>
            <a:r>
              <a:rPr sz="1300" b="0">
                <a:solidFill>
                  <a:srgbClr val="404040"/>
                </a:solidFill>
                <a:latin typeface="Calibri"/>
              </a:rPr>
              <a:t>•     l'application en ligne avant chaque démonstration</a:t>
            </a:r>
          </a:p>
        </p:txBody>
      </p:sp>
      <p:sp>
        <p:nvSpPr>
          <p:cNvPr id="17" name="Rectangle 16"/>
          <p:cNvSpPr/>
          <p:nvPr/>
        </p:nvSpPr>
        <p:spPr>
          <a:xfrm>
            <a:off x="6172200" y="3063240"/>
            <a:ext cx="5577840" cy="30175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063240"/>
            <a:ext cx="76200" cy="30175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172968"/>
            <a:ext cx="5212080" cy="28346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Ce que la CI garantit à chaque push</a:t>
            </a:r>
          </a:p>
          <a:p>
            <a:pPr algn="l">
              <a:spcBef>
                <a:spcPts val="0"/>
              </a:spcBef>
              <a:spcAft>
                <a:spcPts val="300"/>
              </a:spcAft>
            </a:pPr>
            <a:r>
              <a:rPr sz="1300" b="0">
                <a:solidFill>
                  <a:srgbClr val="404040"/>
                </a:solidFill>
                <a:latin typeface="Calibri"/>
              </a:rPr>
              <a:t>•  Le projet compile — backend et frontend</a:t>
            </a:r>
          </a:p>
          <a:p>
            <a:pPr algn="l">
              <a:spcBef>
                <a:spcPts val="0"/>
              </a:spcBef>
              <a:spcAft>
                <a:spcPts val="300"/>
              </a:spcAft>
            </a:pPr>
            <a:r>
              <a:rPr sz="1300" b="0">
                <a:solidFill>
                  <a:srgbClr val="404040"/>
                </a:solidFill>
                <a:latin typeface="Calibri"/>
              </a:rPr>
              <a:t>•  Les 186 tests passent</a:t>
            </a:r>
          </a:p>
          <a:p>
            <a:pPr algn="l">
              <a:spcBef>
                <a:spcPts val="0"/>
              </a:spcBef>
              <a:spcAft>
                <a:spcPts val="300"/>
              </a:spcAft>
            </a:pPr>
            <a:r>
              <a:rPr sz="1300" b="0">
                <a:solidFill>
                  <a:srgbClr val="404040"/>
                </a:solidFill>
                <a:latin typeface="Calibri"/>
              </a:rPr>
              <a:t>•  Les templates d'infrastructure Bicep sont valides</a:t>
            </a:r>
          </a:p>
          <a:p>
            <a:pPr algn="l">
              <a:spcBef>
                <a:spcPts val="0"/>
              </a:spcBef>
              <a:spcAft>
                <a:spcPts val="300"/>
              </a:spcAft>
            </a:pPr>
            <a:r>
              <a:rPr sz="1300" b="0">
                <a:solidFill>
                  <a:srgbClr val="404040"/>
                </a:solidFill>
                <a:latin typeface="Calibri"/>
              </a:rPr>
              <a:t>•  Une pull request dont la CI est rouge n'est pas fusionnée</a:t>
            </a:r>
          </a:p>
          <a:p>
            <a:pPr algn="l">
              <a:spcBef>
                <a:spcPts val="0"/>
              </a:spcBef>
              <a:spcAft>
                <a:spcPts val="300"/>
              </a:spcAft>
            </a:pPr>
            <a:r>
              <a:rPr sz="1300" b="0">
                <a:solidFill>
                  <a:srgbClr val="404040"/>
                </a:solidFill>
                <a:latin typeface="Calibri"/>
              </a:rPr>
              <a:t>•  Le lint et le formatage sont rapportés sans bloquer :</a:t>
            </a:r>
          </a:p>
          <a:p>
            <a:pPr algn="l">
              <a:spcBef>
                <a:spcPts val="0"/>
              </a:spcBef>
              <a:spcAft>
                <a:spcPts val="300"/>
              </a:spcAft>
            </a:pPr>
            <a:r>
              <a:rPr sz="1300" b="0">
                <a:solidFill>
                  <a:srgbClr val="404040"/>
                </a:solidFill>
                <a:latin typeface="Calibri"/>
              </a:rPr>
              <a:t>•     un choix assumé, pour ne pas avoir une CI rouge en</a:t>
            </a:r>
          </a:p>
          <a:p>
            <a:pPr algn="l">
              <a:spcBef>
                <a:spcPts val="0"/>
              </a:spcBef>
              <a:spcAft>
                <a:spcPts val="300"/>
              </a:spcAft>
            </a:pPr>
            <a:r>
              <a:rPr sz="1300" b="0">
                <a:solidFill>
                  <a:srgbClr val="404040"/>
                </a:solidFill>
                <a:latin typeface="Calibri"/>
              </a:rPr>
              <a:t>•     permanence, donc ignorée</a:t>
            </a:r>
          </a:p>
        </p:txBody>
      </p:sp>
      <p:sp>
        <p:nvSpPr>
          <p:cNvPr id="20" name="TextBox 19"/>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 Saib</a:t>
            </a:r>
          </a:p>
        </p:txBody>
      </p:sp>
      <p:sp>
        <p:nvSpPr>
          <p:cNvPr id="21" name="TextBox 20"/>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10</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Bogues rencontrés et corrigés</a:t>
            </a:r>
          </a:p>
          <a:p>
            <a:pPr algn="l">
              <a:spcBef>
                <a:spcPts val="0"/>
              </a:spcBef>
              <a:spcAft>
                <a:spcPts val="0"/>
              </a:spcAft>
            </a:pPr>
            <a:r>
              <a:rPr sz="1400" b="0">
                <a:solidFill>
                  <a:srgbClr val="CFE3FF"/>
                </a:solidFill>
                <a:latin typeface="Calibri"/>
              </a:rPr>
              <a:t>Les quatre qui nous ont le plus appris</a:t>
            </a:r>
          </a:p>
        </p:txBody>
      </p:sp>
      <p:sp>
        <p:nvSpPr>
          <p:cNvPr id="6" name="Rectangle 5"/>
          <p:cNvSpPr/>
          <p:nvPr/>
        </p:nvSpPr>
        <p:spPr>
          <a:xfrm>
            <a:off x="411480" y="150876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194560"/>
          </a:xfrm>
          <a:prstGeom prst="rect">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2011680"/>
          </a:xfrm>
          <a:prstGeom prst="rect">
            <a:avLst/>
          </a:prstGeom>
          <a:noFill/>
        </p:spPr>
        <p:txBody>
          <a:bodyPr wrap="square">
            <a:spAutoFit/>
          </a:bodyPr>
          <a:lstStyle/>
          <a:p>
            <a:pPr algn="l">
              <a:spcBef>
                <a:spcPts val="0"/>
              </a:spcBef>
              <a:spcAft>
                <a:spcPts val="400"/>
              </a:spcAft>
            </a:pPr>
            <a:r>
              <a:rPr sz="1600" b="1">
                <a:solidFill>
                  <a:srgbClr val="A83232"/>
                </a:solidFill>
                <a:latin typeface="Calibri"/>
              </a:rPr>
              <a:t>Le 404 invisible en local</a:t>
            </a:r>
          </a:p>
          <a:p>
            <a:pPr algn="l">
              <a:spcBef>
                <a:spcPts val="0"/>
              </a:spcBef>
              <a:spcAft>
                <a:spcPts val="300"/>
              </a:spcAft>
            </a:pPr>
            <a:r>
              <a:rPr sz="1300" b="0">
                <a:solidFill>
                  <a:srgbClr val="404040"/>
                </a:solidFill>
                <a:latin typeface="Calibri"/>
              </a:rPr>
              <a:t>•  Symptôme : en ligne, tous les appels /api renvoyaient 404 —</a:t>
            </a:r>
          </a:p>
          <a:p>
            <a:pPr algn="l">
              <a:spcBef>
                <a:spcPts val="0"/>
              </a:spcBef>
              <a:spcAft>
                <a:spcPts val="300"/>
              </a:spcAft>
            </a:pPr>
            <a:r>
              <a:rPr sz="1300" b="0">
                <a:solidFill>
                  <a:srgbClr val="404040"/>
                </a:solidFill>
                <a:latin typeface="Calibri"/>
              </a:rPr>
              <a:t>•     alors que tout fonctionnait en local</a:t>
            </a:r>
          </a:p>
          <a:p>
            <a:pPr algn="l">
              <a:spcBef>
                <a:spcPts val="0"/>
              </a:spcBef>
              <a:spcAft>
                <a:spcPts val="300"/>
              </a:spcAft>
            </a:pPr>
            <a:r>
              <a:rPr sz="1300" b="0">
                <a:solidFill>
                  <a:srgbClr val="404040"/>
                </a:solidFill>
                <a:latin typeface="Calibri"/>
              </a:rPr>
              <a:t>•  Cause : le proxy transmettait le mauvais en-tête Host.</a:t>
            </a:r>
          </a:p>
          <a:p>
            <a:pPr algn="l">
              <a:spcBef>
                <a:spcPts val="0"/>
              </a:spcBef>
              <a:spcAft>
                <a:spcPts val="300"/>
              </a:spcAft>
            </a:pPr>
            <a:r>
              <a:rPr sz="1300" b="0">
                <a:solidFill>
                  <a:srgbClr val="404040"/>
                </a:solidFill>
                <a:latin typeface="Calibri"/>
              </a:rPr>
              <a:t>•     Azure route selon cet en-tête ; Docker en local, non</a:t>
            </a:r>
          </a:p>
          <a:p>
            <a:pPr algn="l">
              <a:spcBef>
                <a:spcPts val="0"/>
              </a:spcBef>
              <a:spcAft>
                <a:spcPts val="300"/>
              </a:spcAft>
            </a:pPr>
            <a:r>
              <a:rPr sz="1300" b="0">
                <a:solidFill>
                  <a:srgbClr val="404040"/>
                </a:solidFill>
                <a:latin typeface="Calibri"/>
              </a:rPr>
              <a:t>•  Correction : transmettre l'hôte de destination, pas celui</a:t>
            </a:r>
          </a:p>
          <a:p>
            <a:pPr algn="l">
              <a:spcBef>
                <a:spcPts val="0"/>
              </a:spcBef>
              <a:spcAft>
                <a:spcPts val="300"/>
              </a:spcAft>
            </a:pPr>
            <a:r>
              <a:rPr sz="1300" b="0">
                <a:solidFill>
                  <a:srgbClr val="404040"/>
                </a:solidFill>
                <a:latin typeface="Calibri"/>
              </a:rPr>
              <a:t>•     demandé par le navigateur</a:t>
            </a:r>
          </a:p>
        </p:txBody>
      </p:sp>
      <p:sp>
        <p:nvSpPr>
          <p:cNvPr id="9" name="Rectangle 8"/>
          <p:cNvSpPr/>
          <p:nvPr/>
        </p:nvSpPr>
        <p:spPr>
          <a:xfrm>
            <a:off x="6172200" y="150876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219456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201168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Le conteneur qui refusait de démarrer</a:t>
            </a:r>
          </a:p>
          <a:p>
            <a:pPr algn="l">
              <a:spcBef>
                <a:spcPts val="0"/>
              </a:spcBef>
              <a:spcAft>
                <a:spcPts val="300"/>
              </a:spcAft>
            </a:pPr>
            <a:r>
              <a:rPr sz="1300" b="0">
                <a:solidFill>
                  <a:srgbClr val="404040"/>
                </a:solidFill>
                <a:latin typeface="Calibri"/>
              </a:rPr>
              <a:t>•  Symptôme : l'image se construisait, le conteneur mourait</a:t>
            </a:r>
          </a:p>
          <a:p>
            <a:pPr algn="l">
              <a:spcBef>
                <a:spcPts val="0"/>
              </a:spcBef>
              <a:spcAft>
                <a:spcPts val="300"/>
              </a:spcAft>
            </a:pPr>
            <a:r>
              <a:rPr sz="1300" b="0">
                <a:solidFill>
                  <a:srgbClr val="404040"/>
                </a:solidFill>
                <a:latin typeface="Calibri"/>
              </a:rPr>
              <a:t>•     au lancement, sans message clair</a:t>
            </a:r>
          </a:p>
          <a:p>
            <a:pPr algn="l">
              <a:spcBef>
                <a:spcPts val="0"/>
              </a:spcBef>
              <a:spcAft>
                <a:spcPts val="300"/>
              </a:spcAft>
            </a:pPr>
            <a:r>
              <a:rPr sz="1300" b="0">
                <a:solidFill>
                  <a:srgbClr val="404040"/>
                </a:solidFill>
                <a:latin typeface="Calibri"/>
              </a:rPr>
              <a:t>•  Cause : nos postes sont sous Windows ; le script de</a:t>
            </a:r>
          </a:p>
          <a:p>
            <a:pPr algn="l">
              <a:spcBef>
                <a:spcPts val="0"/>
              </a:spcBef>
              <a:spcAft>
                <a:spcPts val="300"/>
              </a:spcAft>
            </a:pPr>
            <a:r>
              <a:rPr sz="1300" b="0">
                <a:solidFill>
                  <a:srgbClr val="404040"/>
                </a:solidFill>
                <a:latin typeface="Calibri"/>
              </a:rPr>
              <a:t>•     démarrage était récupéré avec des fins de ligne CRLF</a:t>
            </a:r>
          </a:p>
          <a:p>
            <a:pPr algn="l">
              <a:spcBef>
                <a:spcPts val="0"/>
              </a:spcBef>
              <a:spcAft>
                <a:spcPts val="300"/>
              </a:spcAft>
            </a:pPr>
            <a:r>
              <a:rPr sz="1300" b="0">
                <a:solidFill>
                  <a:srgbClr val="404040"/>
                </a:solidFill>
                <a:latin typeface="Calibri"/>
              </a:rPr>
              <a:t>•  Correction : forcer les fins de ligne LF sur les scripts</a:t>
            </a:r>
          </a:p>
          <a:p>
            <a:pPr algn="l">
              <a:spcBef>
                <a:spcPts val="0"/>
              </a:spcBef>
              <a:spcAft>
                <a:spcPts val="300"/>
              </a:spcAft>
            </a:pPr>
            <a:r>
              <a:rPr sz="1300" b="0">
                <a:solidFill>
                  <a:srgbClr val="404040"/>
                </a:solidFill>
                <a:latin typeface="Calibri"/>
              </a:rPr>
              <a:t>•     shell, au niveau du dépôt</a:t>
            </a:r>
          </a:p>
        </p:txBody>
      </p:sp>
      <p:sp>
        <p:nvSpPr>
          <p:cNvPr id="12" name="Rectangle 11"/>
          <p:cNvSpPr/>
          <p:nvPr/>
        </p:nvSpPr>
        <p:spPr>
          <a:xfrm>
            <a:off x="411480" y="393192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931920"/>
            <a:ext cx="76200" cy="21945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041648"/>
            <a:ext cx="5212080" cy="20116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L'application blanche au démarrage</a:t>
            </a:r>
          </a:p>
          <a:p>
            <a:pPr algn="l">
              <a:spcBef>
                <a:spcPts val="0"/>
              </a:spcBef>
              <a:spcAft>
                <a:spcPts val="300"/>
              </a:spcAft>
            </a:pPr>
            <a:r>
              <a:rPr sz="1300" b="0">
                <a:solidFill>
                  <a:srgbClr val="404040"/>
                </a:solidFill>
                <a:latin typeface="Calibri"/>
              </a:rPr>
              <a:t>•  Symptôme : erreur Angular NG0200 au chargement</a:t>
            </a:r>
          </a:p>
          <a:p>
            <a:pPr algn="l">
              <a:spcBef>
                <a:spcPts val="0"/>
              </a:spcBef>
              <a:spcAft>
                <a:spcPts val="300"/>
              </a:spcAft>
            </a:pPr>
            <a:r>
              <a:rPr sz="1300" b="0">
                <a:solidFill>
                  <a:srgbClr val="404040"/>
                </a:solidFill>
                <a:latin typeface="Calibri"/>
              </a:rPr>
              <a:t>•  Cause : une dépendance circulaire dans la façade</a:t>
            </a:r>
          </a:p>
          <a:p>
            <a:pPr algn="l">
              <a:spcBef>
                <a:spcPts val="0"/>
              </a:spcBef>
              <a:spcAft>
                <a:spcPts val="300"/>
              </a:spcAft>
            </a:pPr>
            <a:r>
              <a:rPr sz="1300" b="0">
                <a:solidFill>
                  <a:srgbClr val="404040"/>
                </a:solidFill>
                <a:latin typeface="Calibri"/>
              </a:rPr>
              <a:t>•     d'authentification, déclenchée par le rafraîchissement</a:t>
            </a:r>
          </a:p>
          <a:p>
            <a:pPr algn="l">
              <a:spcBef>
                <a:spcPts val="0"/>
              </a:spcBef>
              <a:spcAft>
                <a:spcPts val="300"/>
              </a:spcAft>
            </a:pPr>
            <a:r>
              <a:rPr sz="1300" b="0">
                <a:solidFill>
                  <a:srgbClr val="404040"/>
                </a:solidFill>
                <a:latin typeface="Calibri"/>
              </a:rPr>
              <a:t>•     du profil au démarrage</a:t>
            </a:r>
          </a:p>
          <a:p>
            <a:pPr algn="l">
              <a:spcBef>
                <a:spcPts val="0"/>
              </a:spcBef>
              <a:spcAft>
                <a:spcPts val="300"/>
              </a:spcAft>
            </a:pPr>
            <a:r>
              <a:rPr sz="1300" b="0">
                <a:solidFill>
                  <a:srgbClr val="404040"/>
                </a:solidFill>
                <a:latin typeface="Calibri"/>
              </a:rPr>
              <a:t>•  Correction : casser le cycle en différant la récupération</a:t>
            </a:r>
          </a:p>
          <a:p>
            <a:pPr algn="l">
              <a:spcBef>
                <a:spcPts val="0"/>
              </a:spcBef>
              <a:spcAft>
                <a:spcPts val="300"/>
              </a:spcAft>
            </a:pPr>
            <a:r>
              <a:rPr sz="1300" b="0">
                <a:solidFill>
                  <a:srgbClr val="404040"/>
                </a:solidFill>
                <a:latin typeface="Calibri"/>
              </a:rPr>
              <a:t>•     du profil</a:t>
            </a:r>
          </a:p>
        </p:txBody>
      </p:sp>
      <p:sp>
        <p:nvSpPr>
          <p:cNvPr id="15" name="Rectangle 14"/>
          <p:cNvSpPr/>
          <p:nvPr/>
        </p:nvSpPr>
        <p:spPr>
          <a:xfrm>
            <a:off x="6172200" y="393192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931920"/>
            <a:ext cx="76200" cy="21945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41648"/>
            <a:ext cx="5212080" cy="20116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Le bogue de méthode : la dérive d'intégration</a:t>
            </a:r>
          </a:p>
          <a:p>
            <a:pPr algn="l">
              <a:spcBef>
                <a:spcPts val="0"/>
              </a:spcBef>
              <a:spcAft>
                <a:spcPts val="300"/>
              </a:spcAft>
            </a:pPr>
            <a:r>
              <a:rPr sz="1300" b="0">
                <a:solidFill>
                  <a:srgbClr val="404040"/>
                </a:solidFill>
                <a:latin typeface="Calibri"/>
              </a:rPr>
              <a:t>•  Symptôme : cinq tickets « Terminé » dans Jira, absents</a:t>
            </a:r>
          </a:p>
          <a:p>
            <a:pPr algn="l">
              <a:spcBef>
                <a:spcPts val="0"/>
              </a:spcBef>
              <a:spcAft>
                <a:spcPts val="300"/>
              </a:spcAft>
            </a:pPr>
            <a:r>
              <a:rPr sz="1300" b="0">
                <a:solidFill>
                  <a:srgbClr val="404040"/>
                </a:solidFill>
                <a:latin typeface="Calibri"/>
              </a:rPr>
              <a:t>•     du produit</a:t>
            </a:r>
          </a:p>
          <a:p>
            <a:pPr algn="l">
              <a:spcBef>
                <a:spcPts val="0"/>
              </a:spcBef>
              <a:spcAft>
                <a:spcPts val="300"/>
              </a:spcAft>
            </a:pPr>
            <a:r>
              <a:rPr sz="1300" b="0">
                <a:solidFill>
                  <a:srgbClr val="404040"/>
                </a:solidFill>
                <a:latin typeface="Calibri"/>
              </a:rPr>
              <a:t>•  Cause : des branches jamais fusionnées, jusqu'à 56</a:t>
            </a:r>
          </a:p>
          <a:p>
            <a:pPr algn="l">
              <a:spcBef>
                <a:spcPts val="0"/>
              </a:spcBef>
              <a:spcAft>
                <a:spcPts val="300"/>
              </a:spcAft>
            </a:pPr>
            <a:r>
              <a:rPr sz="1300" b="0">
                <a:solidFill>
                  <a:srgbClr val="404040"/>
                </a:solidFill>
                <a:latin typeface="Calibri"/>
              </a:rPr>
              <a:t>•     commits de retard</a:t>
            </a:r>
          </a:p>
          <a:p>
            <a:pPr algn="l">
              <a:spcBef>
                <a:spcPts val="0"/>
              </a:spcBef>
              <a:spcAft>
                <a:spcPts val="300"/>
              </a:spcAft>
            </a:pPr>
            <a:r>
              <a:rPr sz="1300" b="0">
                <a:solidFill>
                  <a:srgbClr val="404040"/>
                </a:solidFill>
                <a:latin typeface="Calibri"/>
              </a:rPr>
              <a:t>•  Correction : réintégration en trois pull requests revues,</a:t>
            </a:r>
          </a:p>
          <a:p>
            <a:pPr algn="l">
              <a:spcBef>
                <a:spcPts val="0"/>
              </a:spcBef>
              <a:spcAft>
                <a:spcPts val="300"/>
              </a:spcAft>
            </a:pPr>
            <a:r>
              <a:rPr sz="1300" b="0">
                <a:solidFill>
                  <a:srgbClr val="404040"/>
                </a:solidFill>
                <a:latin typeface="Calibri"/>
              </a:rPr>
              <a:t>•     et Jira remis en cohérence avec le dépôt</a:t>
            </a:r>
          </a:p>
        </p:txBody>
      </p:sp>
      <p:sp>
        <p:nvSpPr>
          <p:cNvPr id="18" name="TextBox 17"/>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 Saib</a:t>
            </a:r>
          </a:p>
        </p:txBody>
      </p:sp>
      <p:sp>
        <p:nvSpPr>
          <p:cNvPr id="19" name="TextBox 18"/>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11</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Nos limites</a:t>
            </a:r>
          </a:p>
          <a:p>
            <a:pPr algn="l">
              <a:spcBef>
                <a:spcPts val="0"/>
              </a:spcBef>
              <a:spcAft>
                <a:spcPts val="0"/>
              </a:spcAft>
            </a:pPr>
            <a:r>
              <a:rPr sz="1400" b="0">
                <a:solidFill>
                  <a:srgbClr val="CFE3FF"/>
                </a:solidFill>
                <a:latin typeface="Calibri"/>
              </a:rPr>
              <a:t>Ce que le produit ne fait pas — et nous le savons</a:t>
            </a:r>
          </a:p>
        </p:txBody>
      </p:sp>
      <p:sp>
        <p:nvSpPr>
          <p:cNvPr id="6" name="Rectangle 5"/>
          <p:cNvSpPr/>
          <p:nvPr/>
        </p:nvSpPr>
        <p:spPr>
          <a:xfrm>
            <a:off x="41148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48056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291840" cy="429768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Fonctionnalités absentes</a:t>
            </a:r>
          </a:p>
          <a:p>
            <a:pPr algn="l">
              <a:spcBef>
                <a:spcPts val="0"/>
              </a:spcBef>
              <a:spcAft>
                <a:spcPts val="300"/>
              </a:spcAft>
            </a:pPr>
            <a:r>
              <a:rPr sz="1300" b="0">
                <a:solidFill>
                  <a:srgbClr val="404040"/>
                </a:solidFill>
                <a:latin typeface="Calibri"/>
              </a:rPr>
              <a:t>•  Le décalage en bloc des rendez-</a:t>
            </a:r>
          </a:p>
          <a:p>
            <a:pPr algn="l">
              <a:spcBef>
                <a:spcPts val="0"/>
              </a:spcBef>
              <a:spcAft>
                <a:spcPts val="300"/>
              </a:spcAft>
            </a:pPr>
            <a:r>
              <a:rPr sz="1300" b="0">
                <a:solidFill>
                  <a:srgbClr val="404040"/>
                </a:solidFill>
                <a:latin typeface="Calibri"/>
              </a:rPr>
              <a:t>•     vous d'un médecin : le code</a:t>
            </a:r>
          </a:p>
          <a:p>
            <a:pPr algn="l">
              <a:spcBef>
                <a:spcPts val="0"/>
              </a:spcBef>
              <a:spcAft>
                <a:spcPts val="300"/>
              </a:spcAft>
            </a:pPr>
            <a:r>
              <a:rPr sz="1300" b="0">
                <a:solidFill>
                  <a:srgbClr val="404040"/>
                </a:solidFill>
                <a:latin typeface="Calibri"/>
              </a:rPr>
              <a:t>•     existe sur une branche, il n'est</a:t>
            </a:r>
          </a:p>
          <a:p>
            <a:pPr algn="l">
              <a:spcBef>
                <a:spcPts val="0"/>
              </a:spcBef>
              <a:spcAft>
                <a:spcPts val="300"/>
              </a:spcAft>
            </a:pPr>
            <a:r>
              <a:rPr sz="1300" b="0">
                <a:solidFill>
                  <a:srgbClr val="404040"/>
                </a:solidFill>
                <a:latin typeface="Calibri"/>
              </a:rPr>
              <a:t>•     pas intégré</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La configuration d'une clinique</a:t>
            </a:r>
          </a:p>
          <a:p>
            <a:pPr algn="l">
              <a:spcBef>
                <a:spcPts val="0"/>
              </a:spcBef>
              <a:spcAft>
                <a:spcPts val="300"/>
              </a:spcAft>
            </a:pPr>
            <a:r>
              <a:rPr sz="1300" b="0">
                <a:solidFill>
                  <a:srgbClr val="404040"/>
                </a:solidFill>
                <a:latin typeface="Calibri"/>
              </a:rPr>
              <a:t>•     par l'interface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La gestion des médecins par</a:t>
            </a:r>
          </a:p>
          <a:p>
            <a:pPr algn="l">
              <a:spcBef>
                <a:spcPts val="0"/>
              </a:spcBef>
              <a:spcAft>
                <a:spcPts val="300"/>
              </a:spcAft>
            </a:pPr>
            <a:r>
              <a:rPr sz="1300" b="0">
                <a:solidFill>
                  <a:srgbClr val="404040"/>
                </a:solidFill>
                <a:latin typeface="Calibri"/>
              </a:rPr>
              <a:t>•     l'administrateur (CRUD)</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Aucune notification vers</a:t>
            </a:r>
          </a:p>
          <a:p>
            <a:pPr algn="l">
              <a:spcBef>
                <a:spcPts val="0"/>
              </a:spcBef>
              <a:spcAft>
                <a:spcPts val="300"/>
              </a:spcAft>
            </a:pPr>
            <a:r>
              <a:rPr sz="1300" b="0">
                <a:solidFill>
                  <a:srgbClr val="404040"/>
                </a:solidFill>
                <a:latin typeface="Calibri"/>
              </a:rPr>
              <a:t>•     l'extérieur : ni courriel, ni SMS</a:t>
            </a:r>
          </a:p>
        </p:txBody>
      </p:sp>
      <p:sp>
        <p:nvSpPr>
          <p:cNvPr id="9" name="Rectangle 8"/>
          <p:cNvSpPr/>
          <p:nvPr/>
        </p:nvSpPr>
        <p:spPr>
          <a:xfrm>
            <a:off x="425196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08760"/>
            <a:ext cx="76200" cy="44805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18488"/>
            <a:ext cx="3291840" cy="42976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Limites techniques</a:t>
            </a:r>
          </a:p>
          <a:p>
            <a:pPr algn="l">
              <a:spcBef>
                <a:spcPts val="0"/>
              </a:spcBef>
              <a:spcAft>
                <a:spcPts val="300"/>
              </a:spcAft>
            </a:pPr>
            <a:r>
              <a:rPr sz="1300" b="0">
                <a:solidFill>
                  <a:srgbClr val="404040"/>
                </a:solidFill>
                <a:latin typeface="Calibri"/>
              </a:rPr>
              <a:t>•  Le multi-clinique est prévu dans le</a:t>
            </a:r>
          </a:p>
          <a:p>
            <a:pPr algn="l">
              <a:spcBef>
                <a:spcPts val="0"/>
              </a:spcBef>
              <a:spcAft>
                <a:spcPts val="300"/>
              </a:spcAft>
            </a:pPr>
            <a:r>
              <a:rPr sz="1300" b="0">
                <a:solidFill>
                  <a:srgbClr val="404040"/>
                </a:solidFill>
                <a:latin typeface="Calibri"/>
              </a:rPr>
              <a:t>•     modèle et appliqué côté sécurité,</a:t>
            </a:r>
          </a:p>
          <a:p>
            <a:pPr algn="l">
              <a:spcBef>
                <a:spcPts val="0"/>
              </a:spcBef>
              <a:spcAft>
                <a:spcPts val="300"/>
              </a:spcAft>
            </a:pPr>
            <a:r>
              <a:rPr sz="1300" b="0">
                <a:solidFill>
                  <a:srgbClr val="404040"/>
                </a:solidFill>
                <a:latin typeface="Calibri"/>
              </a:rPr>
              <a:t>•     mais peu outillé côté interface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Pas de pagination serveur : le</a:t>
            </a:r>
          </a:p>
          <a:p>
            <a:pPr algn="l">
              <a:spcBef>
                <a:spcPts val="0"/>
              </a:spcBef>
              <a:spcAft>
                <a:spcPts val="300"/>
              </a:spcAft>
            </a:pPr>
            <a:r>
              <a:rPr sz="1300" b="0">
                <a:solidFill>
                  <a:srgbClr val="404040"/>
                </a:solidFill>
                <a:latin typeface="Calibri"/>
              </a:rPr>
              <a:t>•     volume académique le permet,</a:t>
            </a:r>
          </a:p>
          <a:p>
            <a:pPr algn="l">
              <a:spcBef>
                <a:spcPts val="0"/>
              </a:spcBef>
              <a:spcAft>
                <a:spcPts val="300"/>
              </a:spcAft>
            </a:pPr>
            <a:r>
              <a:rPr sz="1300" b="0">
                <a:solidFill>
                  <a:srgbClr val="404040"/>
                </a:solidFill>
                <a:latin typeface="Calibri"/>
              </a:rPr>
              <a:t>•     une vraie clinique non</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Dette de formatage : 233 fichiers</a:t>
            </a:r>
          </a:p>
          <a:p>
            <a:pPr algn="l">
              <a:spcBef>
                <a:spcPts val="0"/>
              </a:spcBef>
              <a:spcAft>
                <a:spcPts val="300"/>
              </a:spcAft>
            </a:pPr>
            <a:r>
              <a:rPr sz="1300" b="0">
                <a:solidFill>
                  <a:srgbClr val="404040"/>
                </a:solidFill>
                <a:latin typeface="Calibri"/>
              </a:rPr>
              <a:t>•     jamais passés au formateur,</a:t>
            </a:r>
          </a:p>
          <a:p>
            <a:pPr algn="l">
              <a:spcBef>
                <a:spcPts val="0"/>
              </a:spcBef>
              <a:spcAft>
                <a:spcPts val="300"/>
              </a:spcAft>
            </a:pPr>
            <a:r>
              <a:rPr sz="1300" b="0">
                <a:solidFill>
                  <a:srgbClr val="404040"/>
                </a:solidFill>
                <a:latin typeface="Calibri"/>
              </a:rPr>
              <a:t>•     9 avertissements d'accessibilité</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Démarrage à froid de quelques</a:t>
            </a:r>
          </a:p>
          <a:p>
            <a:pPr algn="l">
              <a:spcBef>
                <a:spcPts val="0"/>
              </a:spcBef>
              <a:spcAft>
                <a:spcPts val="300"/>
              </a:spcAft>
            </a:pPr>
            <a:r>
              <a:rPr sz="1300" b="0">
                <a:solidFill>
                  <a:srgbClr val="404040"/>
                </a:solidFill>
                <a:latin typeface="Calibri"/>
              </a:rPr>
              <a:t>•     secondes (scale-to-zero)</a:t>
            </a:r>
          </a:p>
        </p:txBody>
      </p:sp>
      <p:sp>
        <p:nvSpPr>
          <p:cNvPr id="12" name="Rectangle 11"/>
          <p:cNvSpPr/>
          <p:nvPr/>
        </p:nvSpPr>
        <p:spPr>
          <a:xfrm>
            <a:off x="809244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08760"/>
            <a:ext cx="76200" cy="448056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18488"/>
            <a:ext cx="3291840" cy="4297680"/>
          </a:xfrm>
          <a:prstGeom prst="rect">
            <a:avLst/>
          </a:prstGeom>
          <a:noFill/>
        </p:spPr>
        <p:txBody>
          <a:bodyPr wrap="square">
            <a:spAutoFit/>
          </a:bodyPr>
          <a:lstStyle/>
          <a:p>
            <a:pPr algn="l">
              <a:spcBef>
                <a:spcPts val="0"/>
              </a:spcBef>
              <a:spcAft>
                <a:spcPts val="400"/>
              </a:spcAft>
            </a:pPr>
            <a:r>
              <a:rPr sz="1600" b="1">
                <a:solidFill>
                  <a:srgbClr val="404040"/>
                </a:solidFill>
                <a:latin typeface="Calibri"/>
              </a:rPr>
              <a:t>Limites de méthode</a:t>
            </a:r>
          </a:p>
          <a:p>
            <a:pPr algn="l">
              <a:spcBef>
                <a:spcPts val="0"/>
              </a:spcBef>
              <a:spcAft>
                <a:spcPts val="300"/>
              </a:spcAft>
            </a:pPr>
            <a:r>
              <a:rPr sz="1300" b="0">
                <a:solidFill>
                  <a:srgbClr val="404040"/>
                </a:solidFill>
                <a:latin typeface="Calibri"/>
              </a:rPr>
              <a:t>•  Notre définition de « terminé » a</a:t>
            </a:r>
          </a:p>
          <a:p>
            <a:pPr algn="l">
              <a:spcBef>
                <a:spcPts val="0"/>
              </a:spcBef>
              <a:spcAft>
                <a:spcPts val="300"/>
              </a:spcAft>
            </a:pPr>
            <a:r>
              <a:rPr sz="1300" b="0">
                <a:solidFill>
                  <a:srgbClr val="404040"/>
                </a:solidFill>
                <a:latin typeface="Calibri"/>
              </a:rPr>
              <a:t>•     été trop souple pendant une</a:t>
            </a:r>
          </a:p>
          <a:p>
            <a:pPr algn="l">
              <a:spcBef>
                <a:spcPts val="0"/>
              </a:spcBef>
              <a:spcAft>
                <a:spcPts val="300"/>
              </a:spcAft>
            </a:pPr>
            <a:r>
              <a:rPr sz="1300" b="0">
                <a:solidFill>
                  <a:srgbClr val="404040"/>
                </a:solidFill>
                <a:latin typeface="Calibri"/>
              </a:rPr>
              <a:t>•     partie du projet — le code</a:t>
            </a:r>
          </a:p>
          <a:p>
            <a:pPr algn="l">
              <a:spcBef>
                <a:spcPts val="0"/>
              </a:spcBef>
              <a:spcAft>
                <a:spcPts val="300"/>
              </a:spcAft>
            </a:pPr>
            <a:r>
              <a:rPr sz="1300" b="0">
                <a:solidFill>
                  <a:srgbClr val="404040"/>
                </a:solidFill>
                <a:latin typeface="Calibri"/>
              </a:rPr>
              <a:t>•     pouvait exister sans être intégré</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Les revues de code sont arrivées</a:t>
            </a:r>
          </a:p>
          <a:p>
            <a:pPr algn="l">
              <a:spcBef>
                <a:spcPts val="0"/>
              </a:spcBef>
              <a:spcAft>
                <a:spcPts val="300"/>
              </a:spcAft>
            </a:pPr>
            <a:r>
              <a:rPr sz="1300" b="0">
                <a:solidFill>
                  <a:srgbClr val="404040"/>
                </a:solidFill>
                <a:latin typeface="Calibri"/>
              </a:rPr>
              <a:t>•     tard dans le projet</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Pas de tests de bout en bout</a:t>
            </a:r>
          </a:p>
          <a:p>
            <a:pPr algn="l">
              <a:spcBef>
                <a:spcPts val="0"/>
              </a:spcBef>
              <a:spcAft>
                <a:spcPts val="300"/>
              </a:spcAft>
            </a:pPr>
            <a:r>
              <a:rPr sz="1300" b="0">
                <a:solidFill>
                  <a:srgbClr val="404040"/>
                </a:solidFill>
                <a:latin typeface="Calibri"/>
              </a:rPr>
              <a:t>•     automatisés : le parcours complet</a:t>
            </a:r>
          </a:p>
          <a:p>
            <a:pPr algn="l">
              <a:spcBef>
                <a:spcPts val="0"/>
              </a:spcBef>
              <a:spcAft>
                <a:spcPts val="300"/>
              </a:spcAft>
            </a:pPr>
            <a:r>
              <a:rPr sz="1300" b="0">
                <a:solidFill>
                  <a:srgbClr val="404040"/>
                </a:solidFill>
                <a:latin typeface="Calibri"/>
              </a:rPr>
              <a:t>•     est validé à la main</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Aucun test de charge</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 Lahouiri</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45 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12</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La suite</a:t>
            </a:r>
          </a:p>
          <a:p>
            <a:pPr algn="l">
              <a:spcBef>
                <a:spcPts val="0"/>
              </a:spcBef>
              <a:spcAft>
                <a:spcPts val="0"/>
              </a:spcAft>
            </a:pPr>
            <a:r>
              <a:rPr sz="1400" b="0">
                <a:solidFill>
                  <a:srgbClr val="CFE3FF"/>
                </a:solidFill>
                <a:latin typeface="Calibri"/>
              </a:rPr>
              <a:t>Par quoi nous continuerions, et dans quel ordre</a:t>
            </a:r>
          </a:p>
        </p:txBody>
      </p:sp>
      <p:sp>
        <p:nvSpPr>
          <p:cNvPr id="6" name="Rectangle 5"/>
          <p:cNvSpPr/>
          <p:nvPr/>
        </p:nvSpPr>
        <p:spPr>
          <a:xfrm>
            <a:off x="411480" y="1508760"/>
            <a:ext cx="356616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1945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200400" cy="20116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1.  Solder l'existant</a:t>
            </a:r>
          </a:p>
          <a:p>
            <a:pPr algn="l">
              <a:spcBef>
                <a:spcPts val="0"/>
              </a:spcBef>
              <a:spcAft>
                <a:spcPts val="300"/>
              </a:spcAft>
            </a:pPr>
            <a:r>
              <a:rPr sz="1300" b="0">
                <a:solidFill>
                  <a:srgbClr val="404040"/>
                </a:solidFill>
                <a:latin typeface="Calibri"/>
              </a:rPr>
              <a:t>•  Intégrer le décalage en bloc,</a:t>
            </a:r>
          </a:p>
          <a:p>
            <a:pPr algn="l">
              <a:spcBef>
                <a:spcPts val="0"/>
              </a:spcBef>
              <a:spcAft>
                <a:spcPts val="300"/>
              </a:spcAft>
            </a:pPr>
            <a:r>
              <a:rPr sz="1300" b="0">
                <a:solidFill>
                  <a:srgbClr val="404040"/>
                </a:solidFill>
                <a:latin typeface="Calibri"/>
              </a:rPr>
              <a:t>•     déjà écrit et testé</a:t>
            </a:r>
          </a:p>
          <a:p>
            <a:pPr algn="l">
              <a:spcBef>
                <a:spcPts val="0"/>
              </a:spcBef>
              <a:spcAft>
                <a:spcPts val="300"/>
              </a:spcAft>
            </a:pPr>
            <a:r>
              <a:rPr sz="1300" b="0">
                <a:solidFill>
                  <a:srgbClr val="404040"/>
                </a:solidFill>
                <a:latin typeface="Calibri"/>
              </a:rPr>
              <a:t>•  Configuration de clinique et</a:t>
            </a:r>
          </a:p>
          <a:p>
            <a:pPr algn="l">
              <a:spcBef>
                <a:spcPts val="0"/>
              </a:spcBef>
              <a:spcAft>
                <a:spcPts val="300"/>
              </a:spcAft>
            </a:pPr>
            <a:r>
              <a:rPr sz="1300" b="0">
                <a:solidFill>
                  <a:srgbClr val="404040"/>
                </a:solidFill>
                <a:latin typeface="Calibri"/>
              </a:rPr>
              <a:t>•     gestion des médecins</a:t>
            </a:r>
          </a:p>
          <a:p>
            <a:pPr algn="l">
              <a:spcBef>
                <a:spcPts val="0"/>
              </a:spcBef>
              <a:spcAft>
                <a:spcPts val="300"/>
              </a:spcAft>
            </a:pPr>
            <a:r>
              <a:rPr sz="1300" b="0">
                <a:solidFill>
                  <a:srgbClr val="404040"/>
                </a:solidFill>
                <a:latin typeface="Calibri"/>
              </a:rPr>
              <a:t>•  Passer le formateur sur tout</a:t>
            </a:r>
          </a:p>
          <a:p>
            <a:pPr algn="l">
              <a:spcBef>
                <a:spcPts val="0"/>
              </a:spcBef>
              <a:spcAft>
                <a:spcPts val="300"/>
              </a:spcAft>
            </a:pPr>
            <a:r>
              <a:rPr sz="1300" b="0">
                <a:solidFill>
                  <a:srgbClr val="404040"/>
                </a:solidFill>
                <a:latin typeface="Calibri"/>
              </a:rPr>
              <a:t>•     le dépôt, une fois pour toutes</a:t>
            </a:r>
          </a:p>
        </p:txBody>
      </p:sp>
      <p:sp>
        <p:nvSpPr>
          <p:cNvPr id="9" name="Rectangle 8"/>
          <p:cNvSpPr/>
          <p:nvPr/>
        </p:nvSpPr>
        <p:spPr>
          <a:xfrm>
            <a:off x="4160520" y="1508760"/>
            <a:ext cx="356616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60520" y="1508760"/>
            <a:ext cx="76200" cy="21945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618488"/>
            <a:ext cx="3200400" cy="20116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2.  Fiabiliser</a:t>
            </a:r>
          </a:p>
          <a:p>
            <a:pPr algn="l">
              <a:spcBef>
                <a:spcPts val="0"/>
              </a:spcBef>
              <a:spcAft>
                <a:spcPts val="300"/>
              </a:spcAft>
            </a:pPr>
            <a:r>
              <a:rPr sz="1300" b="0">
                <a:solidFill>
                  <a:srgbClr val="404040"/>
                </a:solidFill>
                <a:latin typeface="Calibri"/>
              </a:rPr>
              <a:t>•  Tests de bout en bout sur le</a:t>
            </a:r>
          </a:p>
          <a:p>
            <a:pPr algn="l">
              <a:spcBef>
                <a:spcPts val="0"/>
              </a:spcBef>
              <a:spcAft>
                <a:spcPts val="300"/>
              </a:spcAft>
            </a:pPr>
            <a:r>
              <a:rPr sz="1300" b="0">
                <a:solidFill>
                  <a:srgbClr val="404040"/>
                </a:solidFill>
                <a:latin typeface="Calibri"/>
              </a:rPr>
              <a:t>•     parcours complet</a:t>
            </a:r>
          </a:p>
          <a:p>
            <a:pPr algn="l">
              <a:spcBef>
                <a:spcPts val="0"/>
              </a:spcBef>
              <a:spcAft>
                <a:spcPts val="300"/>
              </a:spcAft>
            </a:pPr>
            <a:r>
              <a:rPr sz="1300" b="0">
                <a:solidFill>
                  <a:srgbClr val="404040"/>
                </a:solidFill>
                <a:latin typeface="Calibri"/>
              </a:rPr>
              <a:t>•  Pagination serveur sur les</a:t>
            </a:r>
          </a:p>
          <a:p>
            <a:pPr algn="l">
              <a:spcBef>
                <a:spcPts val="0"/>
              </a:spcBef>
              <a:spcAft>
                <a:spcPts val="300"/>
              </a:spcAft>
            </a:pPr>
            <a:r>
              <a:rPr sz="1300" b="0">
                <a:solidFill>
                  <a:srgbClr val="404040"/>
                </a:solidFill>
                <a:latin typeface="Calibri"/>
              </a:rPr>
              <a:t>•     listes de rendez-vous</a:t>
            </a:r>
          </a:p>
          <a:p>
            <a:pPr algn="l">
              <a:spcBef>
                <a:spcPts val="0"/>
              </a:spcBef>
              <a:spcAft>
                <a:spcPts val="300"/>
              </a:spcAft>
            </a:pPr>
            <a:r>
              <a:rPr sz="1300" b="0">
                <a:solidFill>
                  <a:srgbClr val="404040"/>
                </a:solidFill>
                <a:latin typeface="Calibri"/>
              </a:rPr>
              <a:t>•  Rendre le lint bloquant, une</a:t>
            </a:r>
          </a:p>
          <a:p>
            <a:pPr algn="l">
              <a:spcBef>
                <a:spcPts val="0"/>
              </a:spcBef>
              <a:spcAft>
                <a:spcPts val="300"/>
              </a:spcAft>
            </a:pPr>
            <a:r>
              <a:rPr sz="1300" b="0">
                <a:solidFill>
                  <a:srgbClr val="404040"/>
                </a:solidFill>
                <a:latin typeface="Calibri"/>
              </a:rPr>
              <a:t>•     fois la dette résorbée</a:t>
            </a:r>
          </a:p>
        </p:txBody>
      </p:sp>
      <p:sp>
        <p:nvSpPr>
          <p:cNvPr id="12" name="Rectangle 11"/>
          <p:cNvSpPr/>
          <p:nvPr/>
        </p:nvSpPr>
        <p:spPr>
          <a:xfrm>
            <a:off x="7909560" y="1508760"/>
            <a:ext cx="384048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09560" y="1508760"/>
            <a:ext cx="76200" cy="21945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618488"/>
            <a:ext cx="3474720" cy="20116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3.  Étendre la valeur</a:t>
            </a:r>
          </a:p>
          <a:p>
            <a:pPr algn="l">
              <a:spcBef>
                <a:spcPts val="0"/>
              </a:spcBef>
              <a:spcAft>
                <a:spcPts val="300"/>
              </a:spcAft>
            </a:pPr>
            <a:r>
              <a:rPr sz="1300" b="0">
                <a:solidFill>
                  <a:srgbClr val="404040"/>
                </a:solidFill>
                <a:latin typeface="Calibri"/>
              </a:rPr>
              <a:t>•  Rappels par courriel ou SMS —</a:t>
            </a:r>
          </a:p>
          <a:p>
            <a:pPr algn="l">
              <a:spcBef>
                <a:spcPts val="0"/>
              </a:spcBef>
              <a:spcAft>
                <a:spcPts val="300"/>
              </a:spcAft>
            </a:pPr>
            <a:r>
              <a:rPr sz="1300" b="0">
                <a:solidFill>
                  <a:srgbClr val="404040"/>
                </a:solidFill>
                <a:latin typeface="Calibri"/>
              </a:rPr>
              <a:t>•     la vraie arme anti-absence</a:t>
            </a:r>
          </a:p>
          <a:p>
            <a:pPr algn="l">
              <a:spcBef>
                <a:spcPts val="0"/>
              </a:spcBef>
              <a:spcAft>
                <a:spcPts val="300"/>
              </a:spcAft>
            </a:pPr>
            <a:r>
              <a:rPr sz="1300" b="0">
                <a:solidFill>
                  <a:srgbClr val="404040"/>
                </a:solidFill>
                <a:latin typeface="Calibri"/>
              </a:rPr>
              <a:t>•  Liste d'attente : proposer</a:t>
            </a:r>
          </a:p>
          <a:p>
            <a:pPr algn="l">
              <a:spcBef>
                <a:spcPts val="0"/>
              </a:spcBef>
              <a:spcAft>
                <a:spcPts val="300"/>
              </a:spcAft>
            </a:pPr>
            <a:r>
              <a:rPr sz="1300" b="0">
                <a:solidFill>
                  <a:srgbClr val="404040"/>
                </a:solidFill>
                <a:latin typeface="Calibri"/>
              </a:rPr>
              <a:t>•     automatiquement un créneau</a:t>
            </a:r>
          </a:p>
          <a:p>
            <a:pPr algn="l">
              <a:spcBef>
                <a:spcPts val="0"/>
              </a:spcBef>
              <a:spcAft>
                <a:spcPts val="300"/>
              </a:spcAft>
            </a:pPr>
            <a:r>
              <a:rPr sz="1300" b="0">
                <a:solidFill>
                  <a:srgbClr val="404040"/>
                </a:solidFill>
                <a:latin typeface="Calibri"/>
              </a:rPr>
              <a:t>•     libéré par une annulation</a:t>
            </a:r>
          </a:p>
          <a:p>
            <a:pPr algn="l">
              <a:spcBef>
                <a:spcPts val="0"/>
              </a:spcBef>
              <a:spcAft>
                <a:spcPts val="300"/>
              </a:spcAft>
            </a:pPr>
            <a:r>
              <a:rPr sz="1300" b="0">
                <a:solidFill>
                  <a:srgbClr val="404040"/>
                </a:solidFill>
                <a:latin typeface="Calibri"/>
              </a:rPr>
              <a:t>•  Portail patient en libre-service</a:t>
            </a:r>
          </a:p>
        </p:txBody>
      </p:sp>
      <p:sp>
        <p:nvSpPr>
          <p:cNvPr id="15" name="Rectangle 14"/>
          <p:cNvSpPr/>
          <p:nvPr/>
        </p:nvSpPr>
        <p:spPr>
          <a:xfrm>
            <a:off x="411480" y="3931920"/>
            <a:ext cx="11338560" cy="21488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931920"/>
            <a:ext cx="76200" cy="21488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041648"/>
            <a:ext cx="10972800" cy="19659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Notre stratégie de progression</a:t>
            </a:r>
          </a:p>
          <a:p>
            <a:pPr algn="l">
              <a:spcBef>
                <a:spcPts val="0"/>
              </a:spcBef>
              <a:spcAft>
                <a:spcPts val="300"/>
              </a:spcAft>
            </a:pPr>
            <a:r>
              <a:rPr sz="1300" b="0">
                <a:solidFill>
                  <a:srgbClr val="404040"/>
                </a:solidFill>
                <a:latin typeface="Calibri"/>
              </a:rPr>
              <a:t>•  Le produit est déjà déployable en une commande, et le schéma de base se reconstruit à l'identique. C'est le socle qui rend la suite possible.</a:t>
            </a:r>
          </a:p>
          <a:p>
            <a:pPr algn="l">
              <a:spcBef>
                <a:spcPts val="0"/>
              </a:spcBef>
              <a:spcAft>
                <a:spcPts val="300"/>
              </a:spcAft>
            </a:pPr>
            <a:r>
              <a:rPr sz="1300" b="0">
                <a:solidFill>
                  <a:srgbClr val="404040"/>
                </a:solidFill>
                <a:latin typeface="Calibri"/>
              </a:rPr>
              <a:t>•  Nous garderions la même règle : une fonctionnalité par personne, menée de la base de données jusqu'à l'écran, fusionnée dans la semaine.</a:t>
            </a:r>
          </a:p>
          <a:p>
            <a:pPr algn="l">
              <a:spcBef>
                <a:spcPts val="0"/>
              </a:spcBef>
              <a:spcAft>
                <a:spcPts val="300"/>
              </a:spcAft>
            </a:pPr>
            <a:r>
              <a:rPr sz="1300" b="0">
                <a:solidFill>
                  <a:srgbClr val="404040"/>
                </a:solidFill>
                <a:latin typeface="Calibri"/>
              </a:rPr>
              <a:t>•  L'ordre n'est pas arbitraire : d'abord finir ce qui est écrit, puis sécuriser ce qui existe, et seulement ensuite ajouter. Ajouter sur une base fragile, c'est ce qui nous a coûté le plus cher.</a:t>
            </a:r>
          </a:p>
          <a:p>
            <a:pPr algn="l">
              <a:spcBef>
                <a:spcPts val="0"/>
              </a:spcBef>
              <a:spcAft>
                <a:spcPts val="300"/>
              </a:spcAft>
            </a:pPr>
            <a:r>
              <a:rPr sz="1300" b="0">
                <a:solidFill>
                  <a:srgbClr val="404040"/>
                </a:solidFill>
                <a:latin typeface="Calibri"/>
              </a:rPr>
              <a:t>•  La priorité métier suivante serait les rappels automatiques : c'est la fonctionnalité qui attaque directement le taux d'absence, le seul chiffre que la clinique voit sur sa facture.</a:t>
            </a:r>
          </a:p>
        </p:txBody>
      </p:sp>
      <p:sp>
        <p:nvSpPr>
          <p:cNvPr id="18" name="TextBox 17"/>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 Lahouiri</a:t>
            </a:r>
          </a:p>
        </p:txBody>
      </p:sp>
      <p:sp>
        <p:nvSpPr>
          <p:cNvPr id="19" name="TextBox 18"/>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45 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13</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Qui a fait quoi</a:t>
            </a:r>
          </a:p>
          <a:p>
            <a:pPr algn="l">
              <a:spcBef>
                <a:spcPts val="0"/>
              </a:spcBef>
              <a:spcAft>
                <a:spcPts val="0"/>
              </a:spcAft>
            </a:pPr>
            <a:r>
              <a:rPr sz="1400" b="0">
                <a:solidFill>
                  <a:srgbClr val="CFE3FF"/>
                </a:solidFill>
                <a:latin typeface="Calibri"/>
              </a:rPr>
              <a:t>Chacun présente sa contribution, ses difficultés et ce qu'il en retient</a:t>
            </a:r>
          </a:p>
        </p:txBody>
      </p:sp>
      <p:sp>
        <p:nvSpPr>
          <p:cNvPr id="6" name="Rectangle 5"/>
          <p:cNvSpPr/>
          <p:nvPr/>
        </p:nvSpPr>
        <p:spPr>
          <a:xfrm>
            <a:off x="41148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4805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291840" cy="42976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Souleymane DIALLO</a:t>
            </a:r>
          </a:p>
          <a:p>
            <a:pPr algn="l">
              <a:spcBef>
                <a:spcPts val="0"/>
              </a:spcBef>
              <a:spcAft>
                <a:spcPts val="300"/>
              </a:spcAft>
            </a:pPr>
            <a:r>
              <a:rPr sz="1300" b="0">
                <a:solidFill>
                  <a:srgbClr val="404040"/>
                </a:solidFill>
                <a:latin typeface="Calibri"/>
              </a:rPr>
              <a:t>•  Réalisé : cahier des charges et</a:t>
            </a:r>
          </a:p>
          <a:p>
            <a:pPr algn="l">
              <a:spcBef>
                <a:spcPts val="0"/>
              </a:spcBef>
              <a:spcAft>
                <a:spcPts val="300"/>
              </a:spcAft>
            </a:pPr>
            <a:r>
              <a:rPr sz="1300" b="0">
                <a:solidFill>
                  <a:srgbClr val="404040"/>
                </a:solidFill>
                <a:latin typeface="Calibri"/>
              </a:rPr>
              <a:t>•     7 cas d'utilisation, socle du</a:t>
            </a:r>
          </a:p>
          <a:p>
            <a:pPr algn="l">
              <a:spcBef>
                <a:spcPts val="0"/>
              </a:spcBef>
              <a:spcAft>
                <a:spcPts val="300"/>
              </a:spcAft>
            </a:pPr>
            <a:r>
              <a:rPr sz="1300" b="0">
                <a:solidFill>
                  <a:srgbClr val="404040"/>
                </a:solidFill>
                <a:latin typeface="Calibri"/>
              </a:rPr>
              <a:t>•     monorepo et Docker,</a:t>
            </a:r>
          </a:p>
          <a:p>
            <a:pPr algn="l">
              <a:spcBef>
                <a:spcPts val="0"/>
              </a:spcBef>
              <a:spcAft>
                <a:spcPts val="300"/>
              </a:spcAft>
            </a:pPr>
            <a:r>
              <a:rPr sz="1300" b="0">
                <a:solidFill>
                  <a:srgbClr val="404040"/>
                </a:solidFill>
                <a:latin typeface="Calibri"/>
              </a:rPr>
              <a:t>•     authentification JWT, RBAC à</a:t>
            </a:r>
          </a:p>
          <a:p>
            <a:pPr algn="l">
              <a:spcBef>
                <a:spcPts val="0"/>
              </a:spcBef>
              <a:spcAft>
                <a:spcPts val="300"/>
              </a:spcAft>
            </a:pPr>
            <a:r>
              <a:rPr sz="1300" b="0">
                <a:solidFill>
                  <a:srgbClr val="404040"/>
                </a:solidFill>
                <a:latin typeface="Calibri"/>
              </a:rPr>
              <a:t>•     4 rôles, design system, passage</a:t>
            </a:r>
          </a:p>
          <a:p>
            <a:pPr algn="l">
              <a:spcBef>
                <a:spcPts val="0"/>
              </a:spcBef>
              <a:spcAft>
                <a:spcPts val="300"/>
              </a:spcAft>
            </a:pPr>
            <a:r>
              <a:rPr sz="1300" b="0">
                <a:solidFill>
                  <a:srgbClr val="404040"/>
                </a:solidFill>
                <a:latin typeface="Calibri"/>
              </a:rPr>
              <a:t>•     de la contrainte d'unicité à un</a:t>
            </a:r>
          </a:p>
          <a:p>
            <a:pPr algn="l">
              <a:spcBef>
                <a:spcPts val="0"/>
              </a:spcBef>
              <a:spcAft>
                <a:spcPts val="300"/>
              </a:spcAft>
            </a:pPr>
            <a:r>
              <a:rPr sz="1300" b="0">
                <a:solidFill>
                  <a:srgbClr val="404040"/>
                </a:solidFill>
                <a:latin typeface="Calibri"/>
              </a:rPr>
              <a:t>•     index PARTIEL (qui rend possible</a:t>
            </a:r>
          </a:p>
          <a:p>
            <a:pPr algn="l">
              <a:spcBef>
                <a:spcPts val="0"/>
              </a:spcBef>
              <a:spcAft>
                <a:spcPts val="300"/>
              </a:spcAft>
            </a:pPr>
            <a:r>
              <a:rPr sz="1300" b="0">
                <a:solidFill>
                  <a:srgbClr val="404040"/>
                </a:solidFill>
                <a:latin typeface="Calibri"/>
              </a:rPr>
              <a:t>•     l'annulation), déploiement Azure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Difficulté : le 404 en production,</a:t>
            </a:r>
          </a:p>
          <a:p>
            <a:pPr algn="l">
              <a:spcBef>
                <a:spcPts val="0"/>
              </a:spcBef>
              <a:spcAft>
                <a:spcPts val="300"/>
              </a:spcAft>
            </a:pPr>
            <a:r>
              <a:rPr sz="1300" b="0">
                <a:solidFill>
                  <a:srgbClr val="404040"/>
                </a:solidFill>
                <a:latin typeface="Calibri"/>
              </a:rPr>
              <a:t>•     invisible en local</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Solution : comparer le routage</a:t>
            </a:r>
          </a:p>
          <a:p>
            <a:pPr algn="l">
              <a:spcBef>
                <a:spcPts val="0"/>
              </a:spcBef>
              <a:spcAft>
                <a:spcPts val="300"/>
              </a:spcAft>
            </a:pPr>
            <a:r>
              <a:rPr sz="1300" b="0">
                <a:solidFill>
                  <a:srgbClr val="404040"/>
                </a:solidFill>
                <a:latin typeface="Calibri"/>
              </a:rPr>
              <a:t>•     réel d'Azure et de Docker,</a:t>
            </a:r>
          </a:p>
          <a:p>
            <a:pPr algn="l">
              <a:spcBef>
                <a:spcPts val="0"/>
              </a:spcBef>
              <a:spcAft>
                <a:spcPts val="300"/>
              </a:spcAft>
            </a:pPr>
            <a:r>
              <a:rPr sz="1300" b="0">
                <a:solidFill>
                  <a:srgbClr val="404040"/>
                </a:solidFill>
                <a:latin typeface="Calibri"/>
              </a:rPr>
              <a:t>•     au lieu de chercher dans le code</a:t>
            </a:r>
          </a:p>
        </p:txBody>
      </p:sp>
      <p:sp>
        <p:nvSpPr>
          <p:cNvPr id="9" name="Rectangle 8"/>
          <p:cNvSpPr/>
          <p:nvPr/>
        </p:nvSpPr>
        <p:spPr>
          <a:xfrm>
            <a:off x="425196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08760"/>
            <a:ext cx="76200" cy="44805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18488"/>
            <a:ext cx="3291840" cy="42976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Zakaria Lahouiri</a:t>
            </a:r>
          </a:p>
          <a:p>
            <a:pPr algn="l">
              <a:spcBef>
                <a:spcPts val="0"/>
              </a:spcBef>
              <a:spcAft>
                <a:spcPts val="300"/>
              </a:spcAft>
            </a:pPr>
            <a:r>
              <a:rPr sz="1300" b="0">
                <a:solidFill>
                  <a:srgbClr val="404040"/>
                </a:solidFill>
                <a:latin typeface="Calibri"/>
              </a:rPr>
              <a:t>•  Réalisé : diagramme de classes,</a:t>
            </a:r>
          </a:p>
          <a:p>
            <a:pPr algn="l">
              <a:spcBef>
                <a:spcPts val="0"/>
              </a:spcBef>
              <a:spcAft>
                <a:spcPts val="300"/>
              </a:spcAft>
            </a:pPr>
            <a:r>
              <a:rPr sz="1300" b="0">
                <a:solidFill>
                  <a:srgbClr val="404040"/>
                </a:solidFill>
                <a:latin typeface="Calibri"/>
              </a:rPr>
              <a:t>•     disponibilités des médecins et</a:t>
            </a:r>
          </a:p>
          <a:p>
            <a:pPr algn="l">
              <a:spcBef>
                <a:spcPts val="0"/>
              </a:spcBef>
              <a:spcAft>
                <a:spcPts val="300"/>
              </a:spcAft>
            </a:pPr>
            <a:r>
              <a:rPr sz="1300" b="0">
                <a:solidFill>
                  <a:srgbClr val="404040"/>
                </a:solidFill>
                <a:latin typeface="Calibri"/>
              </a:rPr>
              <a:t>•     génération des créneaux, flux</a:t>
            </a:r>
          </a:p>
          <a:p>
            <a:pPr algn="l">
              <a:spcBef>
                <a:spcPts val="0"/>
              </a:spcBef>
              <a:spcAft>
                <a:spcPts val="300"/>
              </a:spcAft>
            </a:pPr>
            <a:r>
              <a:rPr sz="1300" b="0">
                <a:solidFill>
                  <a:srgbClr val="404040"/>
                </a:solidFill>
                <a:latin typeface="Calibri"/>
              </a:rPr>
              <a:t>•     clinique du jour, notifications</a:t>
            </a:r>
          </a:p>
          <a:p>
            <a:pPr algn="l">
              <a:spcBef>
                <a:spcPts val="0"/>
              </a:spcBef>
              <a:spcAft>
                <a:spcPts val="300"/>
              </a:spcAft>
            </a:pPr>
            <a:r>
              <a:rPr sz="1300" b="0">
                <a:solidFill>
                  <a:srgbClr val="404040"/>
                </a:solidFill>
                <a:latin typeface="Calibri"/>
              </a:rPr>
              <a:t>•     internes, export CSV</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Difficulté : mes branches avaient</a:t>
            </a:r>
          </a:p>
          <a:p>
            <a:pPr algn="l">
              <a:spcBef>
                <a:spcPts val="0"/>
              </a:spcBef>
              <a:spcAft>
                <a:spcPts val="300"/>
              </a:spcAft>
            </a:pPr>
            <a:r>
              <a:rPr sz="1300" b="0">
                <a:solidFill>
                  <a:srgbClr val="404040"/>
                </a:solidFill>
                <a:latin typeface="Calibri"/>
              </a:rPr>
              <a:t>•     pris jusqu'à 56 commits de</a:t>
            </a:r>
          </a:p>
          <a:p>
            <a:pPr algn="l">
              <a:spcBef>
                <a:spcPts val="0"/>
              </a:spcBef>
              <a:spcAft>
                <a:spcPts val="300"/>
              </a:spcAft>
            </a:pPr>
            <a:r>
              <a:rPr sz="1300" b="0">
                <a:solidFill>
                  <a:srgbClr val="404040"/>
                </a:solidFill>
                <a:latin typeface="Calibri"/>
              </a:rPr>
              <a:t>•     retard sur une interface refondue</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Solution : réintégration par pull</a:t>
            </a:r>
          </a:p>
          <a:p>
            <a:pPr algn="l">
              <a:spcBef>
                <a:spcPts val="0"/>
              </a:spcBef>
              <a:spcAft>
                <a:spcPts val="300"/>
              </a:spcAft>
            </a:pPr>
            <a:r>
              <a:rPr sz="1300" b="0">
                <a:solidFill>
                  <a:srgbClr val="404040"/>
                </a:solidFill>
                <a:latin typeface="Calibri"/>
              </a:rPr>
              <a:t>•     request, conflit par conflit, en</a:t>
            </a:r>
          </a:p>
          <a:p>
            <a:pPr algn="l">
              <a:spcBef>
                <a:spcPts val="0"/>
              </a:spcBef>
              <a:spcAft>
                <a:spcPts val="300"/>
              </a:spcAft>
            </a:pPr>
            <a:r>
              <a:rPr sz="1300" b="0">
                <a:solidFill>
                  <a:srgbClr val="404040"/>
                </a:solidFill>
                <a:latin typeface="Calibri"/>
              </a:rPr>
              <a:t>•     conservant les deux apports</a:t>
            </a:r>
          </a:p>
        </p:txBody>
      </p:sp>
      <p:sp>
        <p:nvSpPr>
          <p:cNvPr id="12" name="Rectangle 11"/>
          <p:cNvSpPr/>
          <p:nvPr/>
        </p:nvSpPr>
        <p:spPr>
          <a:xfrm>
            <a:off x="8092440" y="1508760"/>
            <a:ext cx="3657600" cy="4480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08760"/>
            <a:ext cx="76200" cy="44805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18488"/>
            <a:ext cx="3291840" cy="42976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Larbi Saib</a:t>
            </a:r>
          </a:p>
          <a:p>
            <a:pPr algn="l">
              <a:spcBef>
                <a:spcPts val="0"/>
              </a:spcBef>
              <a:spcAft>
                <a:spcPts val="300"/>
              </a:spcAft>
            </a:pPr>
            <a:r>
              <a:rPr sz="1300" b="0">
                <a:solidFill>
                  <a:srgbClr val="404040"/>
                </a:solidFill>
                <a:latin typeface="Calibri"/>
              </a:rPr>
              <a:t>•  Réalisé : diagrammes de séquence,</a:t>
            </a:r>
          </a:p>
          <a:p>
            <a:pPr algn="l">
              <a:spcBef>
                <a:spcPts val="0"/>
              </a:spcBef>
              <a:spcAft>
                <a:spcPts val="300"/>
              </a:spcAft>
            </a:pPr>
            <a:r>
              <a:rPr sz="1300" b="0">
                <a:solidFill>
                  <a:srgbClr val="404040"/>
                </a:solidFill>
                <a:latin typeface="Calibri"/>
              </a:rPr>
              <a:t>•     modèle du patient léger, prise de</a:t>
            </a:r>
          </a:p>
          <a:p>
            <a:pPr algn="l">
              <a:spcBef>
                <a:spcPts val="0"/>
              </a:spcBef>
              <a:spcAft>
                <a:spcPts val="300"/>
              </a:spcAft>
            </a:pPr>
            <a:r>
              <a:rPr sz="1300" b="0">
                <a:solidFill>
                  <a:srgbClr val="404040"/>
                </a:solidFill>
                <a:latin typeface="Calibri"/>
              </a:rPr>
              <a:t>•     RDV par la réception, socle des</a:t>
            </a:r>
          </a:p>
          <a:p>
            <a:pPr algn="l">
              <a:spcBef>
                <a:spcPts val="0"/>
              </a:spcBef>
              <a:spcAft>
                <a:spcPts val="300"/>
              </a:spcAft>
            </a:pPr>
            <a:r>
              <a:rPr sz="1300" b="0">
                <a:solidFill>
                  <a:srgbClr val="404040"/>
                </a:solidFill>
                <a:latin typeface="Calibri"/>
              </a:rPr>
              <a:t>•     rendez-vous (entités, migration,</a:t>
            </a:r>
          </a:p>
          <a:p>
            <a:pPr algn="l">
              <a:spcBef>
                <a:spcPts val="0"/>
              </a:spcBef>
              <a:spcAft>
                <a:spcPts val="300"/>
              </a:spcAft>
            </a:pPr>
            <a:r>
              <a:rPr sz="1300" b="0">
                <a:solidFill>
                  <a:srgbClr val="404040"/>
                </a:solidFill>
                <a:latin typeface="Calibri"/>
              </a:rPr>
              <a:t>•     contrainte d'unicité), tableau de</a:t>
            </a:r>
          </a:p>
          <a:p>
            <a:pPr algn="l">
              <a:spcBef>
                <a:spcPts val="0"/>
              </a:spcBef>
              <a:spcAft>
                <a:spcPts val="300"/>
              </a:spcAft>
            </a:pPr>
            <a:r>
              <a:rPr sz="1300" b="0">
                <a:solidFill>
                  <a:srgbClr val="404040"/>
                </a:solidFill>
                <a:latin typeface="Calibri"/>
              </a:rPr>
              <a:t>•     bord et statistiques</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Difficulté : garantir qu'un créneau</a:t>
            </a:r>
          </a:p>
          <a:p>
            <a:pPr algn="l">
              <a:spcBef>
                <a:spcPts val="0"/>
              </a:spcBef>
              <a:spcAft>
                <a:spcPts val="300"/>
              </a:spcAft>
            </a:pPr>
            <a:r>
              <a:rPr sz="1300" b="0">
                <a:solidFill>
                  <a:srgbClr val="404040"/>
                </a:solidFill>
                <a:latin typeface="Calibri"/>
              </a:rPr>
              <a:t>•     ne soit jamais pris deux fois</a:t>
            </a:r>
          </a:p>
          <a:p>
            <a:pPr algn="l">
              <a:spcBef>
                <a:spcPts val="0"/>
              </a:spcBef>
              <a:spcAft>
                <a:spcPts val="300"/>
              </a:spcAft>
            </a:pPr>
            <a:r>
              <a:rPr sz="1300" b="0">
                <a:solidFill>
                  <a:srgbClr val="404040"/>
                </a:solidFill>
                <a:latin typeface="Calibri"/>
              </a:rPr>
              <a:t/>
            </a:r>
          </a:p>
          <a:p>
            <a:pPr algn="l">
              <a:spcBef>
                <a:spcPts val="0"/>
              </a:spcBef>
              <a:spcAft>
                <a:spcPts val="300"/>
              </a:spcAft>
            </a:pPr>
            <a:r>
              <a:rPr sz="1300" b="0">
                <a:solidFill>
                  <a:srgbClr val="404040"/>
                </a:solidFill>
                <a:latin typeface="Calibri"/>
              </a:rPr>
              <a:t>•  Solution : sortir la garantie du code</a:t>
            </a:r>
          </a:p>
          <a:p>
            <a:pPr algn="l">
              <a:spcBef>
                <a:spcPts val="0"/>
              </a:spcBef>
              <a:spcAft>
                <a:spcPts val="300"/>
              </a:spcAft>
            </a:pPr>
            <a:r>
              <a:rPr sz="1300" b="0">
                <a:solidFill>
                  <a:srgbClr val="404040"/>
                </a:solidFill>
                <a:latin typeface="Calibri"/>
              </a:rPr>
              <a:t>•     pour la poser en base, comme</a:t>
            </a:r>
          </a:p>
          <a:p>
            <a:pPr algn="l">
              <a:spcBef>
                <a:spcPts val="0"/>
              </a:spcBef>
              <a:spcAft>
                <a:spcPts val="300"/>
              </a:spcAft>
            </a:pPr>
            <a:r>
              <a:rPr sz="1300" b="0">
                <a:solidFill>
                  <a:srgbClr val="404040"/>
                </a:solidFill>
                <a:latin typeface="Calibri"/>
              </a:rPr>
              <a:t>•     contrainte d'unicité sur le créneau</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Chacun présente sa colonne</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à trois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214884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43000"/>
            <a:ext cx="10332720" cy="1005840"/>
          </a:xfrm>
          <a:prstGeom prst="rect">
            <a:avLst/>
          </a:prstGeom>
          <a:noFill/>
        </p:spPr>
        <p:txBody>
          <a:bodyPr wrap="square">
            <a:spAutoFit/>
          </a:bodyPr>
          <a:lstStyle/>
          <a:p>
            <a:pPr algn="ctr">
              <a:spcBef>
                <a:spcPts val="0"/>
              </a:spcBef>
              <a:spcAft>
                <a:spcPts val="0"/>
              </a:spcAft>
            </a:pPr>
            <a:r>
              <a:rPr sz="4600" b="1">
                <a:solidFill>
                  <a:srgbClr val="FFFFFF"/>
                </a:solidFill>
                <a:latin typeface="Calibri"/>
              </a:rPr>
              <a:t>MediPlan</a:t>
            </a:r>
          </a:p>
        </p:txBody>
      </p:sp>
      <p:sp>
        <p:nvSpPr>
          <p:cNvPr id="4" name="Rectangle 3"/>
          <p:cNvSpPr/>
          <p:nvPr/>
        </p:nvSpPr>
        <p:spPr>
          <a:xfrm>
            <a:off x="1280160" y="2606040"/>
            <a:ext cx="228600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679192"/>
            <a:ext cx="228600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8</a:t>
            </a:r>
          </a:p>
          <a:p>
            <a:pPr algn="ctr">
              <a:spcBef>
                <a:spcPts val="0"/>
              </a:spcBef>
              <a:spcAft>
                <a:spcPts val="0"/>
              </a:spcAft>
            </a:pPr>
            <a:r>
              <a:rPr sz="1300" b="0">
                <a:solidFill>
                  <a:srgbClr val="FFFFFF"/>
                </a:solidFill>
                <a:latin typeface="Calibri"/>
              </a:rPr>
              <a:t>Fonctionnalités livrées</a:t>
            </a:r>
          </a:p>
        </p:txBody>
      </p:sp>
      <p:sp>
        <p:nvSpPr>
          <p:cNvPr id="6" name="Rectangle 5"/>
          <p:cNvSpPr/>
          <p:nvPr/>
        </p:nvSpPr>
        <p:spPr>
          <a:xfrm>
            <a:off x="3794760" y="2606040"/>
            <a:ext cx="228600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94760" y="2679192"/>
            <a:ext cx="228600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186</a:t>
            </a:r>
          </a:p>
          <a:p>
            <a:pPr algn="ctr">
              <a:spcBef>
                <a:spcPts val="0"/>
              </a:spcBef>
              <a:spcAft>
                <a:spcPts val="0"/>
              </a:spcAft>
            </a:pPr>
            <a:r>
              <a:rPr sz="1300" b="0">
                <a:solidFill>
                  <a:srgbClr val="FFFFFF"/>
                </a:solidFill>
                <a:latin typeface="Calibri"/>
              </a:rPr>
              <a:t>Tests verts</a:t>
            </a:r>
          </a:p>
        </p:txBody>
      </p:sp>
      <p:sp>
        <p:nvSpPr>
          <p:cNvPr id="8" name="Rectangle 7"/>
          <p:cNvSpPr/>
          <p:nvPr/>
        </p:nvSpPr>
        <p:spPr>
          <a:xfrm>
            <a:off x="6309360" y="2606040"/>
            <a:ext cx="228600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2679192"/>
            <a:ext cx="228600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21</a:t>
            </a:r>
          </a:p>
          <a:p>
            <a:pPr algn="ctr">
              <a:spcBef>
                <a:spcPts val="0"/>
              </a:spcBef>
              <a:spcAft>
                <a:spcPts val="0"/>
              </a:spcAft>
            </a:pPr>
            <a:r>
              <a:rPr sz="1300" b="0">
                <a:solidFill>
                  <a:srgbClr val="FFFFFF"/>
                </a:solidFill>
                <a:latin typeface="Calibri"/>
              </a:rPr>
              <a:t>Pull requests</a:t>
            </a:r>
          </a:p>
        </p:txBody>
      </p:sp>
      <p:sp>
        <p:nvSpPr>
          <p:cNvPr id="10" name="Rectangle 9"/>
          <p:cNvSpPr/>
          <p:nvPr/>
        </p:nvSpPr>
        <p:spPr>
          <a:xfrm>
            <a:off x="8823960" y="2606040"/>
            <a:ext cx="228600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3960" y="2679192"/>
            <a:ext cx="228600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0 $</a:t>
            </a:r>
          </a:p>
          <a:p>
            <a:pPr algn="ctr">
              <a:spcBef>
                <a:spcPts val="0"/>
              </a:spcBef>
              <a:spcAft>
                <a:spcPts val="0"/>
              </a:spcAft>
            </a:pPr>
            <a:r>
              <a:rPr sz="1300" b="0">
                <a:solidFill>
                  <a:srgbClr val="FFFFFF"/>
                </a:solidFill>
                <a:latin typeface="Calibri"/>
              </a:rPr>
              <a:t>Coût mensuel</a:t>
            </a:r>
          </a:p>
        </p:txBody>
      </p:sp>
      <p:sp>
        <p:nvSpPr>
          <p:cNvPr id="12" name="TextBox 11"/>
          <p:cNvSpPr txBox="1"/>
          <p:nvPr/>
        </p:nvSpPr>
        <p:spPr>
          <a:xfrm>
            <a:off x="914400" y="4343400"/>
            <a:ext cx="10332720" cy="1463040"/>
          </a:xfrm>
          <a:prstGeom prst="rect">
            <a:avLst/>
          </a:prstGeom>
          <a:noFill/>
        </p:spPr>
        <p:txBody>
          <a:bodyPr wrap="square">
            <a:spAutoFit/>
          </a:bodyPr>
          <a:lstStyle/>
          <a:p>
            <a:pPr algn="ctr">
              <a:spcBef>
                <a:spcPts val="0"/>
              </a:spcBef>
              <a:spcAft>
                <a:spcPts val="1000"/>
              </a:spcAft>
            </a:pPr>
            <a:r>
              <a:rPr sz="2200" b="1">
                <a:solidFill>
                  <a:srgbClr val="FFFFFF"/>
                </a:solidFill>
                <a:latin typeface="Calibri"/>
              </a:rPr>
              <a:t>Une application en ligne, testée, reproductible en une commande.</a:t>
            </a:r>
          </a:p>
          <a:p>
            <a:pPr algn="ctr">
              <a:spcBef>
                <a:spcPts val="0"/>
              </a:spcBef>
              <a:spcAft>
                <a:spcPts val="1400"/>
              </a:spcAft>
            </a:pPr>
            <a:r>
              <a:rPr sz="1600" b="0">
                <a:solidFill>
                  <a:srgbClr val="CFE3FF"/>
                </a:solidFill>
                <a:latin typeface="Calibri"/>
              </a:rPr>
              <a:t>Souleymane DIALLO  ·  Zakaria Lahouiri  ·  Larbi Saib</a:t>
            </a:r>
          </a:p>
        </p:txBody>
      </p:sp>
      <p:sp>
        <p:nvSpPr>
          <p:cNvPr id="13" name="TextBox 12"/>
          <p:cNvSpPr txBox="1"/>
          <p:nvPr/>
        </p:nvSpPr>
        <p:spPr>
          <a:xfrm>
            <a:off x="914400" y="5806440"/>
            <a:ext cx="10332720" cy="640080"/>
          </a:xfrm>
          <a:prstGeom prst="rect">
            <a:avLst/>
          </a:prstGeom>
          <a:noFill/>
        </p:spPr>
        <p:txBody>
          <a:bodyPr wrap="square">
            <a:spAutoFit/>
          </a:bodyPr>
          <a:lstStyle/>
          <a:p>
            <a:pPr algn="ctr">
              <a:spcBef>
                <a:spcPts val="0"/>
              </a:spcBef>
              <a:spcAft>
                <a:spcPts val="0"/>
              </a:spcAft>
            </a:pPr>
            <a:r>
              <a:rPr sz="2000" b="0">
                <a:solidFill>
                  <a:srgbClr val="9FC8F5"/>
                </a:solidFill>
                <a:latin typeface="Calibri"/>
              </a:rPr>
              <a:t>Merci — nous répondons à vos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