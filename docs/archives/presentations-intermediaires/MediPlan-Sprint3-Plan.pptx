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Nous venons vous présenter notre plan de Sprint 3. Nous allons d'abord prendre deux minutes pour vous montrer où le projet en est concrètement, parce que ça explique le contenu du sprint que nous proposons. Ensuite nous verrons l'objectif, le backlog, la répartition et les risques. Environ dix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Commençons par l'état réel. Notre Sprint 2 est terminé, et il contient plus que l'authentification : nous avons quatre fonctionnalités livrées et fusionnées dans notre branche dev — pas juste codées sur un poste. L'authentification complète avec JWT, verrouillage de compte et RBAC ; le patient léger géré par la réception ; les disponibilités des médecins avec génération automatique des créneaux ; et la prise de rendez-vous par la réception avec le flux du jour. Nous pouvons vous le démontrer en direct : on se connecte, on ouvre l'agenda, on réserve un créneau, et il apparaît dans le flux du jour. Le cœur métier, l'anti-double-réservation, est garanti par un index unique en base et testé en concurrence. Nous avons 171 tests automatisés verts, et tout est promu sur main.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l'objectif : à la fin du sprint, la réception gère le cycle de vie complet d'un rendez-vous — le créer, l'annuler avec un motif, et l'équipe en est notifiée — et la clinique voit son activité réelle sur son tableau de bord. C'est la suite logique de ce que nous avons livré : aujourd'hui on sait créer un rendez-vous, mais pas encore l'annuler proprement. Quatre tickets en Must. L'annulation avec motif, qui libère le créneau. Les notifications internes. Les statistiques réelles, qui remplacent les compteurs provisoires. Et un ticket de sécurité : garantir qu'un patient léger ne peut jamais s'authentifier, et qu'on n'accède pas aux rendez-vous d'une autre clinique — nous manipulons des données de santé, nous ne voulions pas le repousser. Deux Should : le décalage en bloc, dont le code est écrit mais pas encore intégré, et l'interface modernisée. Nous assumons de sortir le reste : export CSV, intégration continue, déploiement et documentation partent au sprint de finalisation. Nous préférons un sprint tenu qu'un sprint ambitieux à moitié fait.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Côté répartition, chaque membre porte un engagement ferme, un Must, démontrable indépendamment. Souleymane prend l'annulation et le ticket de sécurité, plus l'interface en Should. Je prends les notifications internes — c'est déjà en cours — et la reprise du décalage en bloc. Larbi prend les statistiques réelles. Le séquençage vient d'une leçon du sprint précédent. Le ticket 22 touche le statut du rendez-vous : il passe seul et en premier. Ensuite les notifications et les statistiques avancent en parallèle, parce qu'ils ne se marchent pas dessus. La sécurité se fait en revue transverse à la fin. Nous avons identifié une dépendance bloquante : l'endpoint de statut doit d'abord accepter la valeur « annulé ». Sans ça, deux tickets sont bloqués. C'est donc le tout premier travail du sprint.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voulons être transparents sur un point : notre sprint précédent a mal commencé. Six branches ont vécu en parallèle sans jamais être fusionnées. Résultat : deux migrations créées sur le même horodatage, et le module de rendez-vous développé deux fois par deux personnes différentes. Il a fallu tout réintégrer à la main. C'est réglé, tout est dans dev et les tests sont verts, mais cela nous a coûté du temps. Il reste même une séquelle : le ticket 24, le décalage en bloc — le code est écrit, mais il n'est toujours pas intégré. En préparant ce sprint, nous l'avons rouvert honnêtement plutôt que de le laisser marqué terminé à tort. Nous en avons tiré six règles, appliquées dès ce sprint : le ticket qui touche la base passe seul et en premier ; aucune branche ne vit plus de trois jours sans PR ; on annonce les horodatages de migration ; un seul module par ticket ; on ne fusionne que si le lint, les tests et les migrations passent ; et on fait un point d'intégration au milieu du sprint, pas à la fin.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voulu être précis sur ce que « terminé » veut dire chez nous, parce que c'est exactement là que nous nous sommes fait piéger. Un ticket est terminé quand le code est fusionné dans dev — pas juste poussé sur une branche — quand le lint et les tests sont verts, quand les migrations passent sur une base neuve, quand les critères d'acceptation Jira sont vérifiés un par un, et quand la fonctionnalité est démontrable. La démo que nous viserons tient en un scénario : on réserve un rendez-vous, on l'annule avec un motif, on voit le créneau se libérer, la notification apparaître, et le compteur du tableau de bord bouger. Un seul scénario qui enchaîne cinq fonctionnalités. Ensuite, le Sprint 4 sera consacré à la finalisation : export CSV, intégration continue, déploiement, documentation des tests et réflexion UI/UX.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résumé : notre Sprint 2 est terminé avec quatre fonctionnalités livrées et intégrées ; le Sprint 3 a un objectif clair, le cycle de vie complet du rendez-vous, quatre tickets Must, un par personne, et des règles de travail tirées de nos erreurs. Nous sommes disponibles pour vos questions.</a:t>
            </a:r>
          </a:p>
          <a:p/>
          <a:p>
            <a:r>
              <a:t>Questions probables et réponses :</a:t>
            </a:r>
          </a:p>
          <a:p>
            <a:r>
              <a:t>— « Est-ce réaliste ? » → 4 Must, un par personne, aucun ticket partagé, et deux Should qui servent de variable d'ajustement.</a:t>
            </a:r>
          </a:p>
          <a:p>
            <a:r>
              <a:t>— « Quelles sont les dates du sprint ? » → À caler avec vous aujourd'hui, en visant la fin des cours pour garder le Sprint 4 de finalisation.</a:t>
            </a:r>
          </a:p>
          <a:p>
            <a:r>
              <a:t>— « Pourquoi le patient ne réserve-t-il pas lui-même ? » → Volontairement repoussé : nous avons priorisé la réception, qui est l'utilisateur réel du cahier des charges (le patient appelle au téléphone).</a:t>
            </a:r>
          </a:p>
          <a:p>
            <a:r>
              <a:t>— « Le ticket 24 était-il vraiment terminé ? » → Non, il était marqué terminé à tort : le code existe mais n'était pas intégré. Nous l'avons rouvert nous-mêmes en préparant ce sprint.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278892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332720" cy="1280160"/>
          </a:xfrm>
          <a:prstGeom prst="rect">
            <a:avLst/>
          </a:prstGeom>
          <a:noFill/>
        </p:spPr>
        <p:txBody>
          <a:bodyPr wrap="square">
            <a:spAutoFit/>
          </a:bodyPr>
          <a:lstStyle/>
          <a:p>
            <a:pPr algn="ctr">
              <a:spcBef>
                <a:spcPts val="0"/>
              </a:spcBef>
              <a:spcAft>
                <a:spcPts val="0"/>
              </a:spcAft>
            </a:pPr>
            <a:r>
              <a:rPr sz="6000" b="1">
                <a:solidFill>
                  <a:srgbClr val="FFFFFF"/>
                </a:solidFill>
                <a:latin typeface="Calibri"/>
              </a:rPr>
              <a:t>MediPlan</a:t>
            </a:r>
          </a:p>
        </p:txBody>
      </p:sp>
      <p:sp>
        <p:nvSpPr>
          <p:cNvPr id="4" name="TextBox 3"/>
          <p:cNvSpPr txBox="1"/>
          <p:nvPr/>
        </p:nvSpPr>
        <p:spPr>
          <a:xfrm>
            <a:off x="914400" y="2103120"/>
            <a:ext cx="10332720" cy="640080"/>
          </a:xfrm>
          <a:prstGeom prst="rect">
            <a:avLst/>
          </a:prstGeom>
          <a:noFill/>
        </p:spPr>
        <p:txBody>
          <a:bodyPr wrap="square">
            <a:spAutoFit/>
          </a:bodyPr>
          <a:lstStyle/>
          <a:p>
            <a:pPr algn="ctr">
              <a:spcBef>
                <a:spcPts val="0"/>
              </a:spcBef>
              <a:spcAft>
                <a:spcPts val="0"/>
              </a:spcAft>
            </a:pPr>
            <a:r>
              <a:rPr sz="2200" b="0">
                <a:solidFill>
                  <a:srgbClr val="CFE3FF"/>
                </a:solidFill>
                <a:latin typeface="Calibri"/>
              </a:rPr>
              <a:t>Plateforme web de gestion des rendez-vous médicaux</a:t>
            </a:r>
          </a:p>
        </p:txBody>
      </p:sp>
      <p:sp>
        <p:nvSpPr>
          <p:cNvPr id="5" name="TextBox 4"/>
          <p:cNvSpPr txBox="1"/>
          <p:nvPr/>
        </p:nvSpPr>
        <p:spPr>
          <a:xfrm>
            <a:off x="914400" y="3017520"/>
            <a:ext cx="10332720" cy="1280160"/>
          </a:xfrm>
          <a:prstGeom prst="rect">
            <a:avLst/>
          </a:prstGeom>
          <a:noFill/>
        </p:spPr>
        <p:txBody>
          <a:bodyPr wrap="square">
            <a:spAutoFit/>
          </a:bodyPr>
          <a:lstStyle/>
          <a:p>
            <a:pPr algn="ctr">
              <a:spcBef>
                <a:spcPts val="0"/>
              </a:spcBef>
              <a:spcAft>
                <a:spcPts val="800"/>
              </a:spcAft>
            </a:pPr>
            <a:r>
              <a:rPr sz="2800" b="1">
                <a:solidFill>
                  <a:srgbClr val="FFFFFF"/>
                </a:solidFill>
                <a:latin typeface="Calibri"/>
              </a:rPr>
              <a:t>Plan de Sprint 3</a:t>
            </a:r>
          </a:p>
          <a:p>
            <a:pPr algn="ctr">
              <a:spcBef>
                <a:spcPts val="0"/>
              </a:spcBef>
              <a:spcAft>
                <a:spcPts val="0"/>
              </a:spcAft>
            </a:pPr>
            <a:r>
              <a:rPr sz="1800" b="0">
                <a:solidFill>
                  <a:srgbClr val="9FC8F5"/>
                </a:solidFill>
                <a:latin typeface="Calibri"/>
              </a:rPr>
              <a:t>Le cycle de vie complet du rendez-vous — notre dernier gros sprint</a:t>
            </a:r>
          </a:p>
        </p:txBody>
      </p:sp>
      <p:sp>
        <p:nvSpPr>
          <p:cNvPr id="6" name="TextBox 5"/>
          <p:cNvSpPr txBox="1"/>
          <p:nvPr/>
        </p:nvSpPr>
        <p:spPr>
          <a:xfrm>
            <a:off x="914400" y="4937760"/>
            <a:ext cx="10332720" cy="1280160"/>
          </a:xfrm>
          <a:prstGeom prst="rect">
            <a:avLst/>
          </a:prstGeom>
          <a:noFill/>
        </p:spPr>
        <p:txBody>
          <a:bodyPr wrap="square">
            <a:spAutoFit/>
          </a:bodyPr>
          <a:lstStyle/>
          <a:p>
            <a:pPr algn="ctr">
              <a:spcBef>
                <a:spcPts val="0"/>
              </a:spcBef>
              <a:spcAft>
                <a:spcPts val="400"/>
              </a:spcAft>
            </a:pPr>
            <a:r>
              <a:rPr sz="1800" b="0">
                <a:solidFill>
                  <a:srgbClr val="FFFFFF"/>
                </a:solidFill>
                <a:latin typeface="Calibri"/>
              </a:rPr>
              <a:t>Équipe : Souleymane DIALLO  ·  Zakaria Lahouiri  ·  Larbi Saib</a:t>
            </a:r>
          </a:p>
          <a:p>
            <a:pPr algn="ctr">
              <a:spcBef>
                <a:spcPts val="0"/>
              </a:spcBef>
              <a:spcAft>
                <a:spcPts val="200"/>
              </a:spcAft>
            </a:pPr>
            <a:r>
              <a:rPr sz="1400" b="0">
                <a:solidFill>
                  <a:srgbClr val="9FC8F5"/>
                </a:solidFill>
                <a:latin typeface="Calibri"/>
              </a:rPr>
              <a:t>Projet intégrateur — Programmation informatique  ·  Collège La Cité  ·  Printemps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1</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Où en est le projet</a:t>
            </a:r>
          </a:p>
          <a:p>
            <a:pPr algn="l">
              <a:spcBef>
                <a:spcPts val="0"/>
              </a:spcBef>
              <a:spcAft>
                <a:spcPts val="0"/>
              </a:spcAft>
            </a:pPr>
            <a:r>
              <a:rPr sz="1400" b="0">
                <a:solidFill>
                  <a:srgbClr val="CFE3FF"/>
                </a:solidFill>
                <a:latin typeface="Calibri"/>
              </a:rPr>
              <a:t>Sprint 2 terminé — livré et intégré, pas seulement codé</a:t>
            </a:r>
          </a:p>
        </p:txBody>
      </p:sp>
      <p:sp>
        <p:nvSpPr>
          <p:cNvPr id="6" name="Rectangle 5"/>
          <p:cNvSpPr/>
          <p:nvPr/>
        </p:nvSpPr>
        <p:spPr>
          <a:xfrm>
            <a:off x="411480" y="1463040"/>
            <a:ext cx="2606040" cy="13716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4</a:t>
            </a:r>
          </a:p>
          <a:p>
            <a:pPr algn="ctr">
              <a:spcBef>
                <a:spcPts val="0"/>
              </a:spcBef>
              <a:spcAft>
                <a:spcPts val="0"/>
              </a:spcAft>
            </a:pPr>
            <a:r>
              <a:rPr sz="1300" b="0">
                <a:solidFill>
                  <a:srgbClr val="FFFFFF"/>
                </a:solidFill>
                <a:latin typeface="Calibri"/>
              </a:rPr>
              <a:t>Fonctionnalités livrées</a:t>
            </a:r>
          </a:p>
        </p:txBody>
      </p:sp>
      <p:sp>
        <p:nvSpPr>
          <p:cNvPr id="8" name="Rectangle 7"/>
          <p:cNvSpPr/>
          <p:nvPr/>
        </p:nvSpPr>
        <p:spPr>
          <a:xfrm>
            <a:off x="3246120" y="1463040"/>
            <a:ext cx="2606040" cy="13716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4612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171</a:t>
            </a:r>
          </a:p>
          <a:p>
            <a:pPr algn="ctr">
              <a:spcBef>
                <a:spcPts val="0"/>
              </a:spcBef>
              <a:spcAft>
                <a:spcPts val="0"/>
              </a:spcAft>
            </a:pPr>
            <a:r>
              <a:rPr sz="1300" b="0">
                <a:solidFill>
                  <a:srgbClr val="FFFFFF"/>
                </a:solidFill>
                <a:latin typeface="Calibri"/>
              </a:rPr>
              <a:t>Tests automatisés verts</a:t>
            </a:r>
          </a:p>
        </p:txBody>
      </p:sp>
      <p:sp>
        <p:nvSpPr>
          <p:cNvPr id="10" name="Rectangle 9"/>
          <p:cNvSpPr/>
          <p:nvPr/>
        </p:nvSpPr>
        <p:spPr>
          <a:xfrm>
            <a:off x="6080760" y="1463040"/>
            <a:ext cx="2606040" cy="13716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2</a:t>
            </a:r>
          </a:p>
          <a:p>
            <a:pPr algn="ctr">
              <a:spcBef>
                <a:spcPts val="0"/>
              </a:spcBef>
              <a:spcAft>
                <a:spcPts val="0"/>
              </a:spcAft>
            </a:pPr>
            <a:r>
              <a:rPr sz="1300" b="0">
                <a:solidFill>
                  <a:srgbClr val="FFFFFF"/>
                </a:solidFill>
                <a:latin typeface="Calibri"/>
              </a:rPr>
              <a:t>Sprints terminés</a:t>
            </a:r>
          </a:p>
        </p:txBody>
      </p:sp>
      <p:sp>
        <p:nvSpPr>
          <p:cNvPr id="12" name="Rectangle 11"/>
          <p:cNvSpPr/>
          <p:nvPr/>
        </p:nvSpPr>
        <p:spPr>
          <a:xfrm>
            <a:off x="8915400" y="1463040"/>
            <a:ext cx="2606040" cy="137160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15400" y="1536192"/>
            <a:ext cx="2606040" cy="1280160"/>
          </a:xfrm>
          <a:prstGeom prst="rect">
            <a:avLst/>
          </a:prstGeom>
          <a:noFill/>
        </p:spPr>
        <p:txBody>
          <a:bodyPr wrap="square" anchor="ctr">
            <a:spAutoFit/>
          </a:bodyPr>
          <a:lstStyle/>
          <a:p>
            <a:pPr algn="ctr">
              <a:spcBef>
                <a:spcPts val="0"/>
              </a:spcBef>
              <a:spcAft>
                <a:spcPts val="0"/>
              </a:spcAft>
            </a:pPr>
            <a:r>
              <a:rPr sz="4000" b="1">
                <a:solidFill>
                  <a:srgbClr val="FFFFFF"/>
                </a:solidFill>
                <a:latin typeface="Calibri"/>
              </a:rPr>
              <a:t>6</a:t>
            </a:r>
          </a:p>
          <a:p>
            <a:pPr algn="ctr">
              <a:spcBef>
                <a:spcPts val="0"/>
              </a:spcBef>
              <a:spcAft>
                <a:spcPts val="0"/>
              </a:spcAft>
            </a:pPr>
            <a:r>
              <a:rPr sz="1300" b="0">
                <a:solidFill>
                  <a:srgbClr val="FFFFFF"/>
                </a:solidFill>
                <a:latin typeface="Calibri"/>
              </a:rPr>
              <a:t>Tickets au Sprint 3</a:t>
            </a:r>
          </a:p>
        </p:txBody>
      </p:sp>
      <p:sp>
        <p:nvSpPr>
          <p:cNvPr id="14" name="Rectangle 13"/>
          <p:cNvSpPr/>
          <p:nvPr/>
        </p:nvSpPr>
        <p:spPr>
          <a:xfrm>
            <a:off x="411480" y="3063240"/>
            <a:ext cx="5577840" cy="31089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 y="3063240"/>
            <a:ext cx="76200" cy="31089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172968"/>
            <a:ext cx="5212080" cy="29260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Livré et fusionné dans dev (et promu sur main)</a:t>
            </a:r>
          </a:p>
          <a:p>
            <a:pPr algn="l">
              <a:spcBef>
                <a:spcPts val="0"/>
              </a:spcBef>
              <a:spcAft>
                <a:spcPts val="300"/>
              </a:spcAft>
            </a:pPr>
            <a:r>
              <a:rPr sz="1300" b="0">
                <a:solidFill>
                  <a:srgbClr val="404040"/>
                </a:solidFill>
                <a:latin typeface="Calibri"/>
              </a:rPr>
              <a:t>•  Authentification complète — MEDIPLAN-15, 16, 17</a:t>
            </a:r>
          </a:p>
          <a:p>
            <a:pPr algn="l">
              <a:spcBef>
                <a:spcPts val="0"/>
              </a:spcBef>
              <a:spcAft>
                <a:spcPts val="300"/>
              </a:spcAft>
            </a:pPr>
            <a:r>
              <a:rPr sz="1300" b="0">
                <a:solidFill>
                  <a:srgbClr val="404040"/>
                </a:solidFill>
                <a:latin typeface="Calibri"/>
              </a:rPr>
              <a:t>•     inscription, connexion JWT, verrouillage de compte,</a:t>
            </a:r>
          </a:p>
          <a:p>
            <a:pPr algn="l">
              <a:spcBef>
                <a:spcPts val="0"/>
              </a:spcBef>
              <a:spcAft>
                <a:spcPts val="300"/>
              </a:spcAft>
            </a:pPr>
            <a:r>
              <a:rPr sz="1300" b="0">
                <a:solidFill>
                  <a:srgbClr val="404040"/>
                </a:solidFill>
                <a:latin typeface="Calibri"/>
              </a:rPr>
              <a:t>•     réinitialisation du mot de passe, RBAC à 4 rôles</a:t>
            </a:r>
          </a:p>
          <a:p>
            <a:pPr algn="l">
              <a:spcBef>
                <a:spcPts val="0"/>
              </a:spcBef>
              <a:spcAft>
                <a:spcPts val="300"/>
              </a:spcAft>
            </a:pPr>
            <a:r>
              <a:rPr sz="1300" b="0">
                <a:solidFill>
                  <a:srgbClr val="404040"/>
                </a:solidFill>
                <a:latin typeface="Calibri"/>
              </a:rPr>
              <a:t>•  Patient léger, géré par la réception — MEDIPLAN-35</a:t>
            </a:r>
          </a:p>
          <a:p>
            <a:pPr algn="l">
              <a:spcBef>
                <a:spcPts val="0"/>
              </a:spcBef>
              <a:spcAft>
                <a:spcPts val="300"/>
              </a:spcAft>
            </a:pPr>
            <a:r>
              <a:rPr sz="1300" b="0">
                <a:solidFill>
                  <a:srgbClr val="404040"/>
                </a:solidFill>
                <a:latin typeface="Calibri"/>
              </a:rPr>
              <a:t>•  Disponibilités médecins + génération des créneaux — MEDIPLAN-20</a:t>
            </a:r>
          </a:p>
          <a:p>
            <a:pPr algn="l">
              <a:spcBef>
                <a:spcPts val="0"/>
              </a:spcBef>
              <a:spcAft>
                <a:spcPts val="300"/>
              </a:spcAft>
            </a:pPr>
            <a:r>
              <a:rPr sz="1300" b="0">
                <a:solidFill>
                  <a:srgbClr val="404040"/>
                </a:solidFill>
                <a:latin typeface="Calibri"/>
              </a:rPr>
              <a:t>•  Prise de RDV par la réception + flux du jour — MEDIPLAN-21, 36, 23</a:t>
            </a:r>
          </a:p>
          <a:p>
            <a:pPr algn="l">
              <a:spcBef>
                <a:spcPts val="0"/>
              </a:spcBef>
              <a:spcAft>
                <a:spcPts val="300"/>
              </a:spcAft>
            </a:pPr>
            <a:r>
              <a:rPr sz="1300" b="0">
                <a:solidFill>
                  <a:srgbClr val="404040"/>
                </a:solidFill>
                <a:latin typeface="Calibri"/>
              </a:rPr>
              <a:t>•  Socle technique RDV + index anti-double-booking — MEDIPLAN-49</a:t>
            </a:r>
          </a:p>
        </p:txBody>
      </p:sp>
      <p:sp>
        <p:nvSpPr>
          <p:cNvPr id="17" name="Rectangle 16"/>
          <p:cNvSpPr/>
          <p:nvPr/>
        </p:nvSpPr>
        <p:spPr>
          <a:xfrm>
            <a:off x="6172200" y="3063240"/>
            <a:ext cx="5577840" cy="31089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063240"/>
            <a:ext cx="76200" cy="31089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172968"/>
            <a:ext cx="5212080" cy="29260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Nos preuves (montrées à l'écran)</a:t>
            </a:r>
          </a:p>
          <a:p>
            <a:pPr algn="l">
              <a:spcBef>
                <a:spcPts val="0"/>
              </a:spcBef>
              <a:spcAft>
                <a:spcPts val="300"/>
              </a:spcAft>
            </a:pPr>
            <a:r>
              <a:rPr sz="1300" b="0">
                <a:solidFill>
                  <a:srgbClr val="404040"/>
                </a:solidFill>
                <a:latin typeface="Calibri"/>
              </a:rPr>
              <a:t>•  Jira : tableaux Sprint 1 et Sprint 2, tickets en « Terminé »</a:t>
            </a:r>
          </a:p>
          <a:p>
            <a:pPr algn="l">
              <a:spcBef>
                <a:spcPts val="0"/>
              </a:spcBef>
              <a:spcAft>
                <a:spcPts val="300"/>
              </a:spcAft>
            </a:pPr>
            <a:r>
              <a:rPr sz="1300" b="0">
                <a:solidFill>
                  <a:srgbClr val="404040"/>
                </a:solidFill>
                <a:latin typeface="Calibri"/>
              </a:rPr>
              <a:t>•  GitHub : branche dev = main, merges 71cb40f puis 38400da</a:t>
            </a:r>
          </a:p>
          <a:p>
            <a:pPr algn="l">
              <a:spcBef>
                <a:spcPts val="0"/>
              </a:spcBef>
              <a:spcAft>
                <a:spcPts val="300"/>
              </a:spcAft>
            </a:pPr>
            <a:r>
              <a:rPr sz="1300" b="0">
                <a:solidFill>
                  <a:srgbClr val="404040"/>
                </a:solidFill>
                <a:latin typeface="Calibri"/>
              </a:rPr>
              <a:t>•  Tests : 48 backend + 123 frontend, tous verts</a:t>
            </a:r>
          </a:p>
          <a:p>
            <a:pPr algn="l">
              <a:spcBef>
                <a:spcPts val="0"/>
              </a:spcBef>
              <a:spcAft>
                <a:spcPts val="300"/>
              </a:spcAft>
            </a:pPr>
            <a:r>
              <a:rPr sz="1300" b="0">
                <a:solidFill>
                  <a:srgbClr val="404040"/>
                </a:solidFill>
                <a:latin typeface="Calibri"/>
              </a:rPr>
              <a:t>•  Démo live : connexion → agenda → réservation → flux du jour</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Le cœur métier anti-double-réservation (OM-04) est garanti</a:t>
            </a:r>
          </a:p>
          <a:p>
            <a:pPr algn="l">
              <a:spcBef>
                <a:spcPts val="0"/>
              </a:spcBef>
              <a:spcAft>
                <a:spcPts val="300"/>
              </a:spcAft>
            </a:pPr>
            <a:r>
              <a:rPr sz="1300" b="0">
                <a:solidFill>
                  <a:srgbClr val="404040"/>
                </a:solidFill>
                <a:latin typeface="Calibri"/>
              </a:rPr>
              <a:t>•     par un index unique partiel en base, testé en concurrence</a:t>
            </a:r>
          </a:p>
        </p:txBody>
      </p:sp>
      <p:sp>
        <p:nvSpPr>
          <p:cNvPr id="20" name="TextBox 19"/>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21" name="TextBox 20"/>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2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2</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Objectif et backlog du Sprint 3</a:t>
            </a:r>
          </a:p>
          <a:p>
            <a:pPr algn="l">
              <a:spcBef>
                <a:spcPts val="0"/>
              </a:spcBef>
              <a:spcAft>
                <a:spcPts val="0"/>
              </a:spcAft>
            </a:pPr>
            <a:r>
              <a:rPr sz="1400" b="0">
                <a:solidFill>
                  <a:srgbClr val="CFE3FF"/>
                </a:solidFill>
                <a:latin typeface="Calibri"/>
              </a:rPr>
              <a:t>Priorisation MoSCoW — notre dernier gros sprint</a:t>
            </a:r>
          </a:p>
        </p:txBody>
      </p:sp>
      <p:sp>
        <p:nvSpPr>
          <p:cNvPr id="6" name="Rectangle 5"/>
          <p:cNvSpPr/>
          <p:nvPr/>
        </p:nvSpPr>
        <p:spPr>
          <a:xfrm>
            <a:off x="411480" y="1463040"/>
            <a:ext cx="11338560" cy="10058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72768"/>
            <a:ext cx="10789920" cy="868680"/>
          </a:xfrm>
          <a:prstGeom prst="rect">
            <a:avLst/>
          </a:prstGeom>
          <a:noFill/>
        </p:spPr>
        <p:txBody>
          <a:bodyPr wrap="square" anchor="ctr">
            <a:spAutoFit/>
          </a:bodyPr>
          <a:lstStyle/>
          <a:p>
            <a:pPr algn="l">
              <a:spcBef>
                <a:spcPts val="0"/>
              </a:spcBef>
              <a:spcAft>
                <a:spcPts val="200"/>
              </a:spcAft>
            </a:pPr>
            <a:r>
              <a:rPr sz="1200" b="1">
                <a:solidFill>
                  <a:srgbClr val="CFE3FF"/>
                </a:solidFill>
                <a:latin typeface="Calibri"/>
              </a:rPr>
              <a:t>Objectif du sprint</a:t>
            </a:r>
          </a:p>
          <a:p>
            <a:pPr algn="l">
              <a:spcBef>
                <a:spcPts val="0"/>
              </a:spcBef>
              <a:spcAft>
                <a:spcPts val="0"/>
              </a:spcAft>
            </a:pPr>
            <a:r>
              <a:rPr sz="1600" b="1">
                <a:solidFill>
                  <a:srgbClr val="FFFFFF"/>
                </a:solidFill>
                <a:latin typeface="Calibri"/>
              </a:rPr>
              <a:t>La réception gère le cycle de vie complet d'un rendez-vous — création, annulation motivée, notification à l'équipe — et la clinique lit son activité réelle.</a:t>
            </a:r>
          </a:p>
        </p:txBody>
      </p:sp>
      <p:sp>
        <p:nvSpPr>
          <p:cNvPr id="8" name="Rectangle 7"/>
          <p:cNvSpPr/>
          <p:nvPr/>
        </p:nvSpPr>
        <p:spPr>
          <a:xfrm>
            <a:off x="411480" y="2697480"/>
            <a:ext cx="7772400" cy="3474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2697480"/>
            <a:ext cx="76200" cy="347472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807208"/>
            <a:ext cx="7406640" cy="329184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Backlog priorisé</a:t>
            </a:r>
          </a:p>
          <a:p>
            <a:pPr algn="l">
              <a:spcBef>
                <a:spcPts val="0"/>
              </a:spcBef>
              <a:spcAft>
                <a:spcPts val="300"/>
              </a:spcAft>
            </a:pPr>
            <a:r>
              <a:rPr sz="1300" b="0">
                <a:solidFill>
                  <a:srgbClr val="404040"/>
                </a:solidFill>
                <a:latin typeface="Calibri"/>
              </a:rPr>
              <a:t>•  MUST · MEDIPLAN-22 — Annuler un RDV avec motif obligatoire, libère le créneau</a:t>
            </a:r>
          </a:p>
          <a:p>
            <a:pPr algn="l">
              <a:spcBef>
                <a:spcPts val="0"/>
              </a:spcBef>
              <a:spcAft>
                <a:spcPts val="300"/>
              </a:spcAft>
            </a:pPr>
            <a:r>
              <a:rPr sz="1300" b="0">
                <a:solidFill>
                  <a:srgbClr val="404040"/>
                </a:solidFill>
                <a:latin typeface="Calibri"/>
              </a:rPr>
              <a:t>•  MUST · MEDIPLAN-25 — Notifications internes sur les changements de RDV</a:t>
            </a:r>
          </a:p>
          <a:p>
            <a:pPr algn="l">
              <a:spcBef>
                <a:spcPts val="0"/>
              </a:spcBef>
              <a:spcAft>
                <a:spcPts val="300"/>
              </a:spcAft>
            </a:pPr>
            <a:r>
              <a:rPr sz="1300" b="0">
                <a:solidFill>
                  <a:srgbClr val="404040"/>
                </a:solidFill>
                <a:latin typeface="Calibri"/>
              </a:rPr>
              <a:t>•  MUST · MEDIPLAN-26 — Statistiques réelles (remplacent les compteurs provisoires)</a:t>
            </a:r>
          </a:p>
          <a:p>
            <a:pPr algn="l">
              <a:spcBef>
                <a:spcPts val="0"/>
              </a:spcBef>
              <a:spcAft>
                <a:spcPts val="300"/>
              </a:spcAft>
            </a:pPr>
            <a:r>
              <a:rPr sz="1300" b="0">
                <a:solidFill>
                  <a:srgbClr val="404040"/>
                </a:solidFill>
                <a:latin typeface="Calibri"/>
              </a:rPr>
              <a:t>•  MUST · MEDIPLAN-50 — Sécurité RDV : patient léger non authentifiable,</a:t>
            </a:r>
          </a:p>
          <a:p>
            <a:pPr algn="l">
              <a:spcBef>
                <a:spcPts val="0"/>
              </a:spcBef>
              <a:spcAft>
                <a:spcPts val="300"/>
              </a:spcAft>
            </a:pPr>
            <a:r>
              <a:rPr sz="1300" b="0">
                <a:solidFill>
                  <a:srgbClr val="404040"/>
                </a:solidFill>
                <a:latin typeface="Calibri"/>
              </a:rPr>
              <a:t>•          cloisonnement des cliniques</a:t>
            </a:r>
          </a:p>
          <a:p>
            <a:pPr algn="l">
              <a:spcBef>
                <a:spcPts val="0"/>
              </a:spcBef>
              <a:spcAft>
                <a:spcPts val="300"/>
              </a:spcAft>
            </a:pPr>
            <a:r>
              <a:rPr sz="1300" b="0">
                <a:solidFill>
                  <a:srgbClr val="404040"/>
                </a:solidFill>
                <a:latin typeface="Calibri"/>
              </a:rPr>
              <a:t>•  SHOULD · MEDIPLAN-24 — Décaler en bloc les RDV (code écrit, reste à intégrer)</a:t>
            </a:r>
          </a:p>
          <a:p>
            <a:pPr algn="l">
              <a:spcBef>
                <a:spcPts val="0"/>
              </a:spcBef>
              <a:spcAft>
                <a:spcPts val="300"/>
              </a:spcAft>
            </a:pPr>
            <a:r>
              <a:rPr sz="1300" b="0">
                <a:solidFill>
                  <a:srgbClr val="404040"/>
                </a:solidFill>
                <a:latin typeface="Calibri"/>
              </a:rPr>
              <a:t>•  SHOULD · MEDIPLAN-51 — Interface modernisée (palette clinique, typographie)</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Un Must par personne. Les Should servent de variable d'ajustement.</a:t>
            </a:r>
          </a:p>
        </p:txBody>
      </p:sp>
      <p:sp>
        <p:nvSpPr>
          <p:cNvPr id="11" name="Rectangle 10"/>
          <p:cNvSpPr/>
          <p:nvPr/>
        </p:nvSpPr>
        <p:spPr>
          <a:xfrm>
            <a:off x="8366760" y="2697480"/>
            <a:ext cx="3383280" cy="34747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66760" y="2697480"/>
            <a:ext cx="76200" cy="3474720"/>
          </a:xfrm>
          <a:prstGeom prst="rect">
            <a:avLst/>
          </a:prstGeom>
          <a:solidFill>
            <a:srgbClr val="404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2807208"/>
            <a:ext cx="3017520" cy="3291840"/>
          </a:xfrm>
          <a:prstGeom prst="rect">
            <a:avLst/>
          </a:prstGeom>
          <a:noFill/>
        </p:spPr>
        <p:txBody>
          <a:bodyPr wrap="square">
            <a:spAutoFit/>
          </a:bodyPr>
          <a:lstStyle/>
          <a:p>
            <a:pPr algn="l">
              <a:spcBef>
                <a:spcPts val="0"/>
              </a:spcBef>
              <a:spcAft>
                <a:spcPts val="400"/>
              </a:spcAft>
            </a:pPr>
            <a:r>
              <a:rPr sz="1600" b="1">
                <a:solidFill>
                  <a:srgbClr val="404040"/>
                </a:solidFill>
                <a:latin typeface="Calibri"/>
              </a:rPr>
              <a:t>Hors périmètre — assumé</a:t>
            </a:r>
          </a:p>
          <a:p>
            <a:pPr algn="l">
              <a:spcBef>
                <a:spcPts val="0"/>
              </a:spcBef>
              <a:spcAft>
                <a:spcPts val="300"/>
              </a:spcAft>
            </a:pPr>
            <a:r>
              <a:rPr sz="1300" b="0">
                <a:solidFill>
                  <a:srgbClr val="404040"/>
                </a:solidFill>
                <a:latin typeface="Calibri"/>
              </a:rPr>
              <a:t>•  Export CSV (27)</a:t>
            </a:r>
          </a:p>
          <a:p>
            <a:pPr algn="l">
              <a:spcBef>
                <a:spcPts val="0"/>
              </a:spcBef>
              <a:spcAft>
                <a:spcPts val="300"/>
              </a:spcAft>
            </a:pPr>
            <a:r>
              <a:rPr sz="1300" b="0">
                <a:solidFill>
                  <a:srgbClr val="404040"/>
                </a:solidFill>
                <a:latin typeface="Calibri"/>
              </a:rPr>
              <a:t>•  CI GitHub Actions (30)</a:t>
            </a:r>
          </a:p>
          <a:p>
            <a:pPr algn="l">
              <a:spcBef>
                <a:spcPts val="0"/>
              </a:spcBef>
              <a:spcAft>
                <a:spcPts val="300"/>
              </a:spcAft>
            </a:pPr>
            <a:r>
              <a:rPr sz="1300" b="0">
                <a:solidFill>
                  <a:srgbClr val="404040"/>
                </a:solidFill>
                <a:latin typeface="Calibri"/>
              </a:rPr>
              <a:t>•  Déploiement Railway (40)</a:t>
            </a:r>
          </a:p>
          <a:p>
            <a:pPr algn="l">
              <a:spcBef>
                <a:spcPts val="0"/>
              </a:spcBef>
              <a:spcAft>
                <a:spcPts val="300"/>
              </a:spcAft>
            </a:pPr>
            <a:r>
              <a:rPr sz="1300" b="0">
                <a:solidFill>
                  <a:srgbClr val="404040"/>
                </a:solidFill>
                <a:latin typeface="Calibri"/>
              </a:rPr>
              <a:t>•  Documentation des tests</a:t>
            </a:r>
          </a:p>
          <a:p>
            <a:pPr algn="l">
              <a:spcBef>
                <a:spcPts val="0"/>
              </a:spcBef>
              <a:spcAft>
                <a:spcPts val="300"/>
              </a:spcAft>
            </a:pPr>
            <a:r>
              <a:rPr sz="1300" b="0">
                <a:solidFill>
                  <a:srgbClr val="404040"/>
                </a:solidFill>
                <a:latin typeface="Calibri"/>
              </a:rPr>
              <a:t>•  Réflexion UI/UX</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 tout cela au Sprint 4</a:t>
            </a:r>
          </a:p>
          <a:p>
            <a:pPr algn="l">
              <a:spcBef>
                <a:spcPts val="0"/>
              </a:spcBef>
              <a:spcAft>
                <a:spcPts val="300"/>
              </a:spcAft>
            </a:pPr>
            <a:r>
              <a:rPr sz="1300" b="0">
                <a:solidFill>
                  <a:srgbClr val="404040"/>
                </a:solidFill>
                <a:latin typeface="Calibri"/>
              </a:rPr>
              <a:t>•     de finalisation</a:t>
            </a:r>
          </a:p>
        </p:txBody>
      </p:sp>
      <p:sp>
        <p:nvSpPr>
          <p:cNvPr id="14" name="TextBox 13"/>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Souleymane</a:t>
            </a:r>
          </a:p>
        </p:txBody>
      </p:sp>
      <p:sp>
        <p:nvSpPr>
          <p:cNvPr id="15" name="TextBox 14"/>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2 min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3</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Répartition et séquençage</a:t>
            </a:r>
          </a:p>
          <a:p>
            <a:pPr algn="l">
              <a:spcBef>
                <a:spcPts val="0"/>
              </a:spcBef>
              <a:spcAft>
                <a:spcPts val="0"/>
              </a:spcAft>
            </a:pPr>
            <a:r>
              <a:rPr sz="1400" b="0">
                <a:solidFill>
                  <a:srgbClr val="CFE3FF"/>
                </a:solidFill>
                <a:latin typeface="Calibri"/>
              </a:rPr>
              <a:t>Un engagement ferme par membre</a:t>
            </a:r>
          </a:p>
        </p:txBody>
      </p:sp>
      <p:sp>
        <p:nvSpPr>
          <p:cNvPr id="6" name="Rectangle 5"/>
          <p:cNvSpPr/>
          <p:nvPr/>
        </p:nvSpPr>
        <p:spPr>
          <a:xfrm>
            <a:off x="411480" y="1554480"/>
            <a:ext cx="3657600" cy="23774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237744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3291840" cy="219456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Souleymane DIALLO</a:t>
            </a:r>
          </a:p>
          <a:p>
            <a:pPr algn="l">
              <a:spcBef>
                <a:spcPts val="0"/>
              </a:spcBef>
              <a:spcAft>
                <a:spcPts val="300"/>
              </a:spcAft>
            </a:pPr>
            <a:r>
              <a:rPr sz="1300" b="0">
                <a:solidFill>
                  <a:srgbClr val="404040"/>
                </a:solidFill>
                <a:latin typeface="Calibri"/>
              </a:rPr>
              <a:t>•  MEDIPLAN-22 — annulation (Must)</a:t>
            </a:r>
          </a:p>
          <a:p>
            <a:pPr algn="l">
              <a:spcBef>
                <a:spcPts val="0"/>
              </a:spcBef>
              <a:spcAft>
                <a:spcPts val="300"/>
              </a:spcAft>
            </a:pPr>
            <a:r>
              <a:rPr sz="1300" b="0">
                <a:solidFill>
                  <a:srgbClr val="404040"/>
                </a:solidFill>
                <a:latin typeface="Calibri"/>
              </a:rPr>
              <a:t>•  MEDIPLAN-50 — sécurité RDV (Must)</a:t>
            </a:r>
          </a:p>
          <a:p>
            <a:pPr algn="l">
              <a:spcBef>
                <a:spcPts val="0"/>
              </a:spcBef>
              <a:spcAft>
                <a:spcPts val="300"/>
              </a:spcAft>
            </a:pPr>
            <a:r>
              <a:rPr sz="1300" b="0">
                <a:solidFill>
                  <a:srgbClr val="404040"/>
                </a:solidFill>
                <a:latin typeface="Calibri"/>
              </a:rPr>
              <a:t>•  MEDIPLAN-51 — interface (Should)</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Rôle : pilotage, intégration</a:t>
            </a:r>
          </a:p>
        </p:txBody>
      </p:sp>
      <p:sp>
        <p:nvSpPr>
          <p:cNvPr id="9" name="Rectangle 8"/>
          <p:cNvSpPr/>
          <p:nvPr/>
        </p:nvSpPr>
        <p:spPr>
          <a:xfrm>
            <a:off x="4251960" y="1554480"/>
            <a:ext cx="3657600" cy="23774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51960" y="1554480"/>
            <a:ext cx="76200" cy="237744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664208"/>
            <a:ext cx="3291840" cy="219456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Zakaria Lahouiri</a:t>
            </a:r>
          </a:p>
          <a:p>
            <a:pPr algn="l">
              <a:spcBef>
                <a:spcPts val="0"/>
              </a:spcBef>
              <a:spcAft>
                <a:spcPts val="300"/>
              </a:spcAft>
            </a:pPr>
            <a:r>
              <a:rPr sz="1300" b="0">
                <a:solidFill>
                  <a:srgbClr val="404040"/>
                </a:solidFill>
                <a:latin typeface="Calibri"/>
              </a:rPr>
              <a:t>•  MEDIPLAN-25 — notifications</a:t>
            </a:r>
          </a:p>
          <a:p>
            <a:pPr algn="l">
              <a:spcBef>
                <a:spcPts val="0"/>
              </a:spcBef>
              <a:spcAft>
                <a:spcPts val="300"/>
              </a:spcAft>
            </a:pPr>
            <a:r>
              <a:rPr sz="1300" b="0">
                <a:solidFill>
                  <a:srgbClr val="404040"/>
                </a:solidFill>
                <a:latin typeface="Calibri"/>
              </a:rPr>
              <a:t>•     internes (Must) — En cours</a:t>
            </a:r>
          </a:p>
          <a:p>
            <a:pPr algn="l">
              <a:spcBef>
                <a:spcPts val="0"/>
              </a:spcBef>
              <a:spcAft>
                <a:spcPts val="300"/>
              </a:spcAft>
            </a:pPr>
            <a:r>
              <a:rPr sz="1300" b="0">
                <a:solidFill>
                  <a:srgbClr val="404040"/>
                </a:solidFill>
                <a:latin typeface="Calibri"/>
              </a:rPr>
              <a:t>•  MEDIPLAN-24 — décalage en bloc</a:t>
            </a:r>
          </a:p>
          <a:p>
            <a:pPr algn="l">
              <a:spcBef>
                <a:spcPts val="0"/>
              </a:spcBef>
              <a:spcAft>
                <a:spcPts val="300"/>
              </a:spcAft>
            </a:pPr>
            <a:r>
              <a:rPr sz="1300" b="0">
                <a:solidFill>
                  <a:srgbClr val="404040"/>
                </a:solidFill>
                <a:latin typeface="Calibri"/>
              </a:rPr>
              <a:t>•     (Should) — à intégrer</a:t>
            </a:r>
          </a:p>
        </p:txBody>
      </p:sp>
      <p:sp>
        <p:nvSpPr>
          <p:cNvPr id="12" name="Rectangle 11"/>
          <p:cNvSpPr/>
          <p:nvPr/>
        </p:nvSpPr>
        <p:spPr>
          <a:xfrm>
            <a:off x="8092440" y="1554480"/>
            <a:ext cx="3657600" cy="237744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92440" y="1554480"/>
            <a:ext cx="76200" cy="237744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1664208"/>
            <a:ext cx="3291840" cy="219456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Larbi Saib</a:t>
            </a:r>
          </a:p>
          <a:p>
            <a:pPr algn="l">
              <a:spcBef>
                <a:spcPts val="0"/>
              </a:spcBef>
              <a:spcAft>
                <a:spcPts val="300"/>
              </a:spcAft>
            </a:pPr>
            <a:r>
              <a:rPr sz="1300" b="0">
                <a:solidFill>
                  <a:srgbClr val="404040"/>
                </a:solidFill>
                <a:latin typeface="Calibri"/>
              </a:rPr>
              <a:t>•  MEDIPLAN-26 — statistiques et</a:t>
            </a:r>
          </a:p>
          <a:p>
            <a:pPr algn="l">
              <a:spcBef>
                <a:spcPts val="0"/>
              </a:spcBef>
              <a:spcAft>
                <a:spcPts val="300"/>
              </a:spcAft>
            </a:pPr>
            <a:r>
              <a:rPr sz="1300" b="0">
                <a:solidFill>
                  <a:srgbClr val="404040"/>
                </a:solidFill>
                <a:latin typeface="Calibri"/>
              </a:rPr>
              <a:t>•     KPI réels (Must)</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Retire les compteurs provisoires</a:t>
            </a:r>
          </a:p>
          <a:p>
            <a:pPr algn="l">
              <a:spcBef>
                <a:spcPts val="0"/>
              </a:spcBef>
              <a:spcAft>
                <a:spcPts val="300"/>
              </a:spcAft>
            </a:pPr>
            <a:r>
              <a:rPr sz="1300" b="0">
                <a:solidFill>
                  <a:srgbClr val="404040"/>
                </a:solidFill>
                <a:latin typeface="Calibri"/>
              </a:rPr>
              <a:t>•  du tableau de bord</a:t>
            </a:r>
          </a:p>
        </p:txBody>
      </p:sp>
      <p:sp>
        <p:nvSpPr>
          <p:cNvPr id="15" name="Rectangle 14"/>
          <p:cNvSpPr/>
          <p:nvPr/>
        </p:nvSpPr>
        <p:spPr>
          <a:xfrm>
            <a:off x="411480" y="4114800"/>
            <a:ext cx="6766560" cy="20574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11480" y="4114800"/>
            <a:ext cx="76200" cy="20574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24528"/>
            <a:ext cx="6400800" cy="187452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Séquençage — chaque palier est démontrable</a:t>
            </a:r>
          </a:p>
          <a:p>
            <a:pPr algn="l">
              <a:spcBef>
                <a:spcPts val="0"/>
              </a:spcBef>
              <a:spcAft>
                <a:spcPts val="300"/>
              </a:spcAft>
            </a:pPr>
            <a:r>
              <a:rPr sz="1300" b="0">
                <a:solidFill>
                  <a:srgbClr val="404040"/>
                </a:solidFill>
                <a:latin typeface="Calibri"/>
              </a:rPr>
              <a:t>•  PR-1  ·  MEDIPLAN-22 passe SEUL et EN PREMIER (il touche le statut du RDV)</a:t>
            </a:r>
          </a:p>
          <a:p>
            <a:pPr algn="l">
              <a:spcBef>
                <a:spcPts val="0"/>
              </a:spcBef>
              <a:spcAft>
                <a:spcPts val="300"/>
              </a:spcAft>
            </a:pPr>
            <a:r>
              <a:rPr sz="1300" b="0">
                <a:solidFill>
                  <a:srgbClr val="404040"/>
                </a:solidFill>
                <a:latin typeface="Calibri"/>
              </a:rPr>
              <a:t>•  PR-2  ·  MEDIPLAN-25 — dépend de l'événement d'annulation</a:t>
            </a:r>
          </a:p>
          <a:p>
            <a:pPr algn="l">
              <a:spcBef>
                <a:spcPts val="0"/>
              </a:spcBef>
              <a:spcAft>
                <a:spcPts val="300"/>
              </a:spcAft>
            </a:pPr>
            <a:r>
              <a:rPr sz="1300" b="0">
                <a:solidFill>
                  <a:srgbClr val="404040"/>
                </a:solidFill>
                <a:latin typeface="Calibri"/>
              </a:rPr>
              <a:t>•  PR-3  ·  MEDIPLAN-26 — en parallèle (lecture seule, pas de conflit)</a:t>
            </a:r>
          </a:p>
          <a:p>
            <a:pPr algn="l">
              <a:spcBef>
                <a:spcPts val="0"/>
              </a:spcBef>
              <a:spcAft>
                <a:spcPts val="300"/>
              </a:spcAft>
            </a:pPr>
            <a:r>
              <a:rPr sz="1300" b="0">
                <a:solidFill>
                  <a:srgbClr val="404040"/>
                </a:solidFill>
                <a:latin typeface="Calibri"/>
              </a:rPr>
              <a:t>•  PR-4  ·  MEDIPLAN-50 — revue de sécurité transverse, en fin de sprint</a:t>
            </a:r>
          </a:p>
          <a:p>
            <a:pPr algn="l">
              <a:spcBef>
                <a:spcPts val="0"/>
              </a:spcBef>
              <a:spcAft>
                <a:spcPts val="300"/>
              </a:spcAft>
            </a:pPr>
            <a:r>
              <a:rPr sz="1300" b="0">
                <a:solidFill>
                  <a:srgbClr val="404040"/>
                </a:solidFill>
                <a:latin typeface="Calibri"/>
              </a:rPr>
              <a:t>•  PR-UI ·  MEDIPLAN-51 — fusionnée tôt, pour éviter les conflits de styles</a:t>
            </a:r>
          </a:p>
        </p:txBody>
      </p:sp>
      <p:sp>
        <p:nvSpPr>
          <p:cNvPr id="18" name="Rectangle 17"/>
          <p:cNvSpPr/>
          <p:nvPr/>
        </p:nvSpPr>
        <p:spPr>
          <a:xfrm>
            <a:off x="7360920" y="4114800"/>
            <a:ext cx="4389120" cy="20574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4114800"/>
            <a:ext cx="76200" cy="205740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4224528"/>
            <a:ext cx="4023360" cy="187452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Dépendance bloquante identifiée</a:t>
            </a:r>
          </a:p>
          <a:p>
            <a:pPr algn="l">
              <a:spcBef>
                <a:spcPts val="0"/>
              </a:spcBef>
              <a:spcAft>
                <a:spcPts val="300"/>
              </a:spcAft>
            </a:pPr>
            <a:r>
              <a:rPr sz="1300" b="0">
                <a:solidFill>
                  <a:srgbClr val="404040"/>
                </a:solidFill>
                <a:latin typeface="Calibri"/>
              </a:rPr>
              <a:t>•  L'endpoint de changement de statut</a:t>
            </a:r>
          </a:p>
          <a:p>
            <a:pPr algn="l">
              <a:spcBef>
                <a:spcPts val="0"/>
              </a:spcBef>
              <a:spcAft>
                <a:spcPts val="300"/>
              </a:spcAft>
            </a:pPr>
            <a:r>
              <a:rPr sz="1300" b="0">
                <a:solidFill>
                  <a:srgbClr val="404040"/>
                </a:solidFill>
                <a:latin typeface="Calibri"/>
              </a:rPr>
              <a:t>•  d'un RDV doit d'abord accepter la</a:t>
            </a:r>
          </a:p>
          <a:p>
            <a:pPr algn="l">
              <a:spcBef>
                <a:spcPts val="0"/>
              </a:spcBef>
              <a:spcAft>
                <a:spcPts val="300"/>
              </a:spcAft>
            </a:pPr>
            <a:r>
              <a:rPr sz="1300" b="0">
                <a:solidFill>
                  <a:srgbClr val="404040"/>
                </a:solidFill>
                <a:latin typeface="Calibri"/>
              </a:rPr>
              <a:t>•  valeur « cancelled ».</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 C'est le tout premier travail du</a:t>
            </a:r>
          </a:p>
          <a:p>
            <a:pPr algn="l">
              <a:spcBef>
                <a:spcPts val="0"/>
              </a:spcBef>
              <a:spcAft>
                <a:spcPts val="300"/>
              </a:spcAft>
            </a:pPr>
            <a:r>
              <a:rPr sz="1300" b="0">
                <a:solidFill>
                  <a:srgbClr val="404040"/>
                </a:solidFill>
                <a:latin typeface="Calibri"/>
              </a:rPr>
              <a:t>•     sprint, sinon MEDIPLAN-22 et 25</a:t>
            </a:r>
          </a:p>
          <a:p>
            <a:pPr algn="l">
              <a:spcBef>
                <a:spcPts val="0"/>
              </a:spcBef>
              <a:spcAft>
                <a:spcPts val="300"/>
              </a:spcAft>
            </a:pPr>
            <a:r>
              <a:rPr sz="1300" b="0">
                <a:solidFill>
                  <a:srgbClr val="404040"/>
                </a:solidFill>
                <a:latin typeface="Calibri"/>
              </a:rPr>
              <a:t>•     sont bloqués tous les deux.</a:t>
            </a:r>
          </a:p>
        </p:txBody>
      </p:sp>
      <p:sp>
        <p:nvSpPr>
          <p:cNvPr id="21" name="TextBox 20"/>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Zakaria</a:t>
            </a:r>
          </a:p>
        </p:txBody>
      </p:sp>
      <p:sp>
        <p:nvSpPr>
          <p:cNvPr id="22" name="TextBox 21"/>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2 min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4</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Risques et règles de travail</a:t>
            </a:r>
          </a:p>
          <a:p>
            <a:pPr algn="l">
              <a:spcBef>
                <a:spcPts val="0"/>
              </a:spcBef>
              <a:spcAft>
                <a:spcPts val="0"/>
              </a:spcAft>
            </a:pPr>
            <a:r>
              <a:rPr sz="1400" b="0">
                <a:solidFill>
                  <a:srgbClr val="CFE3FF"/>
                </a:solidFill>
                <a:latin typeface="Calibri"/>
              </a:rPr>
              <a:t>Ce que le sprint précédent nous a appris</a:t>
            </a:r>
          </a:p>
        </p:txBody>
      </p:sp>
      <p:sp>
        <p:nvSpPr>
          <p:cNvPr id="6" name="Rectangle 5"/>
          <p:cNvSpPr/>
          <p:nvPr/>
        </p:nvSpPr>
        <p:spPr>
          <a:xfrm>
            <a:off x="411480" y="1554480"/>
            <a:ext cx="557784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2286000"/>
          </a:xfrm>
          <a:prstGeom prst="rect">
            <a:avLst/>
          </a:prstGeom>
          <a:solidFill>
            <a:srgbClr val="B5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5212080" cy="2103120"/>
          </a:xfrm>
          <a:prstGeom prst="rect">
            <a:avLst/>
          </a:prstGeom>
          <a:noFill/>
        </p:spPr>
        <p:txBody>
          <a:bodyPr wrap="square">
            <a:spAutoFit/>
          </a:bodyPr>
          <a:lstStyle/>
          <a:p>
            <a:pPr algn="l">
              <a:spcBef>
                <a:spcPts val="0"/>
              </a:spcBef>
              <a:spcAft>
                <a:spcPts val="400"/>
              </a:spcAft>
            </a:pPr>
            <a:r>
              <a:rPr sz="1600" b="1">
                <a:solidFill>
                  <a:srgbClr val="B56A00"/>
                </a:solidFill>
                <a:latin typeface="Calibri"/>
              </a:rPr>
              <a:t>⚠  Risque n° 1 — la dérive d'intégration (vécue)</a:t>
            </a:r>
          </a:p>
          <a:p>
            <a:pPr algn="l">
              <a:spcBef>
                <a:spcPts val="0"/>
              </a:spcBef>
              <a:spcAft>
                <a:spcPts val="300"/>
              </a:spcAft>
            </a:pPr>
            <a:r>
              <a:rPr sz="1300" b="0">
                <a:solidFill>
                  <a:srgbClr val="404040"/>
                </a:solidFill>
                <a:latin typeface="Calibri"/>
              </a:rPr>
              <a:t>•  Six branches ont vécu en parallèle sans être fusionnées</a:t>
            </a:r>
          </a:p>
          <a:p>
            <a:pPr algn="l">
              <a:spcBef>
                <a:spcPts val="0"/>
              </a:spcBef>
              <a:spcAft>
                <a:spcPts val="300"/>
              </a:spcAft>
            </a:pPr>
            <a:r>
              <a:rPr sz="1300" b="0">
                <a:solidFill>
                  <a:srgbClr val="404040"/>
                </a:solidFill>
                <a:latin typeface="Calibri"/>
              </a:rPr>
              <a:t>•  Résultat : deux migrations sur le même horodatage, et le</a:t>
            </a:r>
          </a:p>
          <a:p>
            <a:pPr algn="l">
              <a:spcBef>
                <a:spcPts val="0"/>
              </a:spcBef>
              <a:spcAft>
                <a:spcPts val="300"/>
              </a:spcAft>
            </a:pPr>
            <a:r>
              <a:rPr sz="1300" b="0">
                <a:solidFill>
                  <a:srgbClr val="404040"/>
                </a:solidFill>
                <a:latin typeface="Calibri"/>
              </a:rPr>
              <a:t>•     module de rendez-vous recréé deux fois par deux personnes</a:t>
            </a:r>
          </a:p>
          <a:p>
            <a:pPr algn="l">
              <a:spcBef>
                <a:spcPts val="0"/>
              </a:spcBef>
              <a:spcAft>
                <a:spcPts val="300"/>
              </a:spcAft>
            </a:pPr>
            <a:r>
              <a:rPr sz="1300" b="0">
                <a:solidFill>
                  <a:srgbClr val="404040"/>
                </a:solidFill>
                <a:latin typeface="Calibri"/>
              </a:rPr>
              <a:t>•  Coût : une réintégration manuelle, branche par branche</a:t>
            </a:r>
          </a:p>
          <a:p>
            <a:pPr algn="l">
              <a:spcBef>
                <a:spcPts val="0"/>
              </a:spcBef>
              <a:spcAft>
                <a:spcPts val="300"/>
              </a:spcAft>
            </a:pPr>
            <a:r>
              <a:rPr sz="1300" b="0">
                <a:solidFill>
                  <a:srgbClr val="404040"/>
                </a:solidFill>
                <a:latin typeface="Calibri"/>
              </a:rPr>
              <a:t>•  Séquelle encore visible : MEDIPLAN-24, dont le code existe</a:t>
            </a:r>
          </a:p>
          <a:p>
            <a:pPr algn="l">
              <a:spcBef>
                <a:spcPts val="0"/>
              </a:spcBef>
              <a:spcAft>
                <a:spcPts val="300"/>
              </a:spcAft>
            </a:pPr>
            <a:r>
              <a:rPr sz="1300" b="0">
                <a:solidFill>
                  <a:srgbClr val="404040"/>
                </a:solidFill>
                <a:latin typeface="Calibri"/>
              </a:rPr>
              <a:t>•     mais n'est pas intégré → rouvert et repris dans ce sprint</a:t>
            </a:r>
          </a:p>
        </p:txBody>
      </p:sp>
      <p:sp>
        <p:nvSpPr>
          <p:cNvPr id="9" name="Rectangle 8"/>
          <p:cNvSpPr/>
          <p:nvPr/>
        </p:nvSpPr>
        <p:spPr>
          <a:xfrm>
            <a:off x="6172200" y="1554480"/>
            <a:ext cx="5577840" cy="228600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76200" cy="22860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5212080" cy="210312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  Risque n° 2 — rythme inégal entre membres</a:t>
            </a:r>
          </a:p>
          <a:p>
            <a:pPr algn="l">
              <a:spcBef>
                <a:spcPts val="0"/>
              </a:spcBef>
              <a:spcAft>
                <a:spcPts val="300"/>
              </a:spcAft>
            </a:pPr>
            <a:r>
              <a:rPr sz="1300" b="0">
                <a:solidFill>
                  <a:srgbClr val="404040"/>
                </a:solidFill>
                <a:latin typeface="Calibri"/>
              </a:rPr>
              <a:t>•  Mitigation : un Must par personne, chacun démontrable seul</a:t>
            </a:r>
          </a:p>
          <a:p>
            <a:pPr algn="l">
              <a:spcBef>
                <a:spcPts val="0"/>
              </a:spcBef>
              <a:spcAft>
                <a:spcPts val="300"/>
              </a:spcAft>
            </a:pPr>
            <a:r>
              <a:rPr sz="1300" b="0">
                <a:solidFill>
                  <a:srgbClr val="404040"/>
                </a:solidFill>
                <a:latin typeface="Calibri"/>
              </a:rPr>
              <a:t>•  Si un ticket décroche, l'objectif reste atteignable en</a:t>
            </a:r>
          </a:p>
          <a:p>
            <a:pPr algn="l">
              <a:spcBef>
                <a:spcPts val="0"/>
              </a:spcBef>
              <a:spcAft>
                <a:spcPts val="300"/>
              </a:spcAft>
            </a:pPr>
            <a:r>
              <a:rPr sz="1300" b="0">
                <a:solidFill>
                  <a:srgbClr val="404040"/>
                </a:solidFill>
                <a:latin typeface="Calibri"/>
              </a:rPr>
              <a:t>•     dégradant les Should (interface, décalage en bloc)</a:t>
            </a:r>
          </a:p>
          <a:p>
            <a:pPr algn="l">
              <a:spcBef>
                <a:spcPts val="0"/>
              </a:spcBef>
              <a:spcAft>
                <a:spcPts val="300"/>
              </a:spcAft>
            </a:pPr>
            <a:r>
              <a:rPr sz="1300" b="0">
                <a:solidFill>
                  <a:srgbClr val="404040"/>
                </a:solidFill>
                <a:latin typeface="Calibri"/>
              </a:rPr>
              <a:t>•  Point d'intégration à mi-sprint pour détecter tôt</a:t>
            </a:r>
          </a:p>
          <a:p>
            <a:pPr algn="l">
              <a:spcBef>
                <a:spcPts val="0"/>
              </a:spcBef>
              <a:spcAft>
                <a:spcPts val="300"/>
              </a:spcAft>
            </a:pPr>
            <a:r>
              <a:rPr sz="1300" b="0">
                <a:solidFill>
                  <a:srgbClr val="404040"/>
                </a:solidFill>
                <a:latin typeface="Calibri"/>
              </a:rPr>
              <a:t>•  Aucun ticket ne dépend de deux personnes à la fois</a:t>
            </a:r>
          </a:p>
        </p:txBody>
      </p:sp>
      <p:sp>
        <p:nvSpPr>
          <p:cNvPr id="12" name="Rectangle 11"/>
          <p:cNvSpPr/>
          <p:nvPr/>
        </p:nvSpPr>
        <p:spPr>
          <a:xfrm>
            <a:off x="411480" y="4069080"/>
            <a:ext cx="11338560" cy="210312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4069080"/>
            <a:ext cx="76200" cy="210312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78808"/>
            <a:ext cx="10972800" cy="192024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Nos 6 règles pour le Sprint 3</a:t>
            </a:r>
          </a:p>
          <a:p>
            <a:pPr algn="l">
              <a:spcBef>
                <a:spcPts val="0"/>
              </a:spcBef>
              <a:spcAft>
                <a:spcPts val="300"/>
              </a:spcAft>
            </a:pPr>
            <a:r>
              <a:rPr sz="1300" b="0">
                <a:solidFill>
                  <a:srgbClr val="404040"/>
                </a:solidFill>
                <a:latin typeface="Calibri"/>
              </a:rPr>
              <a:t>•  1. Socle d'abord — le ticket qui touche le modèle ou une migration passe seul et en premier</a:t>
            </a:r>
          </a:p>
          <a:p>
            <a:pPr algn="l">
              <a:spcBef>
                <a:spcPts val="0"/>
              </a:spcBef>
              <a:spcAft>
                <a:spcPts val="300"/>
              </a:spcAft>
            </a:pPr>
            <a:r>
              <a:rPr sz="1300" b="0">
                <a:solidFill>
                  <a:srgbClr val="404040"/>
                </a:solidFill>
                <a:latin typeface="Calibri"/>
              </a:rPr>
              <a:t>•  2. PR sous 72 h — aucune branche ne vit plus de trois jours sans PR ouverte vers dev</a:t>
            </a:r>
          </a:p>
          <a:p>
            <a:pPr algn="l">
              <a:spcBef>
                <a:spcPts val="0"/>
              </a:spcBef>
              <a:spcAft>
                <a:spcPts val="300"/>
              </a:spcAft>
            </a:pPr>
            <a:r>
              <a:rPr sz="1300" b="0">
                <a:solidFill>
                  <a:srgbClr val="404040"/>
                </a:solidFill>
                <a:latin typeface="Calibri"/>
              </a:rPr>
              <a:t>•  3. Horodatage de migration annoncé à l'équipe avant création — séquence continue, jamais de doublon</a:t>
            </a:r>
          </a:p>
          <a:p>
            <a:pPr algn="l">
              <a:spcBef>
                <a:spcPts val="0"/>
              </a:spcBef>
              <a:spcAft>
                <a:spcPts val="300"/>
              </a:spcAft>
            </a:pPr>
            <a:r>
              <a:rPr sz="1300" b="0">
                <a:solidFill>
                  <a:srgbClr val="404040"/>
                </a:solidFill>
                <a:latin typeface="Calibri"/>
              </a:rPr>
              <a:t>•  4. Un module par ticket — interdiction de recréer un module qui existe déjà</a:t>
            </a:r>
          </a:p>
          <a:p>
            <a:pPr algn="l">
              <a:spcBef>
                <a:spcPts val="0"/>
              </a:spcBef>
              <a:spcAft>
                <a:spcPts val="300"/>
              </a:spcAft>
            </a:pPr>
            <a:r>
              <a:rPr sz="1300" b="0">
                <a:solidFill>
                  <a:srgbClr val="404040"/>
                </a:solidFill>
                <a:latin typeface="Calibri"/>
              </a:rPr>
              <a:t>•  5. Gates de fusion — lint, tests verts, et migrations exécutées sur une base neuve</a:t>
            </a:r>
          </a:p>
          <a:p>
            <a:pPr algn="l">
              <a:spcBef>
                <a:spcPts val="0"/>
              </a:spcBef>
              <a:spcAft>
                <a:spcPts val="300"/>
              </a:spcAft>
            </a:pPr>
            <a:r>
              <a:rPr sz="1300" b="0">
                <a:solidFill>
                  <a:srgbClr val="404040"/>
                </a:solidFill>
                <a:latin typeface="Calibri"/>
              </a:rPr>
              <a:t>•  6. Point d'intégration à mi-sprint — pas à la fin</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2 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762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11480" y="292608"/>
            <a:ext cx="566928" cy="566928"/>
          </a:xfrm>
          <a:prstGeom prst="ellipse">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2200" b="1">
                <a:solidFill>
                  <a:srgbClr val="FFFFFF"/>
                </a:solidFill>
              </a:rPr>
              <a:t>5</a:t>
            </a:r>
          </a:p>
        </p:txBody>
      </p:sp>
      <p:sp>
        <p:nvSpPr>
          <p:cNvPr id="5" name="TextBox 4"/>
          <p:cNvSpPr txBox="1"/>
          <p:nvPr/>
        </p:nvSpPr>
        <p:spPr>
          <a:xfrm>
            <a:off x="1143000" y="164592"/>
            <a:ext cx="10607040" cy="914400"/>
          </a:xfrm>
          <a:prstGeom prst="rect">
            <a:avLst/>
          </a:prstGeom>
          <a:noFill/>
        </p:spPr>
        <p:txBody>
          <a:bodyPr wrap="square" anchor="ctr">
            <a:spAutoFit/>
          </a:bodyPr>
          <a:lstStyle/>
          <a:p>
            <a:pPr algn="l">
              <a:spcBef>
                <a:spcPts val="0"/>
              </a:spcBef>
              <a:spcAft>
                <a:spcPts val="0"/>
              </a:spcAft>
            </a:pPr>
            <a:r>
              <a:rPr sz="2800" b="1">
                <a:solidFill>
                  <a:srgbClr val="FFFFFF"/>
                </a:solidFill>
                <a:latin typeface="Calibri"/>
              </a:rPr>
              <a:t>« Terminé » veut dire quoi, et après ?</a:t>
            </a:r>
          </a:p>
          <a:p>
            <a:pPr algn="l">
              <a:spcBef>
                <a:spcPts val="0"/>
              </a:spcBef>
              <a:spcAft>
                <a:spcPts val="0"/>
              </a:spcAft>
            </a:pPr>
            <a:r>
              <a:rPr sz="1400" b="0">
                <a:solidFill>
                  <a:srgbClr val="CFE3FF"/>
                </a:solidFill>
                <a:latin typeface="Calibri"/>
              </a:rPr>
              <a:t>Definition of Done · démo visée · Sprint 4</a:t>
            </a:r>
          </a:p>
        </p:txBody>
      </p:sp>
      <p:sp>
        <p:nvSpPr>
          <p:cNvPr id="6" name="Rectangle 5"/>
          <p:cNvSpPr/>
          <p:nvPr/>
        </p:nvSpPr>
        <p:spPr>
          <a:xfrm>
            <a:off x="411480" y="1554480"/>
            <a:ext cx="5577840" cy="2651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54480"/>
            <a:ext cx="76200" cy="2651760"/>
          </a:xfrm>
          <a:prstGeom prst="rect">
            <a:avLst/>
          </a:prstGeom>
          <a:solidFill>
            <a:srgbClr val="154D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664208"/>
            <a:ext cx="5212080" cy="2468880"/>
          </a:xfrm>
          <a:prstGeom prst="rect">
            <a:avLst/>
          </a:prstGeom>
          <a:noFill/>
        </p:spPr>
        <p:txBody>
          <a:bodyPr wrap="square">
            <a:spAutoFit/>
          </a:bodyPr>
          <a:lstStyle/>
          <a:p>
            <a:pPr algn="l">
              <a:spcBef>
                <a:spcPts val="0"/>
              </a:spcBef>
              <a:spcAft>
                <a:spcPts val="400"/>
              </a:spcAft>
            </a:pPr>
            <a:r>
              <a:rPr sz="1600" b="1">
                <a:solidFill>
                  <a:srgbClr val="154D8C"/>
                </a:solidFill>
                <a:latin typeface="Calibri"/>
              </a:rPr>
              <a:t>Un ticket est « Terminé » quand…</a:t>
            </a:r>
          </a:p>
          <a:p>
            <a:pPr algn="l">
              <a:spcBef>
                <a:spcPts val="0"/>
              </a:spcBef>
              <a:spcAft>
                <a:spcPts val="300"/>
              </a:spcAft>
            </a:pPr>
            <a:r>
              <a:rPr sz="1300" b="0">
                <a:solidFill>
                  <a:srgbClr val="404040"/>
                </a:solidFill>
                <a:latin typeface="Calibri"/>
              </a:rPr>
              <a:t>•  le code est FUSIONNÉ dans dev — pas seulement poussé</a:t>
            </a:r>
          </a:p>
          <a:p>
            <a:pPr algn="l">
              <a:spcBef>
                <a:spcPts val="0"/>
              </a:spcBef>
              <a:spcAft>
                <a:spcPts val="300"/>
              </a:spcAft>
            </a:pPr>
            <a:r>
              <a:rPr sz="1300" b="0">
                <a:solidFill>
                  <a:srgbClr val="404040"/>
                </a:solidFill>
                <a:latin typeface="Calibri"/>
              </a:rPr>
              <a:t>•  le lint et les tests automatisés sont verts</a:t>
            </a:r>
          </a:p>
          <a:p>
            <a:pPr algn="l">
              <a:spcBef>
                <a:spcPts val="0"/>
              </a:spcBef>
              <a:spcAft>
                <a:spcPts val="300"/>
              </a:spcAft>
            </a:pPr>
            <a:r>
              <a:rPr sz="1300" b="0">
                <a:solidFill>
                  <a:srgbClr val="404040"/>
                </a:solidFill>
                <a:latin typeface="Calibri"/>
              </a:rPr>
              <a:t>•  les migrations s'exécutent sur une base neuve</a:t>
            </a:r>
          </a:p>
          <a:p>
            <a:pPr algn="l">
              <a:spcBef>
                <a:spcPts val="0"/>
              </a:spcBef>
              <a:spcAft>
                <a:spcPts val="300"/>
              </a:spcAft>
            </a:pPr>
            <a:r>
              <a:rPr sz="1300" b="0">
                <a:solidFill>
                  <a:srgbClr val="404040"/>
                </a:solidFill>
                <a:latin typeface="Calibri"/>
              </a:rPr>
              <a:t>•  les critères d'acceptation Given/When/Then du ticket</a:t>
            </a:r>
          </a:p>
          <a:p>
            <a:pPr algn="l">
              <a:spcBef>
                <a:spcPts val="0"/>
              </a:spcBef>
              <a:spcAft>
                <a:spcPts val="300"/>
              </a:spcAft>
            </a:pPr>
            <a:r>
              <a:rPr sz="1300" b="0">
                <a:solidFill>
                  <a:srgbClr val="404040"/>
                </a:solidFill>
                <a:latin typeface="Calibri"/>
              </a:rPr>
              <a:t>•     Jira sont vérifiés un par un</a:t>
            </a:r>
          </a:p>
          <a:p>
            <a:pPr algn="l">
              <a:spcBef>
                <a:spcPts val="0"/>
              </a:spcBef>
              <a:spcAft>
                <a:spcPts val="300"/>
              </a:spcAft>
            </a:pPr>
            <a:r>
              <a:rPr sz="1300" b="0">
                <a:solidFill>
                  <a:srgbClr val="404040"/>
                </a:solidFill>
                <a:latin typeface="Calibri"/>
              </a:rPr>
              <a:t>•  la fonctionnalité est démontrable dans l'application</a:t>
            </a:r>
          </a:p>
        </p:txBody>
      </p:sp>
      <p:sp>
        <p:nvSpPr>
          <p:cNvPr id="9" name="Rectangle 8"/>
          <p:cNvSpPr/>
          <p:nvPr/>
        </p:nvSpPr>
        <p:spPr>
          <a:xfrm>
            <a:off x="6172200" y="1554480"/>
            <a:ext cx="5577840" cy="26517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54480"/>
            <a:ext cx="76200" cy="265176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664208"/>
            <a:ext cx="5212080" cy="2468880"/>
          </a:xfrm>
          <a:prstGeom prst="rect">
            <a:avLst/>
          </a:prstGeom>
          <a:noFill/>
        </p:spPr>
        <p:txBody>
          <a:bodyPr wrap="square">
            <a:spAutoFit/>
          </a:bodyPr>
          <a:lstStyle/>
          <a:p>
            <a:pPr algn="l">
              <a:spcBef>
                <a:spcPts val="0"/>
              </a:spcBef>
              <a:spcAft>
                <a:spcPts val="400"/>
              </a:spcAft>
            </a:pPr>
            <a:r>
              <a:rPr sz="1600" b="1">
                <a:solidFill>
                  <a:srgbClr val="00897B"/>
                </a:solidFill>
                <a:latin typeface="Calibri"/>
              </a:rPr>
              <a:t>La démo que nous viserons en fin de sprint</a:t>
            </a:r>
          </a:p>
          <a:p>
            <a:pPr algn="l">
              <a:spcBef>
                <a:spcPts val="0"/>
              </a:spcBef>
              <a:spcAft>
                <a:spcPts val="300"/>
              </a:spcAft>
            </a:pPr>
            <a:r>
              <a:rPr sz="1300" b="0">
                <a:solidFill>
                  <a:srgbClr val="404040"/>
                </a:solidFill>
                <a:latin typeface="Calibri"/>
              </a:rPr>
              <a:t>•  1. Réserver un rendez-vous pour un patient</a:t>
            </a:r>
          </a:p>
          <a:p>
            <a:pPr algn="l">
              <a:spcBef>
                <a:spcPts val="0"/>
              </a:spcBef>
              <a:spcAft>
                <a:spcPts val="300"/>
              </a:spcAft>
            </a:pPr>
            <a:r>
              <a:rPr sz="1300" b="0">
                <a:solidFill>
                  <a:srgbClr val="404040"/>
                </a:solidFill>
                <a:latin typeface="Calibri"/>
              </a:rPr>
              <a:t>•  2. L'annuler en saisissant un motif obligatoire</a:t>
            </a:r>
          </a:p>
          <a:p>
            <a:pPr algn="l">
              <a:spcBef>
                <a:spcPts val="0"/>
              </a:spcBef>
              <a:spcAft>
                <a:spcPts val="300"/>
              </a:spcAft>
            </a:pPr>
            <a:r>
              <a:rPr sz="1300" b="0">
                <a:solidFill>
                  <a:srgbClr val="404040"/>
                </a:solidFill>
                <a:latin typeface="Calibri"/>
              </a:rPr>
              <a:t>•  3. Voir le créneau se libérer et redevenir réservable</a:t>
            </a:r>
          </a:p>
          <a:p>
            <a:pPr algn="l">
              <a:spcBef>
                <a:spcPts val="0"/>
              </a:spcBef>
              <a:spcAft>
                <a:spcPts val="300"/>
              </a:spcAft>
            </a:pPr>
            <a:r>
              <a:rPr sz="1300" b="0">
                <a:solidFill>
                  <a:srgbClr val="404040"/>
                </a:solidFill>
                <a:latin typeface="Calibri"/>
              </a:rPr>
              <a:t>•  4. Voir la notification apparaître pour l'équipe</a:t>
            </a:r>
          </a:p>
          <a:p>
            <a:pPr algn="l">
              <a:spcBef>
                <a:spcPts val="0"/>
              </a:spcBef>
              <a:spcAft>
                <a:spcPts val="300"/>
              </a:spcAft>
            </a:pPr>
            <a:r>
              <a:rPr sz="1300" b="0">
                <a:solidFill>
                  <a:srgbClr val="404040"/>
                </a:solidFill>
                <a:latin typeface="Calibri"/>
              </a:rPr>
              <a:t>•  5. Voir le compteur du tableau de bord se mettre à jour</a:t>
            </a:r>
          </a:p>
          <a:p>
            <a:pPr algn="l">
              <a:spcBef>
                <a:spcPts val="0"/>
              </a:spcBef>
              <a:spcAft>
                <a:spcPts val="300"/>
              </a:spcAft>
            </a:pPr>
            <a:r>
              <a:rPr sz="1300" b="0">
                <a:solidFill>
                  <a:srgbClr val="404040"/>
                </a:solidFill>
                <a:latin typeface="Calibri"/>
              </a:rPr>
              <a:t> </a:t>
            </a:r>
          </a:p>
          <a:p>
            <a:pPr algn="l">
              <a:spcBef>
                <a:spcPts val="0"/>
              </a:spcBef>
              <a:spcAft>
                <a:spcPts val="300"/>
              </a:spcAft>
            </a:pPr>
            <a:r>
              <a:rPr sz="1300" b="0">
                <a:solidFill>
                  <a:srgbClr val="404040"/>
                </a:solidFill>
                <a:latin typeface="Calibri"/>
              </a:rPr>
              <a:t>•  Un scénario, cinq fonctionnalités enchaînées.</a:t>
            </a:r>
          </a:p>
        </p:txBody>
      </p:sp>
      <p:sp>
        <p:nvSpPr>
          <p:cNvPr id="12" name="Rectangle 11"/>
          <p:cNvSpPr/>
          <p:nvPr/>
        </p:nvSpPr>
        <p:spPr>
          <a:xfrm>
            <a:off x="411480" y="4434840"/>
            <a:ext cx="11338560" cy="1737360"/>
          </a:xfrm>
          <a:prstGeom prst="rect">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4434840"/>
            <a:ext cx="76200" cy="173736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544568"/>
            <a:ext cx="10972800" cy="1554480"/>
          </a:xfrm>
          <a:prstGeom prst="rect">
            <a:avLst/>
          </a:prstGeom>
          <a:noFill/>
        </p:spPr>
        <p:txBody>
          <a:bodyPr wrap="square">
            <a:spAutoFit/>
          </a:bodyPr>
          <a:lstStyle/>
          <a:p>
            <a:pPr algn="l">
              <a:spcBef>
                <a:spcPts val="0"/>
              </a:spcBef>
              <a:spcAft>
                <a:spcPts val="400"/>
              </a:spcAft>
            </a:pPr>
            <a:r>
              <a:rPr sz="1600" b="1">
                <a:solidFill>
                  <a:srgbClr val="1E88E5"/>
                </a:solidFill>
                <a:latin typeface="Calibri"/>
              </a:rPr>
              <a:t>Sprint 4 — finalisation</a:t>
            </a:r>
          </a:p>
          <a:p>
            <a:pPr algn="l">
              <a:spcBef>
                <a:spcPts val="0"/>
              </a:spcBef>
              <a:spcAft>
                <a:spcPts val="300"/>
              </a:spcAft>
            </a:pPr>
            <a:r>
              <a:rPr sz="1300" b="0">
                <a:solidFill>
                  <a:srgbClr val="404040"/>
                </a:solidFill>
                <a:latin typeface="Calibri"/>
              </a:rPr>
              <a:t>•  Export CSV des rendez-vous (MEDIPLAN-27)  ·  CI GitHub Actions : lint, tests, build (MEDIPLAN-30)</a:t>
            </a:r>
          </a:p>
          <a:p>
            <a:pPr algn="l">
              <a:spcBef>
                <a:spcPts val="0"/>
              </a:spcBef>
              <a:spcAft>
                <a:spcPts val="300"/>
              </a:spcAft>
            </a:pPr>
            <a:r>
              <a:rPr sz="1300" b="0">
                <a:solidFill>
                  <a:srgbClr val="404040"/>
                </a:solidFill>
                <a:latin typeface="Calibri"/>
              </a:rPr>
              <a:t>•  Déploiement Railway (MEDIPLAN-40, bonus)  ·  Documentation des tests  ·  Réflexion UI/UX d'équipe</a:t>
            </a:r>
          </a:p>
          <a:p>
            <a:pPr algn="l">
              <a:spcBef>
                <a:spcPts val="0"/>
              </a:spcBef>
              <a:spcAft>
                <a:spcPts val="300"/>
              </a:spcAft>
            </a:pPr>
            <a:r>
              <a:rPr sz="1300" b="0">
                <a:solidFill>
                  <a:srgbClr val="404040"/>
                </a:solidFill>
                <a:latin typeface="Calibri"/>
              </a:rPr>
              <a:t>•  Préparation de la démonstration finale</a:t>
            </a:r>
          </a:p>
        </p:txBody>
      </p:sp>
      <p:sp>
        <p:nvSpPr>
          <p:cNvPr id="15" name="TextBox 14"/>
          <p:cNvSpPr txBox="1"/>
          <p:nvPr/>
        </p:nvSpPr>
        <p:spPr>
          <a:xfrm>
            <a:off x="411480" y="6400800"/>
            <a:ext cx="11338560" cy="365760"/>
          </a:xfrm>
          <a:prstGeom prst="rect">
            <a:avLst/>
          </a:prstGeom>
          <a:noFill/>
        </p:spPr>
        <p:txBody>
          <a:bodyPr wrap="square">
            <a:spAutoFit/>
          </a:bodyPr>
          <a:lstStyle/>
          <a:p>
            <a:pPr algn="l"/>
            <a:r>
              <a:rPr sz="1100" i="1">
                <a:solidFill>
                  <a:srgbClr val="6B6B6B"/>
                </a:solidFill>
              </a:rPr>
              <a:t>Orateur : Larbi</a:t>
            </a:r>
          </a:p>
        </p:txBody>
      </p:sp>
      <p:sp>
        <p:nvSpPr>
          <p:cNvPr id="16" name="TextBox 15"/>
          <p:cNvSpPr txBox="1"/>
          <p:nvPr/>
        </p:nvSpPr>
        <p:spPr>
          <a:xfrm>
            <a:off x="9144000" y="6400800"/>
            <a:ext cx="2651760" cy="365760"/>
          </a:xfrm>
          <a:prstGeom prst="rect">
            <a:avLst/>
          </a:prstGeom>
          <a:noFill/>
        </p:spPr>
        <p:txBody>
          <a:bodyPr wrap="square">
            <a:spAutoFit/>
          </a:bodyPr>
          <a:lstStyle/>
          <a:p>
            <a:pPr algn="r"/>
            <a:r>
              <a:rPr sz="1100" b="1">
                <a:solidFill>
                  <a:srgbClr val="00897B"/>
                </a:solidFill>
              </a:rPr>
              <a:t>⏱  1 min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54D8C"/>
        </a:solidFill>
        <a:effectLst/>
      </p:bgPr>
    </p:bg>
    <p:spTree>
      <p:nvGrpSpPr>
        <p:cNvPr id="1" name=""/>
        <p:cNvGrpSpPr/>
        <p:nvPr/>
      </p:nvGrpSpPr>
      <p:grpSpPr/>
      <p:sp>
        <p:nvSpPr>
          <p:cNvPr id="2" name="Rectangle 1"/>
          <p:cNvSpPr/>
          <p:nvPr/>
        </p:nvSpPr>
        <p:spPr>
          <a:xfrm>
            <a:off x="0" y="3200400"/>
            <a:ext cx="12191695" cy="50800"/>
          </a:xfrm>
          <a:prstGeom prst="rect">
            <a:avLst/>
          </a:prstGeom>
          <a:solidFill>
            <a:srgbClr val="0089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32720" cy="1280160"/>
          </a:xfrm>
          <a:prstGeom prst="rect">
            <a:avLst/>
          </a:prstGeom>
          <a:noFill/>
        </p:spPr>
        <p:txBody>
          <a:bodyPr wrap="square">
            <a:spAutoFit/>
          </a:bodyPr>
          <a:lstStyle/>
          <a:p>
            <a:pPr algn="ctr">
              <a:spcBef>
                <a:spcPts val="0"/>
              </a:spcBef>
              <a:spcAft>
                <a:spcPts val="0"/>
              </a:spcAft>
            </a:pPr>
            <a:r>
              <a:rPr sz="4000" b="1">
                <a:solidFill>
                  <a:srgbClr val="FFFFFF"/>
                </a:solidFill>
                <a:latin typeface="Calibri"/>
              </a:rPr>
              <a:t>Merci de votre attention</a:t>
            </a:r>
          </a:p>
        </p:txBody>
      </p:sp>
      <p:sp>
        <p:nvSpPr>
          <p:cNvPr id="4" name="TextBox 3"/>
          <p:cNvSpPr txBox="1"/>
          <p:nvPr/>
        </p:nvSpPr>
        <p:spPr>
          <a:xfrm>
            <a:off x="914400" y="3474720"/>
            <a:ext cx="10332720" cy="1463040"/>
          </a:xfrm>
          <a:prstGeom prst="rect">
            <a:avLst/>
          </a:prstGeom>
          <a:noFill/>
        </p:spPr>
        <p:txBody>
          <a:bodyPr wrap="square">
            <a:spAutoFit/>
          </a:bodyPr>
          <a:lstStyle/>
          <a:p>
            <a:pPr algn="ctr">
              <a:spcBef>
                <a:spcPts val="0"/>
              </a:spcBef>
              <a:spcAft>
                <a:spcPts val="0"/>
              </a:spcAft>
            </a:pPr>
            <a:r>
              <a:rPr sz="2800" b="1">
                <a:solidFill>
                  <a:srgbClr val="CFE3FF"/>
                </a:solidFill>
                <a:latin typeface="Calibri"/>
              </a:rPr>
              <a:t>Questions ?</a:t>
            </a:r>
          </a:p>
          <a:p>
            <a:pPr algn="ctr">
              <a:spcBef>
                <a:spcPts val="0"/>
              </a:spcBef>
              <a:spcAft>
                <a:spcPts val="1400"/>
              </a:spcAft>
            </a:pPr>
            <a:r>
              <a:rPr sz="1600" b="0">
                <a:solidFill>
                  <a:srgbClr val="9FC8F5"/>
                </a:solidFill>
                <a:latin typeface="Calibri"/>
              </a:rPr>
              <a:t>Équipe MediPlan — Souleymane DIALLO  ·  Zakaria Lahouiri  ·  Larbi Saib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